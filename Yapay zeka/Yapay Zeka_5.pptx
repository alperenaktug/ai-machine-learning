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379" r:id="rId4"/>
    <p:sldId id="381" r:id="rId5"/>
    <p:sldId id="382" r:id="rId6"/>
    <p:sldId id="383" r:id="rId7"/>
    <p:sldId id="380" r:id="rId8"/>
    <p:sldId id="392" r:id="rId9"/>
    <p:sldId id="393" r:id="rId10"/>
    <p:sldId id="394" r:id="rId11"/>
    <p:sldId id="395" r:id="rId12"/>
    <p:sldId id="396" r:id="rId13"/>
    <p:sldId id="389" r:id="rId14"/>
    <p:sldId id="390" r:id="rId15"/>
    <p:sldId id="386" r:id="rId16"/>
    <p:sldId id="387" r:id="rId17"/>
    <p:sldId id="388" r:id="rId1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Dikdörtgen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Dikdörtgen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Dikdörtgen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üz Bağlayıcı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Düz Bağlayıcı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Dikdörtgen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Altbilgi Yer Tutucusu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Dikdörtgen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Düz Bağlayıcı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Düz Bağlayıcı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ikdörtgen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Düz Bağlayıcı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2" name="Metin Yer Tutucusu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6" name="Veri Yer Tutucusu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İçerik Yer Tutucus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21" name="Veri Yer Tutucusu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22" name="Slayt Numarası Yer Tutucusu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3" name="Altbilgi Yer Tutucusu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üz Bağlayıcı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üz Bağlayıcı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Veri Yer Tutucusu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18" name="Slayt Numarası Yer Tutucusu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1" name="Altbilgi Yer Tutucusu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411760" y="2564904"/>
            <a:ext cx="6172200" cy="1894362"/>
          </a:xfrm>
        </p:spPr>
        <p:txBody>
          <a:bodyPr/>
          <a:lstStyle/>
          <a:p>
            <a:r>
              <a:rPr lang="tr-TR" dirty="0" smtClean="0"/>
              <a:t>Zeki Optimizasyon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tr-TR" b="0" dirty="0"/>
              <a:t>Prof. Dr. Tuncay YİĞİT</a:t>
            </a:r>
          </a:p>
          <a:p>
            <a:pPr algn="ctr"/>
            <a:r>
              <a:rPr lang="tr-TR" b="0" dirty="0"/>
              <a:t>Süleyman Demirel Üniversitesi</a:t>
            </a:r>
          </a:p>
          <a:p>
            <a:pPr algn="ctr"/>
            <a:r>
              <a:rPr lang="tr-TR" b="0" dirty="0"/>
              <a:t>Bilgisayar Mühendisliği </a:t>
            </a:r>
            <a:r>
              <a:rPr lang="tr-TR" b="0" dirty="0" smtClean="0"/>
              <a:t>Bölümü</a:t>
            </a:r>
          </a:p>
          <a:p>
            <a:pPr algn="ctr"/>
            <a:endParaRPr lang="tr-TR" b="0" dirty="0"/>
          </a:p>
          <a:p>
            <a:pPr algn="ctr"/>
            <a:r>
              <a:rPr lang="tr-TR" b="0" dirty="0" smtClean="0"/>
              <a:t>ISPARTA 2023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192741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Optimizasyon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 fontScale="85000" lnSpcReduction="20000"/>
          </a:bodyPr>
          <a:lstStyle/>
          <a:p>
            <a:r>
              <a:rPr lang="tr-TR" dirty="0"/>
              <a:t>İnsanlar sürekli optimizasyon yapar. </a:t>
            </a:r>
            <a:endParaRPr lang="tr-TR" dirty="0" smtClean="0"/>
          </a:p>
          <a:p>
            <a:r>
              <a:rPr lang="tr-TR" dirty="0" smtClean="0"/>
              <a:t>Havayolu </a:t>
            </a:r>
            <a:r>
              <a:rPr lang="tr-TR" dirty="0"/>
              <a:t>şirketleri, maliyeti minimize etmek için ekipleri ve uçakları planlar. </a:t>
            </a:r>
            <a:endParaRPr lang="tr-TR" dirty="0" smtClean="0"/>
          </a:p>
          <a:p>
            <a:r>
              <a:rPr lang="tr-TR" dirty="0" smtClean="0"/>
              <a:t>Yatırımcılar</a:t>
            </a:r>
            <a:r>
              <a:rPr lang="tr-TR" dirty="0"/>
              <a:t>, riski minimize edecek, karı maksimize edecek portföyler oluşturmaya çalışır. </a:t>
            </a:r>
            <a:endParaRPr lang="tr-TR" dirty="0" smtClean="0"/>
          </a:p>
          <a:p>
            <a:r>
              <a:rPr lang="tr-TR" dirty="0" smtClean="0"/>
              <a:t>Üreticiler</a:t>
            </a:r>
            <a:r>
              <a:rPr lang="tr-TR" dirty="0"/>
              <a:t>, üretim süreçlerini maksimum etkinlikle planlamaya çalışır. </a:t>
            </a:r>
            <a:endParaRPr lang="tr-TR" dirty="0" smtClean="0"/>
          </a:p>
          <a:p>
            <a:r>
              <a:rPr lang="tr-TR" dirty="0" smtClean="0"/>
              <a:t>Bireyler</a:t>
            </a:r>
            <a:r>
              <a:rPr lang="tr-TR" dirty="0"/>
              <a:t>, evden işe giderken izledikleri güzergah için optimizasyon yaparlar. </a:t>
            </a:r>
            <a:endParaRPr lang="tr-TR" dirty="0" smtClean="0"/>
          </a:p>
          <a:p>
            <a:r>
              <a:rPr lang="tr-TR" dirty="0" smtClean="0"/>
              <a:t>Alışveriş </a:t>
            </a:r>
            <a:r>
              <a:rPr lang="tr-TR" dirty="0"/>
              <a:t>yapılırken optimizasyon yapılır. </a:t>
            </a:r>
            <a:endParaRPr lang="tr-TR" dirty="0" smtClean="0"/>
          </a:p>
          <a:p>
            <a:r>
              <a:rPr lang="tr-TR" dirty="0" smtClean="0"/>
              <a:t>Mağazalar</a:t>
            </a:r>
            <a:r>
              <a:rPr lang="tr-TR" dirty="0"/>
              <a:t>, ürün fiyatlarını ve çeşitlerini belirlerken optimizasyon yapar. </a:t>
            </a:r>
            <a:endParaRPr lang="tr-TR" dirty="0" smtClean="0"/>
          </a:p>
          <a:p>
            <a:r>
              <a:rPr lang="tr-TR" dirty="0" smtClean="0"/>
              <a:t>Elektronik </a:t>
            </a:r>
            <a:r>
              <a:rPr lang="tr-TR" dirty="0"/>
              <a:t>ticaret siteleri, ürün yerleşiminde, reklam ve kampanya yönetiminde optimizasyon yapar. </a:t>
            </a:r>
            <a:endParaRPr lang="tr-TR" dirty="0" smtClean="0"/>
          </a:p>
          <a:p>
            <a:r>
              <a:rPr lang="tr-TR" dirty="0" smtClean="0"/>
              <a:t>Hem </a:t>
            </a:r>
            <a:r>
              <a:rPr lang="tr-TR" dirty="0"/>
              <a:t>büyük veri analitiği yöntemleri hem de yapay zeka yöntemleri optimizasyon amaçlı kullanılmaktadır.</a:t>
            </a:r>
          </a:p>
        </p:txBody>
      </p:sp>
    </p:spTree>
    <p:extLst>
      <p:ext uri="{BB962C8B-B14F-4D97-AF65-F5344CB8AC3E}">
        <p14:creationId xmlns:p14="http://schemas.microsoft.com/office/powerpoint/2010/main" val="278354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Optimizasyon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Geliştirilecek optimizasyon algoritması için bir amaç (</a:t>
            </a:r>
            <a:r>
              <a:rPr lang="tr-TR" dirty="0" err="1"/>
              <a:t>objective</a:t>
            </a:r>
            <a:r>
              <a:rPr lang="tr-TR" dirty="0"/>
              <a:t>) (fayda, zarar, süre, alan, vb.) tanımlanır. </a:t>
            </a:r>
            <a:endParaRPr lang="tr-TR" dirty="0" smtClean="0"/>
          </a:p>
          <a:p>
            <a:r>
              <a:rPr lang="tr-TR" dirty="0" smtClean="0"/>
              <a:t>Belirlenen </a:t>
            </a:r>
            <a:r>
              <a:rPr lang="tr-TR" dirty="0"/>
              <a:t>amaç, uygulanacak sistemin performansını ölçmek için kullanılır. </a:t>
            </a:r>
            <a:endParaRPr lang="tr-TR" dirty="0" smtClean="0"/>
          </a:p>
          <a:p>
            <a:r>
              <a:rPr lang="tr-TR" dirty="0" smtClean="0"/>
              <a:t>İstenen </a:t>
            </a:r>
            <a:r>
              <a:rPr lang="tr-TR" dirty="0"/>
              <a:t>amaç, sistemin karakteristik özelliklerine (</a:t>
            </a:r>
            <a:r>
              <a:rPr lang="tr-TR" dirty="0" err="1"/>
              <a:t>variables</a:t>
            </a:r>
            <a:r>
              <a:rPr lang="tr-TR" dirty="0"/>
              <a:t>) (değişkenler, bilinmeyenler) bağlıdır. </a:t>
            </a:r>
            <a:endParaRPr lang="tr-TR" dirty="0" smtClean="0"/>
          </a:p>
          <a:p>
            <a:r>
              <a:rPr lang="tr-TR" dirty="0" smtClean="0"/>
              <a:t>Optimizasyon </a:t>
            </a:r>
            <a:r>
              <a:rPr lang="tr-TR" dirty="0"/>
              <a:t>sürecinin hedefi, amacı optimize eden değişken değerlerini bulmaktır. </a:t>
            </a:r>
            <a:endParaRPr lang="tr-TR" dirty="0" smtClean="0"/>
          </a:p>
          <a:p>
            <a:r>
              <a:rPr lang="tr-TR" dirty="0" smtClean="0"/>
              <a:t>Genellikle </a:t>
            </a:r>
            <a:r>
              <a:rPr lang="tr-TR" dirty="0"/>
              <a:t>değişkenlerin değerleri kısıtlanmış olur (</a:t>
            </a:r>
            <a:r>
              <a:rPr lang="tr-TR" dirty="0" err="1"/>
              <a:t>constrained</a:t>
            </a:r>
            <a:r>
              <a:rPr lang="tr-TR" dirty="0"/>
              <a:t>) (maliyet negatif olamaz, vb.) </a:t>
            </a:r>
            <a:endParaRPr lang="tr-TR" dirty="0" smtClean="0"/>
          </a:p>
          <a:p>
            <a:r>
              <a:rPr lang="tr-TR" dirty="0" smtClean="0"/>
              <a:t>Bir </a:t>
            </a:r>
            <a:r>
              <a:rPr lang="tr-TR" dirty="0"/>
              <a:t>problem için amaç, değişkenler ve kısıtların belirlenmesi sürecine modelleme denir. </a:t>
            </a:r>
            <a:endParaRPr lang="tr-TR" dirty="0" smtClean="0"/>
          </a:p>
          <a:p>
            <a:r>
              <a:rPr lang="tr-TR" dirty="0" smtClean="0"/>
              <a:t>Optimizasyon </a:t>
            </a:r>
            <a:r>
              <a:rPr lang="tr-TR" dirty="0"/>
              <a:t>sürecinde, en önemli aşama uygun modelin oluşturulmasıdır. </a:t>
            </a:r>
          </a:p>
        </p:txBody>
      </p:sp>
    </p:spTree>
    <p:extLst>
      <p:ext uri="{BB962C8B-B14F-4D97-AF65-F5344CB8AC3E}">
        <p14:creationId xmlns:p14="http://schemas.microsoft.com/office/powerpoint/2010/main" val="836173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Optimizasyon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r>
              <a:rPr lang="tr-TR" dirty="0"/>
              <a:t>Model formüle edildikten sonra, çözümü bulmak için bir optimizasyon algoritması kullanılabilir. </a:t>
            </a:r>
            <a:endParaRPr lang="tr-TR" dirty="0" smtClean="0"/>
          </a:p>
          <a:p>
            <a:r>
              <a:rPr lang="tr-TR" dirty="0" smtClean="0"/>
              <a:t>Her </a:t>
            </a:r>
            <a:r>
              <a:rPr lang="tr-TR" dirty="0"/>
              <a:t>problem için uygun çözüm veren evrensel bir optimizasyon algoritması yoktur. </a:t>
            </a:r>
            <a:endParaRPr lang="tr-TR" dirty="0" smtClean="0"/>
          </a:p>
          <a:p>
            <a:r>
              <a:rPr lang="tr-TR" dirty="0" smtClean="0"/>
              <a:t>Çok </a:t>
            </a:r>
            <a:r>
              <a:rPr lang="tr-TR" dirty="0"/>
              <a:t>sayıda optimizasyon algoritması vardır ve her algoritma bir problem türüne özgü çözüm oluşturur. </a:t>
            </a:r>
            <a:endParaRPr lang="tr-TR" dirty="0" smtClean="0"/>
          </a:p>
          <a:p>
            <a:r>
              <a:rPr lang="tr-TR" dirty="0" smtClean="0"/>
              <a:t>Probleme </a:t>
            </a:r>
            <a:r>
              <a:rPr lang="tr-TR" dirty="0"/>
              <a:t>uygun optimizasyon algoritmasının belirlenmesi sıklıkla kullanıcı tarafından yapılır. </a:t>
            </a:r>
            <a:endParaRPr lang="tr-TR" dirty="0" smtClean="0"/>
          </a:p>
          <a:p>
            <a:r>
              <a:rPr lang="tr-TR" dirty="0" smtClean="0"/>
              <a:t>Algoritma </a:t>
            </a:r>
            <a:r>
              <a:rPr lang="tr-TR" dirty="0"/>
              <a:t>uygulandıktan sonra elde edilen sonucun başarısının ölçülmesi gerekir. </a:t>
            </a:r>
            <a:endParaRPr lang="tr-TR" dirty="0" smtClean="0"/>
          </a:p>
          <a:p>
            <a:r>
              <a:rPr lang="tr-TR" dirty="0" smtClean="0"/>
              <a:t>Elde </a:t>
            </a:r>
            <a:r>
              <a:rPr lang="tr-TR" dirty="0"/>
              <a:t>edilen başarı düşükse başarının artırılması için faydalı bilgilerin oluşturulması gerekir.</a:t>
            </a:r>
          </a:p>
        </p:txBody>
      </p:sp>
    </p:spTree>
    <p:extLst>
      <p:ext uri="{BB962C8B-B14F-4D97-AF65-F5344CB8AC3E}">
        <p14:creationId xmlns:p14="http://schemas.microsoft.com/office/powerpoint/2010/main" val="1807453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Optimizasyon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33409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/>
              <a:t>Matematiksel tanım </a:t>
            </a:r>
            <a:endParaRPr lang="tr-TR" b="1" dirty="0" smtClean="0"/>
          </a:p>
          <a:p>
            <a:r>
              <a:rPr lang="tr-TR" dirty="0" smtClean="0"/>
              <a:t>Matematiksel </a:t>
            </a:r>
            <a:r>
              <a:rPr lang="tr-TR" dirty="0"/>
              <a:t>olarak optimizasyon, verilen kısıtlar altında değişken değerlerinin </a:t>
            </a:r>
            <a:r>
              <a:rPr lang="tr-TR" dirty="0" err="1"/>
              <a:t>minimizasyonu</a:t>
            </a:r>
            <a:r>
              <a:rPr lang="tr-TR" dirty="0"/>
              <a:t> veya maksimizasyonudur. </a:t>
            </a:r>
            <a:endParaRPr lang="tr-TR" dirty="0" smtClean="0"/>
          </a:p>
          <a:p>
            <a:r>
              <a:rPr lang="tr-TR" dirty="0" smtClean="0"/>
              <a:t>x</a:t>
            </a:r>
            <a:r>
              <a:rPr lang="tr-TR" dirty="0"/>
              <a:t>, değişkenler (bilinmeyenler, parametreler) vektörü olsun. </a:t>
            </a:r>
            <a:endParaRPr lang="tr-TR" dirty="0" smtClean="0"/>
          </a:p>
          <a:p>
            <a:r>
              <a:rPr lang="tr-TR" dirty="0" smtClean="0"/>
              <a:t>f</a:t>
            </a:r>
            <a:r>
              <a:rPr lang="tr-TR" dirty="0"/>
              <a:t>, amaç fonksiyonu olsun. </a:t>
            </a:r>
            <a:endParaRPr lang="tr-TR" dirty="0" smtClean="0"/>
          </a:p>
          <a:p>
            <a:r>
              <a:rPr lang="tr-TR" dirty="0" smtClean="0"/>
              <a:t>f</a:t>
            </a:r>
            <a:r>
              <a:rPr lang="tr-TR" dirty="0"/>
              <a:t>, </a:t>
            </a:r>
            <a:r>
              <a:rPr lang="tr-TR" dirty="0" err="1"/>
              <a:t>x’in</a:t>
            </a:r>
            <a:r>
              <a:rPr lang="tr-TR" dirty="0"/>
              <a:t> bir fonksiyonudur ve minimize veya maksimize edilecektir. </a:t>
            </a:r>
            <a:endParaRPr lang="tr-TR" dirty="0" smtClean="0"/>
          </a:p>
          <a:p>
            <a:r>
              <a:rPr lang="tr-TR" dirty="0" smtClean="0"/>
              <a:t>c</a:t>
            </a:r>
            <a:r>
              <a:rPr lang="tr-TR" dirty="0"/>
              <a:t>, kısıtlar vektörü olsun.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891" y="5013176"/>
            <a:ext cx="6424217" cy="163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Optimizasyon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506916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tr-TR" b="1" dirty="0"/>
              <a:t>Geometrik gösterim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 smtClean="0"/>
              <a:t>f(x)’in aynı değerleri kesikli çizgilerle gösterilmiştir. 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r>
              <a:rPr lang="tr-TR" dirty="0" err="1" smtClean="0"/>
              <a:t>Feasible</a:t>
            </a:r>
            <a:r>
              <a:rPr lang="tr-TR" dirty="0" smtClean="0"/>
              <a:t> </a:t>
            </a:r>
            <a:r>
              <a:rPr lang="tr-TR" dirty="0" err="1"/>
              <a:t>region</a:t>
            </a:r>
            <a:r>
              <a:rPr lang="tr-TR" dirty="0"/>
              <a:t>, tüm kısıtları sağlar</a:t>
            </a:r>
            <a:r>
              <a:rPr lang="tr-TR" dirty="0" smtClean="0"/>
              <a:t>.</a:t>
            </a:r>
          </a:p>
          <a:p>
            <a:r>
              <a:rPr lang="tr-TR" dirty="0" smtClean="0"/>
              <a:t>x</a:t>
            </a:r>
            <a:r>
              <a:rPr lang="tr-TR" dirty="0"/>
              <a:t>*, optimal çözümdür. Birden fazla olabilir veya hiç olmayabilir. 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58" y="2348880"/>
            <a:ext cx="6427955" cy="343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4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Optimizasyon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Geometrik gösterim </a:t>
            </a:r>
            <a:endParaRPr lang="tr-TR" b="1" dirty="0" smtClean="0"/>
          </a:p>
          <a:p>
            <a:r>
              <a:rPr lang="tr-TR" dirty="0" smtClean="0"/>
              <a:t>Amaç </a:t>
            </a:r>
            <a:r>
              <a:rPr lang="tr-TR" dirty="0"/>
              <a:t>fonksiyonunun tanımlı olduğu aralıkta en iyi değeri sağlayan değişken değerleri aranır. 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53" y="2924944"/>
            <a:ext cx="7459647" cy="354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50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Sezgisel Optimizasyon Algoritmaları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Sezgisel Algoritmaların Türleri</a:t>
            </a:r>
            <a:endParaRPr lang="tr-TR" b="1" dirty="0" smtClean="0"/>
          </a:p>
          <a:p>
            <a:r>
              <a:rPr lang="tr-TR" dirty="0"/>
              <a:t>Sosyal </a:t>
            </a:r>
            <a:r>
              <a:rPr lang="tr-TR" dirty="0" smtClean="0"/>
              <a:t>tabanlı,</a:t>
            </a:r>
          </a:p>
          <a:p>
            <a:pPr lvl="1"/>
            <a:r>
              <a:rPr lang="tr-TR" dirty="0" smtClean="0"/>
              <a:t>Emperyalist </a:t>
            </a:r>
            <a:r>
              <a:rPr lang="tr-TR" dirty="0"/>
              <a:t>Yarışmacı, </a:t>
            </a:r>
            <a:endParaRPr lang="tr-TR" dirty="0" smtClean="0"/>
          </a:p>
          <a:p>
            <a:pPr lvl="1"/>
            <a:r>
              <a:rPr lang="tr-TR" dirty="0" smtClean="0"/>
              <a:t>Öğretme-Öğrenme</a:t>
            </a:r>
            <a:r>
              <a:rPr lang="tr-TR" dirty="0"/>
              <a:t>, </a:t>
            </a:r>
            <a:endParaRPr lang="tr-TR" dirty="0" smtClean="0"/>
          </a:p>
          <a:p>
            <a:pPr lvl="1"/>
            <a:r>
              <a:rPr lang="tr-TR" dirty="0" smtClean="0"/>
              <a:t>Beyin </a:t>
            </a:r>
            <a:r>
              <a:rPr lang="tr-TR" dirty="0"/>
              <a:t>Fırtınası, </a:t>
            </a:r>
            <a:endParaRPr lang="tr-TR" dirty="0" smtClean="0"/>
          </a:p>
          <a:p>
            <a:pPr lvl="1"/>
            <a:r>
              <a:rPr lang="tr-TR" dirty="0" smtClean="0"/>
              <a:t>Parlamenter</a:t>
            </a:r>
            <a:r>
              <a:rPr lang="tr-TR" dirty="0"/>
              <a:t>, </a:t>
            </a:r>
            <a:endParaRPr lang="tr-TR" dirty="0" smtClean="0"/>
          </a:p>
          <a:p>
            <a:pPr lvl="1"/>
            <a:r>
              <a:rPr lang="tr-TR" dirty="0" smtClean="0"/>
              <a:t>Tabu </a:t>
            </a:r>
            <a:r>
              <a:rPr lang="tr-TR" dirty="0"/>
              <a:t>Arama,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01115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Sezgisel Optimizasyon Algoritmaları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Sezgisel Algoritmaların Türleri</a:t>
            </a:r>
            <a:endParaRPr lang="tr-TR" b="1" dirty="0" smtClean="0"/>
          </a:p>
          <a:p>
            <a:r>
              <a:rPr lang="tr-TR" dirty="0" smtClean="0"/>
              <a:t>Fizik tabanlı</a:t>
            </a:r>
          </a:p>
          <a:p>
            <a:pPr lvl="1"/>
            <a:r>
              <a:rPr lang="tr-TR" dirty="0" smtClean="0"/>
              <a:t>Elektromanyetizma</a:t>
            </a:r>
            <a:r>
              <a:rPr lang="tr-TR" dirty="0"/>
              <a:t>, </a:t>
            </a:r>
            <a:endParaRPr lang="tr-TR" dirty="0" smtClean="0"/>
          </a:p>
          <a:p>
            <a:pPr lvl="1"/>
            <a:r>
              <a:rPr lang="tr-TR" dirty="0" err="1" smtClean="0"/>
              <a:t>B.Patlama-B.Büzülme</a:t>
            </a:r>
            <a:r>
              <a:rPr lang="tr-TR" dirty="0"/>
              <a:t>, </a:t>
            </a:r>
            <a:endParaRPr lang="tr-TR" dirty="0" smtClean="0"/>
          </a:p>
          <a:p>
            <a:pPr lvl="1"/>
            <a:r>
              <a:rPr lang="tr-TR" dirty="0" err="1" smtClean="0"/>
              <a:t>Yerçekimsel</a:t>
            </a:r>
            <a:r>
              <a:rPr lang="tr-TR" dirty="0" smtClean="0"/>
              <a:t> </a:t>
            </a:r>
            <a:r>
              <a:rPr lang="tr-TR" dirty="0"/>
              <a:t>Arama, </a:t>
            </a:r>
            <a:endParaRPr lang="tr-TR" dirty="0" smtClean="0"/>
          </a:p>
          <a:p>
            <a:pPr lvl="1"/>
            <a:r>
              <a:rPr lang="tr-TR" dirty="0" smtClean="0"/>
              <a:t>Yüklü </a:t>
            </a:r>
            <a:r>
              <a:rPr lang="tr-TR" dirty="0"/>
              <a:t>Sistem Arama, </a:t>
            </a:r>
            <a:endParaRPr lang="tr-TR" dirty="0" smtClean="0"/>
          </a:p>
          <a:p>
            <a:pPr lvl="1"/>
            <a:r>
              <a:rPr lang="tr-TR" dirty="0" smtClean="0"/>
              <a:t>Yapay </a:t>
            </a:r>
            <a:r>
              <a:rPr lang="tr-TR" dirty="0"/>
              <a:t>Fizik, </a:t>
            </a:r>
            <a:endParaRPr lang="tr-TR" dirty="0" smtClean="0"/>
          </a:p>
          <a:p>
            <a:pPr lvl="1"/>
            <a:r>
              <a:rPr lang="tr-TR" dirty="0" smtClean="0"/>
              <a:t>Merkezi </a:t>
            </a:r>
            <a:r>
              <a:rPr lang="tr-TR" dirty="0"/>
              <a:t>Kuvvet, </a:t>
            </a:r>
            <a:endParaRPr lang="tr-TR" dirty="0" smtClean="0"/>
          </a:p>
          <a:p>
            <a:pPr lvl="1"/>
            <a:r>
              <a:rPr lang="tr-TR" dirty="0" smtClean="0"/>
              <a:t>Benzetilmiş </a:t>
            </a:r>
            <a:r>
              <a:rPr lang="tr-TR" dirty="0"/>
              <a:t>Tavlama, </a:t>
            </a:r>
            <a:endParaRPr lang="tr-TR" dirty="0" smtClean="0"/>
          </a:p>
          <a:p>
            <a:pPr lvl="1"/>
            <a:r>
              <a:rPr lang="tr-TR" dirty="0" smtClean="0"/>
              <a:t>Su </a:t>
            </a:r>
            <a:r>
              <a:rPr lang="tr-TR" dirty="0"/>
              <a:t>Döngüsü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516434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Sezgisel Optimizasyon Algoritmaları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Sezgisel Algoritmaların Türleri</a:t>
            </a:r>
            <a:endParaRPr lang="tr-TR" b="1" dirty="0" smtClean="0"/>
          </a:p>
          <a:p>
            <a:r>
              <a:rPr lang="tr-TR" dirty="0" smtClean="0"/>
              <a:t>Biyoloji </a:t>
            </a:r>
            <a:r>
              <a:rPr lang="tr-TR" dirty="0"/>
              <a:t>tabanlı </a:t>
            </a:r>
            <a:endParaRPr lang="tr-TR" dirty="0" smtClean="0"/>
          </a:p>
          <a:p>
            <a:pPr lvl="1"/>
            <a:r>
              <a:rPr lang="tr-TR" dirty="0" smtClean="0"/>
              <a:t>Genetik </a:t>
            </a:r>
            <a:r>
              <a:rPr lang="tr-TR" dirty="0"/>
              <a:t>Algoritmalar, </a:t>
            </a:r>
            <a:endParaRPr lang="tr-TR" dirty="0" smtClean="0"/>
          </a:p>
          <a:p>
            <a:pPr lvl="1"/>
            <a:r>
              <a:rPr lang="tr-TR" dirty="0" smtClean="0"/>
              <a:t>Bakteriyel </a:t>
            </a:r>
            <a:r>
              <a:rPr lang="tr-TR" dirty="0"/>
              <a:t>Besin Arama, </a:t>
            </a:r>
            <a:endParaRPr lang="tr-TR" dirty="0" smtClean="0"/>
          </a:p>
          <a:p>
            <a:pPr lvl="1"/>
            <a:r>
              <a:rPr lang="tr-TR" dirty="0" err="1" smtClean="0"/>
              <a:t>Biyo</a:t>
            </a:r>
            <a:r>
              <a:rPr lang="tr-TR" dirty="0" smtClean="0"/>
              <a:t> Coğrafya</a:t>
            </a:r>
            <a:r>
              <a:rPr lang="tr-TR" dirty="0"/>
              <a:t>, </a:t>
            </a:r>
            <a:endParaRPr lang="tr-TR" dirty="0" smtClean="0"/>
          </a:p>
          <a:p>
            <a:pPr lvl="1"/>
            <a:r>
              <a:rPr lang="tr-TR" dirty="0" smtClean="0"/>
              <a:t>Diferansiyel </a:t>
            </a:r>
            <a:r>
              <a:rPr lang="tr-TR" dirty="0"/>
              <a:t>Gelişim,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651307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Sezgisel Optimizasyon Algoritmaları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Sezgisel Algoritmaların Türleri</a:t>
            </a:r>
            <a:r>
              <a:rPr lang="tr-TR" dirty="0" smtClean="0"/>
              <a:t> </a:t>
            </a:r>
          </a:p>
          <a:p>
            <a:r>
              <a:rPr lang="tr-TR" dirty="0" smtClean="0"/>
              <a:t>Kimya </a:t>
            </a:r>
            <a:r>
              <a:rPr lang="tr-TR" dirty="0"/>
              <a:t>tabanlı </a:t>
            </a:r>
            <a:endParaRPr lang="tr-TR" dirty="0" smtClean="0"/>
          </a:p>
          <a:p>
            <a:pPr lvl="1"/>
            <a:r>
              <a:rPr lang="tr-TR" dirty="0" smtClean="0"/>
              <a:t>Yapay </a:t>
            </a:r>
            <a:r>
              <a:rPr lang="tr-TR" dirty="0"/>
              <a:t>Atom, </a:t>
            </a:r>
            <a:endParaRPr lang="tr-TR" dirty="0" smtClean="0"/>
          </a:p>
          <a:p>
            <a:pPr lvl="1"/>
            <a:r>
              <a:rPr lang="tr-TR" dirty="0" smtClean="0"/>
              <a:t>Yapay </a:t>
            </a:r>
            <a:r>
              <a:rPr lang="tr-TR" dirty="0"/>
              <a:t>Kimyasal </a:t>
            </a:r>
            <a:r>
              <a:rPr lang="tr-TR" dirty="0" smtClean="0"/>
              <a:t>Tepkim</a:t>
            </a:r>
          </a:p>
          <a:p>
            <a:r>
              <a:rPr lang="tr-TR" dirty="0" smtClean="0"/>
              <a:t>Müzik </a:t>
            </a:r>
            <a:r>
              <a:rPr lang="tr-TR" dirty="0"/>
              <a:t>tabanlı </a:t>
            </a:r>
            <a:endParaRPr lang="tr-TR" dirty="0" smtClean="0"/>
          </a:p>
          <a:p>
            <a:pPr lvl="1"/>
            <a:r>
              <a:rPr lang="tr-TR" dirty="0" smtClean="0"/>
              <a:t>Armoni </a:t>
            </a:r>
            <a:r>
              <a:rPr lang="tr-TR" dirty="0"/>
              <a:t>arama </a:t>
            </a:r>
            <a:endParaRPr lang="tr-TR" dirty="0" smtClean="0"/>
          </a:p>
          <a:p>
            <a:r>
              <a:rPr lang="tr-TR" dirty="0" smtClean="0"/>
              <a:t>Spor </a:t>
            </a:r>
            <a:r>
              <a:rPr lang="tr-TR" dirty="0"/>
              <a:t>tabanlı </a:t>
            </a:r>
            <a:endParaRPr lang="tr-TR" dirty="0" smtClean="0"/>
          </a:p>
          <a:p>
            <a:pPr lvl="1"/>
            <a:r>
              <a:rPr lang="tr-TR" dirty="0" smtClean="0"/>
              <a:t>Lig </a:t>
            </a:r>
            <a:r>
              <a:rPr lang="tr-TR" dirty="0"/>
              <a:t>Şampiyonası </a:t>
            </a:r>
            <a:endParaRPr lang="tr-TR" dirty="0" smtClean="0"/>
          </a:p>
          <a:p>
            <a:pPr marL="365760" lvl="1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30895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Sezgisel Optimizasyon Algoritmaları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Sezgisel Algoritmaların Türleri</a:t>
            </a:r>
            <a:endParaRPr lang="tr-TR" b="1" dirty="0" smtClean="0"/>
          </a:p>
          <a:p>
            <a:r>
              <a:rPr lang="tr-TR" dirty="0"/>
              <a:t>Sürü Tabanlı </a:t>
            </a:r>
          </a:p>
          <a:p>
            <a:pPr lvl="1"/>
            <a:r>
              <a:rPr lang="tr-TR" dirty="0"/>
              <a:t>Parçacık Sürü, </a:t>
            </a:r>
          </a:p>
          <a:p>
            <a:pPr lvl="1"/>
            <a:r>
              <a:rPr lang="tr-TR" dirty="0"/>
              <a:t>Karınca Kolonisi, </a:t>
            </a:r>
          </a:p>
          <a:p>
            <a:pPr lvl="1"/>
            <a:r>
              <a:rPr lang="tr-TR" dirty="0"/>
              <a:t>Yapay Arı Kolonisi, </a:t>
            </a:r>
          </a:p>
          <a:p>
            <a:pPr lvl="1"/>
            <a:r>
              <a:rPr lang="tr-TR" dirty="0"/>
              <a:t>Guguk Kuşu </a:t>
            </a:r>
          </a:p>
          <a:p>
            <a:pPr lvl="1"/>
            <a:r>
              <a:rPr lang="tr-TR" dirty="0"/>
              <a:t>Cırcır Böceği, </a:t>
            </a:r>
          </a:p>
          <a:p>
            <a:pPr lvl="1"/>
            <a:r>
              <a:rPr lang="tr-TR" dirty="0"/>
              <a:t>Balina </a:t>
            </a:r>
          </a:p>
          <a:p>
            <a:pPr lvl="1"/>
            <a:r>
              <a:rPr lang="tr-TR" dirty="0"/>
              <a:t>Gri Kurt, </a:t>
            </a:r>
          </a:p>
          <a:p>
            <a:pPr lvl="1"/>
            <a:r>
              <a:rPr lang="tr-TR" dirty="0"/>
              <a:t>Yarasa, </a:t>
            </a:r>
          </a:p>
          <a:p>
            <a:pPr lvl="1"/>
            <a:r>
              <a:rPr lang="tr-TR" dirty="0"/>
              <a:t>Ateş Böceği,</a:t>
            </a:r>
          </a:p>
          <a:p>
            <a:pPr lvl="1"/>
            <a:r>
              <a:rPr lang="tr-TR" dirty="0"/>
              <a:t>Kelebek </a:t>
            </a:r>
          </a:p>
        </p:txBody>
      </p:sp>
    </p:spTree>
    <p:extLst>
      <p:ext uri="{BB962C8B-B14F-4D97-AF65-F5344CB8AC3E}">
        <p14:creationId xmlns:p14="http://schemas.microsoft.com/office/powerpoint/2010/main" val="3991361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Sezgisel Optimizasyon Algoritmaları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b="1" dirty="0" smtClean="0"/>
              <a:t>Genetik </a:t>
            </a:r>
            <a:r>
              <a:rPr lang="tr-TR" b="1" dirty="0" smtClean="0"/>
              <a:t>Algoritmalar, </a:t>
            </a:r>
          </a:p>
          <a:p>
            <a:r>
              <a:rPr lang="tr-TR" dirty="0" smtClean="0"/>
              <a:t>1970’li </a:t>
            </a:r>
            <a:r>
              <a:rPr lang="tr-TR" dirty="0"/>
              <a:t>yıllarda John </a:t>
            </a:r>
            <a:r>
              <a:rPr lang="tr-TR" dirty="0" err="1"/>
              <a:t>Holland</a:t>
            </a:r>
            <a:r>
              <a:rPr lang="tr-TR" dirty="0"/>
              <a:t> tarafından geliştirilmiştir. </a:t>
            </a:r>
            <a:endParaRPr lang="tr-TR" dirty="0" smtClean="0"/>
          </a:p>
          <a:p>
            <a:r>
              <a:rPr lang="tr-TR" dirty="0" smtClean="0"/>
              <a:t>1989 </a:t>
            </a:r>
            <a:r>
              <a:rPr lang="tr-TR" dirty="0"/>
              <a:t>yılında David E. </a:t>
            </a:r>
            <a:r>
              <a:rPr lang="tr-TR" dirty="0" err="1"/>
              <a:t>Goldberg</a:t>
            </a:r>
            <a:r>
              <a:rPr lang="tr-TR" dirty="0"/>
              <a:t> Genetik Algoritma Uygulamaları üzerine klasik eser olarak kabul edilen kitabını yayınladı. </a:t>
            </a:r>
            <a:endParaRPr lang="tr-TR" dirty="0" smtClean="0"/>
          </a:p>
          <a:p>
            <a:r>
              <a:rPr lang="tr-TR" dirty="0" smtClean="0"/>
              <a:t>Popülasyon </a:t>
            </a:r>
            <a:r>
              <a:rPr lang="tr-TR" dirty="0"/>
              <a:t>tabanlı algoritmadır. </a:t>
            </a:r>
            <a:endParaRPr lang="tr-TR" dirty="0" smtClean="0"/>
          </a:p>
          <a:p>
            <a:r>
              <a:rPr lang="tr-TR" dirty="0" smtClean="0"/>
              <a:t>Her </a:t>
            </a:r>
            <a:r>
              <a:rPr lang="tr-TR" dirty="0"/>
              <a:t>birey problemin çözümü olmaya adaydır. </a:t>
            </a:r>
            <a:endParaRPr lang="tr-TR" dirty="0" smtClean="0"/>
          </a:p>
          <a:p>
            <a:r>
              <a:rPr lang="tr-TR" dirty="0" err="1" smtClean="0"/>
              <a:t>Stokastik</a:t>
            </a:r>
            <a:r>
              <a:rPr lang="tr-TR" dirty="0" smtClean="0"/>
              <a:t> </a:t>
            </a:r>
            <a:r>
              <a:rPr lang="tr-TR" dirty="0"/>
              <a:t>bir algoritmadır ve birden fazla aşamada rastgele seçim yapar. </a:t>
            </a:r>
            <a:endParaRPr lang="tr-TR" dirty="0" smtClean="0"/>
          </a:p>
          <a:p>
            <a:r>
              <a:rPr lang="tr-TR" dirty="0" smtClean="0"/>
              <a:t>Çözümler </a:t>
            </a:r>
            <a:r>
              <a:rPr lang="tr-TR" dirty="0"/>
              <a:t>bit dizileri olarak veya probleme özgü olarak farklı şekilde kodlanır. </a:t>
            </a:r>
            <a:endParaRPr lang="tr-TR" dirty="0" smtClean="0"/>
          </a:p>
          <a:p>
            <a:r>
              <a:rPr lang="tr-TR" dirty="0" smtClean="0"/>
              <a:t>Bireyleri </a:t>
            </a:r>
            <a:r>
              <a:rPr lang="tr-TR" dirty="0"/>
              <a:t>değerlendirme fonksiyonu (</a:t>
            </a:r>
            <a:r>
              <a:rPr lang="tr-TR" dirty="0" err="1"/>
              <a:t>fitness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) probleme yönelik çalışan en önemli kısımdır. </a:t>
            </a:r>
            <a:endParaRPr lang="tr-TR" dirty="0" smtClean="0"/>
          </a:p>
          <a:p>
            <a:r>
              <a:rPr lang="tr-TR" dirty="0" smtClean="0"/>
              <a:t>Algoritma </a:t>
            </a:r>
            <a:r>
              <a:rPr lang="tr-TR" dirty="0"/>
              <a:t>sonlandığında popülasyondaki en iyi birey çözüm olarak alınır.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70663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Sezgisel Optimizasyon Algoritmaları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Sürü Algoritmaları(</a:t>
            </a:r>
            <a:r>
              <a:rPr lang="tr-TR" b="1" dirty="0" err="1" smtClean="0"/>
              <a:t>Swarm</a:t>
            </a:r>
            <a:r>
              <a:rPr lang="tr-TR" b="1" dirty="0" smtClean="0"/>
              <a:t> </a:t>
            </a:r>
            <a:r>
              <a:rPr lang="tr-TR" b="1" dirty="0" err="1" smtClean="0"/>
              <a:t>Algoritms</a:t>
            </a:r>
            <a:r>
              <a:rPr lang="tr-TR" b="1" dirty="0" smtClean="0"/>
              <a:t>)</a:t>
            </a:r>
          </a:p>
          <a:p>
            <a:r>
              <a:rPr lang="tr-TR" dirty="0"/>
              <a:t>Sürü algoritmaları, kolektif zekadan esinlenerek geliştirilmiştir. </a:t>
            </a:r>
            <a:endParaRPr lang="tr-TR" dirty="0" smtClean="0"/>
          </a:p>
          <a:p>
            <a:r>
              <a:rPr lang="tr-TR" dirty="0" smtClean="0"/>
              <a:t>Kolektif </a:t>
            </a:r>
            <a:r>
              <a:rPr lang="tr-TR" dirty="0"/>
              <a:t>zeka, bir ortamdaki çok sayıda bireyin işbirliğine dayanır. </a:t>
            </a:r>
            <a:endParaRPr lang="tr-TR" dirty="0" smtClean="0"/>
          </a:p>
          <a:p>
            <a:r>
              <a:rPr lang="tr-TR" dirty="0" smtClean="0"/>
              <a:t>Balık </a:t>
            </a:r>
            <a:r>
              <a:rPr lang="tr-TR" dirty="0"/>
              <a:t>kümeleri, kuş sürüleri ve karınca kolonileri kolektif zeka kullanır. </a:t>
            </a:r>
            <a:endParaRPr lang="tr-TR" dirty="0" smtClean="0"/>
          </a:p>
          <a:p>
            <a:r>
              <a:rPr lang="tr-TR" dirty="0" smtClean="0"/>
              <a:t>Kolektif </a:t>
            </a:r>
            <a:r>
              <a:rPr lang="tr-TR" dirty="0"/>
              <a:t>zeka, tek noktada merkezi değildir, kendi kendisine organize olabilir ve bulunduğu ortamın tamamında dağıtıktır.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407997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Sezgisel Optimizasyon Algoritmaları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 smtClean="0"/>
              <a:t>Sezgisel Optimizasyon Algoritmalarının </a:t>
            </a:r>
            <a:r>
              <a:rPr lang="tr-TR" b="1" dirty="0"/>
              <a:t>özellikleri </a:t>
            </a:r>
            <a:endParaRPr lang="tr-TR" b="1" dirty="0" smtClean="0"/>
          </a:p>
          <a:p>
            <a:r>
              <a:rPr lang="tr-TR" dirty="0" smtClean="0"/>
              <a:t>Optimizasyon </a:t>
            </a:r>
            <a:r>
              <a:rPr lang="tr-TR" dirty="0"/>
              <a:t>algoritmaları </a:t>
            </a:r>
            <a:r>
              <a:rPr lang="tr-TR" dirty="0" err="1"/>
              <a:t>iteratif</a:t>
            </a:r>
            <a:r>
              <a:rPr lang="tr-TR" dirty="0"/>
              <a:t> çalışır. </a:t>
            </a:r>
            <a:endParaRPr lang="tr-TR" dirty="0" smtClean="0"/>
          </a:p>
          <a:p>
            <a:r>
              <a:rPr lang="tr-TR" dirty="0" smtClean="0"/>
              <a:t>Değişkenlerin </a:t>
            </a:r>
            <a:r>
              <a:rPr lang="tr-TR" dirty="0"/>
              <a:t>tahmin edilen en iyi değerleri ile başlanır ve her </a:t>
            </a:r>
            <a:r>
              <a:rPr lang="tr-TR" dirty="0" err="1"/>
              <a:t>iterasyonda</a:t>
            </a:r>
            <a:r>
              <a:rPr lang="tr-TR" dirty="0"/>
              <a:t> yeni değerler üretilir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Algoritma </a:t>
            </a:r>
            <a:r>
              <a:rPr lang="tr-TR" dirty="0"/>
              <a:t>istenen sonuç elde edilince sonlanır. </a:t>
            </a:r>
            <a:endParaRPr lang="tr-TR" dirty="0" smtClean="0"/>
          </a:p>
          <a:p>
            <a:r>
              <a:rPr lang="tr-TR" dirty="0" smtClean="0"/>
              <a:t>Bazı </a:t>
            </a:r>
            <a:r>
              <a:rPr lang="tr-TR" dirty="0"/>
              <a:t>algoritmalar amaç fonksiyonuna göre, bazıları kısıtlara göre sonlanabilir. </a:t>
            </a:r>
            <a:endParaRPr lang="tr-TR" dirty="0" smtClean="0"/>
          </a:p>
          <a:p>
            <a:r>
              <a:rPr lang="tr-TR" dirty="0" smtClean="0"/>
              <a:t>Bazı </a:t>
            </a:r>
            <a:r>
              <a:rPr lang="tr-TR" dirty="0"/>
              <a:t>algoritmalar amaç fonksiyonu dışında başka bir fonksiyonun değerine göre sonlanabilir. </a:t>
            </a:r>
            <a:endParaRPr lang="tr-TR" dirty="0" smtClean="0"/>
          </a:p>
          <a:p>
            <a:r>
              <a:rPr lang="tr-TR" dirty="0" smtClean="0"/>
              <a:t>İyi </a:t>
            </a:r>
            <a:r>
              <a:rPr lang="tr-TR" dirty="0"/>
              <a:t>bir algoritmanın özellikleri: </a:t>
            </a:r>
            <a:endParaRPr lang="tr-TR" dirty="0" smtClean="0"/>
          </a:p>
          <a:p>
            <a:pPr lvl="1"/>
            <a:r>
              <a:rPr lang="tr-TR" dirty="0" err="1" smtClean="0"/>
              <a:t>Robustness</a:t>
            </a:r>
            <a:r>
              <a:rPr lang="tr-TR" dirty="0"/>
              <a:t>: Başlangıç değişkenlerinin tüm değerleri ve çeşitli problemler için iyi sonuç vermelidir. </a:t>
            </a:r>
            <a:endParaRPr lang="tr-TR" dirty="0" smtClean="0"/>
          </a:p>
          <a:p>
            <a:pPr lvl="1"/>
            <a:r>
              <a:rPr lang="tr-TR" dirty="0" err="1" smtClean="0"/>
              <a:t>Efficiency</a:t>
            </a:r>
            <a:r>
              <a:rPr lang="tr-TR" dirty="0"/>
              <a:t>: Çok fazla süreye ve alana ihtiyaç duymamalıdır. </a:t>
            </a:r>
            <a:endParaRPr lang="tr-TR" dirty="0" smtClean="0"/>
          </a:p>
          <a:p>
            <a:pPr lvl="1"/>
            <a:r>
              <a:rPr lang="tr-TR" dirty="0" err="1" smtClean="0"/>
              <a:t>Accuracy</a:t>
            </a:r>
            <a:r>
              <a:rPr lang="tr-TR" dirty="0"/>
              <a:t>: İstenen doğrulukta sonucu elde etmelidir. 1</a:t>
            </a:r>
          </a:p>
        </p:txBody>
      </p:sp>
    </p:spTree>
    <p:extLst>
      <p:ext uri="{BB962C8B-B14F-4D97-AF65-F5344CB8AC3E}">
        <p14:creationId xmlns:p14="http://schemas.microsoft.com/office/powerpoint/2010/main" val="1022238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Sezgisel Optimizasyon Algoritmaları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Meta-Sezgisel Algoritmalar</a:t>
            </a:r>
          </a:p>
          <a:p>
            <a:r>
              <a:rPr lang="tr-TR" dirty="0"/>
              <a:t>Sezgisel (</a:t>
            </a:r>
            <a:r>
              <a:rPr lang="tr-TR" dirty="0" err="1"/>
              <a:t>heuristic</a:t>
            </a:r>
            <a:r>
              <a:rPr lang="tr-TR" dirty="0"/>
              <a:t>) algoritmalar, problemin yeterli düzeyde iyi çözümünü elde ederler. </a:t>
            </a:r>
            <a:endParaRPr lang="tr-TR" dirty="0" smtClean="0"/>
          </a:p>
          <a:p>
            <a:r>
              <a:rPr lang="tr-TR" dirty="0" smtClean="0"/>
              <a:t>Sezgisel </a:t>
            </a:r>
            <a:r>
              <a:rPr lang="tr-TR" dirty="0"/>
              <a:t>algoritma optimal sonucu aramaz. </a:t>
            </a:r>
            <a:endParaRPr lang="tr-TR" dirty="0" smtClean="0"/>
          </a:p>
          <a:p>
            <a:r>
              <a:rPr lang="tr-TR" dirty="0" smtClean="0"/>
              <a:t>Sezgisel </a:t>
            </a:r>
            <a:r>
              <a:rPr lang="tr-TR" dirty="0"/>
              <a:t>yöntemler, </a:t>
            </a:r>
            <a:r>
              <a:rPr lang="tr-TR" dirty="0" err="1"/>
              <a:t>accuracy</a:t>
            </a:r>
            <a:r>
              <a:rPr lang="tr-TR" dirty="0"/>
              <a:t>, kalite, </a:t>
            </a:r>
            <a:r>
              <a:rPr lang="tr-TR" dirty="0" err="1"/>
              <a:t>precision</a:t>
            </a:r>
            <a:r>
              <a:rPr lang="tr-TR" dirty="0"/>
              <a:t>, hesaplama ve saklama alanı gereksinimine göre amaca yönelik seçim yapar. </a:t>
            </a:r>
            <a:endParaRPr lang="tr-TR" dirty="0" smtClean="0"/>
          </a:p>
          <a:p>
            <a:r>
              <a:rPr lang="tr-TR" dirty="0" smtClean="0"/>
              <a:t>Meta-sezgiseller</a:t>
            </a:r>
            <a:r>
              <a:rPr lang="tr-TR" dirty="0"/>
              <a:t>, küçük değişikliklerle farklı optimizasyon problemlerine uygulanabilen genel bir </a:t>
            </a:r>
            <a:r>
              <a:rPr lang="tr-TR" dirty="0" err="1"/>
              <a:t>framework</a:t>
            </a:r>
            <a:r>
              <a:rPr lang="tr-TR" dirty="0"/>
              <a:t> olarak düşünülebilir. </a:t>
            </a:r>
            <a:endParaRPr lang="tr-TR" dirty="0" smtClean="0"/>
          </a:p>
          <a:p>
            <a:r>
              <a:rPr lang="tr-TR" dirty="0" smtClean="0"/>
              <a:t>Meta-sezgiseller</a:t>
            </a:r>
            <a:r>
              <a:rPr lang="tr-TR" dirty="0"/>
              <a:t>, birden çok sezgisel algoritmayı birleştirerek yeteneklerini artırmayı amaçlar.</a:t>
            </a:r>
          </a:p>
        </p:txBody>
      </p:sp>
    </p:spTree>
    <p:extLst>
      <p:ext uri="{BB962C8B-B14F-4D97-AF65-F5344CB8AC3E}">
        <p14:creationId xmlns:p14="http://schemas.microsoft.com/office/powerpoint/2010/main" val="725707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Sezgisel Optimizasyon Algoritmaları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50691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dirty="0" smtClean="0"/>
              <a:t>Meta-Sezgisel Algoritmalar</a:t>
            </a:r>
          </a:p>
          <a:p>
            <a:r>
              <a:rPr lang="tr-TR" dirty="0" smtClean="0"/>
              <a:t>Geleneksel </a:t>
            </a:r>
            <a:r>
              <a:rPr lang="tr-TR" dirty="0"/>
              <a:t>algoritmaların uygun olmadığı zor problemlere </a:t>
            </a:r>
            <a:r>
              <a:rPr lang="tr-TR" dirty="0" smtClean="0"/>
              <a:t>uygulanır. </a:t>
            </a:r>
          </a:p>
          <a:p>
            <a:r>
              <a:rPr lang="tr-TR" dirty="0" smtClean="0"/>
              <a:t>Çözüm </a:t>
            </a:r>
            <a:r>
              <a:rPr lang="tr-TR" dirty="0"/>
              <a:t>uzayı boyutu çok büyüktür, olası uygun çözüm sayısı çok fazladır ve en iyi çözümü aramak mümkün veya </a:t>
            </a:r>
            <a:r>
              <a:rPr lang="tr-TR" dirty="0" err="1"/>
              <a:t>feasible</a:t>
            </a:r>
            <a:r>
              <a:rPr lang="tr-TR" dirty="0"/>
              <a:t> değildir. </a:t>
            </a:r>
            <a:endParaRPr lang="tr-TR" dirty="0" smtClean="0"/>
          </a:p>
          <a:p>
            <a:r>
              <a:rPr lang="tr-TR" dirty="0" smtClean="0"/>
              <a:t>Meta-sezgisellerin </a:t>
            </a:r>
            <a:r>
              <a:rPr lang="tr-TR" dirty="0"/>
              <a:t>genel özellikleri: </a:t>
            </a:r>
            <a:endParaRPr lang="tr-TR" dirty="0" smtClean="0"/>
          </a:p>
          <a:p>
            <a:pPr lvl="1"/>
            <a:r>
              <a:rPr lang="tr-TR" dirty="0" smtClean="0"/>
              <a:t>Meta-sezgiseller </a:t>
            </a:r>
            <a:r>
              <a:rPr lang="tr-TR" dirty="0"/>
              <a:t>arama sürecini yöneten stratejilerdir. </a:t>
            </a:r>
            <a:endParaRPr lang="tr-TR" dirty="0" smtClean="0"/>
          </a:p>
          <a:p>
            <a:pPr lvl="1"/>
            <a:r>
              <a:rPr lang="tr-TR" dirty="0" smtClean="0"/>
              <a:t>Yaklaşık </a:t>
            </a:r>
            <a:r>
              <a:rPr lang="tr-TR" dirty="0"/>
              <a:t>en iyi çözümü elde etmek için çözüm uzayında etkin arama amaçlanır. </a:t>
            </a:r>
            <a:endParaRPr lang="tr-TR" dirty="0" smtClean="0"/>
          </a:p>
          <a:p>
            <a:pPr lvl="1"/>
            <a:r>
              <a:rPr lang="tr-TR" dirty="0" smtClean="0"/>
              <a:t>Meta-sezgisel </a:t>
            </a:r>
            <a:r>
              <a:rPr lang="tr-TR" dirty="0"/>
              <a:t>algoritmalar, basit lokal arama prosedürlerini de karmaşık öğrenme süreçlerini de içerebilir. </a:t>
            </a:r>
            <a:endParaRPr lang="tr-TR" dirty="0" smtClean="0"/>
          </a:p>
          <a:p>
            <a:pPr lvl="1"/>
            <a:r>
              <a:rPr lang="tr-TR" dirty="0" smtClean="0"/>
              <a:t>Çözüm </a:t>
            </a:r>
            <a:r>
              <a:rPr lang="tr-TR" dirty="0"/>
              <a:t>uzayında bir alanda sıkışıp kalmamak için mekanizmalara sahip olabilirler (mutasyon). </a:t>
            </a:r>
          </a:p>
        </p:txBody>
      </p:sp>
    </p:spTree>
    <p:extLst>
      <p:ext uri="{BB962C8B-B14F-4D97-AF65-F5344CB8AC3E}">
        <p14:creationId xmlns:p14="http://schemas.microsoft.com/office/powerpoint/2010/main" val="1748300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533</TotalTime>
  <Words>901</Words>
  <Application>Microsoft Office PowerPoint</Application>
  <PresentationFormat>Ekran Gösterisi (4:3)</PresentationFormat>
  <Paragraphs>147</Paragraphs>
  <Slides>17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2" baseType="lpstr">
      <vt:lpstr>ＭＳ Ｐゴシック</vt:lpstr>
      <vt:lpstr>Century Schoolbook</vt:lpstr>
      <vt:lpstr>Wingdings</vt:lpstr>
      <vt:lpstr>Wingdings 2</vt:lpstr>
      <vt:lpstr>Cumba</vt:lpstr>
      <vt:lpstr>Zeki Optimizasyon</vt:lpstr>
      <vt:lpstr>Optimizasyon</vt:lpstr>
      <vt:lpstr>Optimizasyon</vt:lpstr>
      <vt:lpstr>Optimizasyon</vt:lpstr>
      <vt:lpstr>Optimizasyon</vt:lpstr>
      <vt:lpstr>Optimizasyon</vt:lpstr>
      <vt:lpstr>Optimizasyon</vt:lpstr>
      <vt:lpstr>Sezgisel Optimizasyon Algoritmaları</vt:lpstr>
      <vt:lpstr>Sezgisel Optimizasyon Algoritmaları</vt:lpstr>
      <vt:lpstr>Sezgisel Optimizasyon Algoritmaları</vt:lpstr>
      <vt:lpstr>Sezgisel Optimizasyon Algoritmaları</vt:lpstr>
      <vt:lpstr>Sezgisel Optimizasyon Algoritmaları</vt:lpstr>
      <vt:lpstr>Sezgisel Optimizasyon Algoritmaları</vt:lpstr>
      <vt:lpstr>Sezgisel Optimizasyon Algoritmaları</vt:lpstr>
      <vt:lpstr>Sezgisel Optimizasyon Algoritmaları</vt:lpstr>
      <vt:lpstr>Sezgisel Optimizasyon Algoritmaları</vt:lpstr>
      <vt:lpstr>Sezgisel Optimizasyon Algoritmaları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İLERİ PROGRAMLAMA</dc:title>
  <dc:creator>SFuat</dc:creator>
  <cp:lastModifiedBy>Tuncay</cp:lastModifiedBy>
  <cp:revision>77</cp:revision>
  <dcterms:created xsi:type="dcterms:W3CDTF">2020-02-18T10:38:04Z</dcterms:created>
  <dcterms:modified xsi:type="dcterms:W3CDTF">2023-10-29T07:00:36Z</dcterms:modified>
</cp:coreProperties>
</file>
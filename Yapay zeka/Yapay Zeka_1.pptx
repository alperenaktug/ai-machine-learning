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269" r:id="rId4"/>
    <p:sldId id="271" r:id="rId5"/>
    <p:sldId id="272" r:id="rId6"/>
    <p:sldId id="270" r:id="rId7"/>
    <p:sldId id="273" r:id="rId8"/>
    <p:sldId id="274" r:id="rId9"/>
    <p:sldId id="275" r:id="rId10"/>
    <p:sldId id="276" r:id="rId11"/>
    <p:sldId id="277" r:id="rId12"/>
    <p:sldId id="278" r:id="rId13"/>
    <p:sldId id="279" r:id="rId14"/>
    <p:sldId id="280" r:id="rId15"/>
    <p:sldId id="281" r:id="rId16"/>
    <p:sldId id="282" r:id="rId17"/>
    <p:sldId id="283" r:id="rId18"/>
    <p:sldId id="285" r:id="rId19"/>
    <p:sldId id="286" r:id="rId20"/>
    <p:sldId id="287" r:id="rId21"/>
    <p:sldId id="284" r:id="rId2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Başlık 7"/>
          <p:cNvSpPr>
            <a:spLocks noGrp="1"/>
          </p:cNvSpPr>
          <p:nvPr>
            <p:ph type="ctrTitle"/>
          </p:nvPr>
        </p:nvSpPr>
        <p:spPr>
          <a:xfrm>
            <a:off x="2286000" y="3124200"/>
            <a:ext cx="6172200" cy="1894362"/>
          </a:xfrm>
        </p:spPr>
        <p:txBody>
          <a:bodyPr/>
          <a:lstStyle>
            <a:lvl1pPr>
              <a:defRPr b="1"/>
            </a:lvl1pPr>
          </a:lstStyle>
          <a:p>
            <a:r>
              <a:rPr kumimoji="0" lang="tr-TR" smtClean="0"/>
              <a:t>Asıl başlık stili için tıklatın</a:t>
            </a:r>
            <a:endParaRPr kumimoji="0" lang="en-US"/>
          </a:p>
        </p:txBody>
      </p:sp>
      <p:sp>
        <p:nvSpPr>
          <p:cNvPr id="9" name="Alt Başlık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smtClean="0"/>
              <a:t>Asıl alt başlık stilini düzenlemek için tıklatın</a:t>
            </a:r>
            <a:endParaRPr kumimoji="0" lang="en-US"/>
          </a:p>
        </p:txBody>
      </p:sp>
      <p:sp>
        <p:nvSpPr>
          <p:cNvPr id="28" name="Veri Yer Tutucusu 27"/>
          <p:cNvSpPr>
            <a:spLocks noGrp="1"/>
          </p:cNvSpPr>
          <p:nvPr>
            <p:ph type="dt" sz="half" idx="10"/>
          </p:nvPr>
        </p:nvSpPr>
        <p:spPr bwMode="auto">
          <a:xfrm rot="5400000">
            <a:off x="7764621" y="1174097"/>
            <a:ext cx="2286000" cy="381000"/>
          </a:xfrm>
        </p:spPr>
        <p:txBody>
          <a:bodyPr/>
          <a:lstStyle/>
          <a:p>
            <a:fld id="{A23720DD-5B6D-40BF-8493-A6B52D484E6B}" type="datetimeFigureOut">
              <a:rPr lang="tr-TR" smtClean="0"/>
              <a:t>1.10.2023</a:t>
            </a:fld>
            <a:endParaRPr lang="tr-TR"/>
          </a:p>
        </p:txBody>
      </p:sp>
      <p:sp>
        <p:nvSpPr>
          <p:cNvPr id="17" name="Altbilgi Yer Tutucusu 16"/>
          <p:cNvSpPr>
            <a:spLocks noGrp="1"/>
          </p:cNvSpPr>
          <p:nvPr>
            <p:ph type="ftr" sz="quarter" idx="11"/>
          </p:nvPr>
        </p:nvSpPr>
        <p:spPr bwMode="auto">
          <a:xfrm rot="5400000">
            <a:off x="7077269" y="4181669"/>
            <a:ext cx="3657600" cy="384048"/>
          </a:xfrm>
        </p:spPr>
        <p:txBody>
          <a:bodyPr/>
          <a:lstStyle/>
          <a:p>
            <a:endParaRPr lang="tr-TR"/>
          </a:p>
        </p:txBody>
      </p:sp>
      <p:sp>
        <p:nvSpPr>
          <p:cNvPr id="10" name="Dikdörtgen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Dikdörtgen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Dikdörtgen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üz Bağlayıcı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Düz Bağlayıcı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Düz Bağlayıcı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Dikdörtgen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ayt Numarası Yer Tutucusu 28"/>
          <p:cNvSpPr>
            <a:spLocks noGrp="1"/>
          </p:cNvSpPr>
          <p:nvPr>
            <p:ph type="sldNum" sz="quarter" idx="12"/>
          </p:nvPr>
        </p:nvSpPr>
        <p:spPr bwMode="auto">
          <a:xfrm>
            <a:off x="1325544" y="4928702"/>
            <a:ext cx="609600" cy="517524"/>
          </a:xfrm>
        </p:spPr>
        <p:txBody>
          <a:bodyPr/>
          <a:lstStyle/>
          <a:p>
            <a:fld id="{F302176B-0E47-46AC-8F43-DAB4B8A37D06}" type="slidenum">
              <a:rPr lang="tr-TR" smtClean="0"/>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smtClean="0"/>
              <a:t>Asıl başlık stili için tıklatın</a:t>
            </a:r>
            <a:endParaRPr kumimoji="0" lang="en-US"/>
          </a:p>
        </p:txBody>
      </p:sp>
      <p:sp>
        <p:nvSpPr>
          <p:cNvPr id="8" name="İçerik Yer Tutucusu 7"/>
          <p:cNvSpPr>
            <a:spLocks noGrp="1"/>
          </p:cNvSpPr>
          <p:nvPr>
            <p:ph sz="quarter" idx="1"/>
          </p:nvPr>
        </p:nvSpPr>
        <p:spPr>
          <a:xfrm>
            <a:off x="457200" y="1600200"/>
            <a:ext cx="7467600" cy="4873752"/>
          </a:xfrm>
        </p:spPr>
        <p:txBody>
          <a:body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7" name="Veri Yer Tutucusu 6"/>
          <p:cNvSpPr>
            <a:spLocks noGrp="1"/>
          </p:cNvSpPr>
          <p:nvPr>
            <p:ph type="dt" sz="half" idx="14"/>
          </p:nvPr>
        </p:nvSpPr>
        <p:spPr/>
        <p:txBody>
          <a:bodyPr rtlCol="0"/>
          <a:lstStyle/>
          <a:p>
            <a:fld id="{A23720DD-5B6D-40BF-8493-A6B52D484E6B}" type="datetimeFigureOut">
              <a:rPr lang="tr-TR" smtClean="0"/>
              <a:t>1.10.2023</a:t>
            </a:fld>
            <a:endParaRPr lang="tr-TR"/>
          </a:p>
        </p:txBody>
      </p:sp>
      <p:sp>
        <p:nvSpPr>
          <p:cNvPr id="9" name="Slayt Numarası Yer Tutucusu 8"/>
          <p:cNvSpPr>
            <a:spLocks noGrp="1"/>
          </p:cNvSpPr>
          <p:nvPr>
            <p:ph type="sldNum" sz="quarter" idx="15"/>
          </p:nvPr>
        </p:nvSpPr>
        <p:spPr/>
        <p:txBody>
          <a:bodyPr rtlCol="0"/>
          <a:lstStyle/>
          <a:p>
            <a:fld id="{F302176B-0E47-46AC-8F43-DAB4B8A37D06}" type="slidenum">
              <a:rPr lang="tr-TR" smtClean="0"/>
              <a:t>‹#›</a:t>
            </a:fld>
            <a:endParaRPr lang="tr-TR"/>
          </a:p>
        </p:txBody>
      </p:sp>
      <p:sp>
        <p:nvSpPr>
          <p:cNvPr id="10" name="Altbilgi Yer Tutucusu 9"/>
          <p:cNvSpPr>
            <a:spLocks noGrp="1"/>
          </p:cNvSpPr>
          <p:nvPr>
            <p:ph type="ftr" sz="quarter" idx="16"/>
          </p:nvPr>
        </p:nvSpPr>
        <p:spPr/>
        <p:txBody>
          <a:bodyPr rtlCol="0"/>
          <a:lstStyle/>
          <a:p>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2286000" y="2895600"/>
            <a:ext cx="6172200" cy="2053590"/>
          </a:xfrm>
        </p:spPr>
        <p:txBody>
          <a:bodyPr/>
          <a:lstStyle>
            <a:lvl1pPr algn="l">
              <a:buNone/>
              <a:defRPr sz="3000" b="1" cap="small" baseline="0"/>
            </a:lvl1pPr>
          </a:lstStyle>
          <a:p>
            <a:r>
              <a:rPr kumimoji="0" lang="tr-TR" smtClean="0"/>
              <a:t>Asıl başlık stili için tıklatın</a:t>
            </a:r>
            <a:endParaRPr kumimoji="0" lang="en-US"/>
          </a:p>
        </p:txBody>
      </p:sp>
      <p:sp>
        <p:nvSpPr>
          <p:cNvPr id="3" name="Metin Yer Tutucusu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smtClean="0"/>
              <a:t>Asıl metin stillerini düzenlemek için tıklatın</a:t>
            </a:r>
          </a:p>
        </p:txBody>
      </p:sp>
      <p:sp>
        <p:nvSpPr>
          <p:cNvPr id="4" name="Veri Yer Tutucusu 3"/>
          <p:cNvSpPr>
            <a:spLocks noGrp="1"/>
          </p:cNvSpPr>
          <p:nvPr>
            <p:ph type="dt" sz="half" idx="10"/>
          </p:nvPr>
        </p:nvSpPr>
        <p:spPr bwMode="auto">
          <a:xfrm rot="5400000">
            <a:off x="7763256" y="1170432"/>
            <a:ext cx="2286000" cy="381000"/>
          </a:xfrm>
        </p:spPr>
        <p:txBody>
          <a:bodyPr/>
          <a:lstStyle/>
          <a:p>
            <a:fld id="{A23720DD-5B6D-40BF-8493-A6B52D484E6B}" type="datetimeFigureOut">
              <a:rPr lang="tr-TR" smtClean="0"/>
              <a:t>1.10.2023</a:t>
            </a:fld>
            <a:endParaRPr lang="tr-TR"/>
          </a:p>
        </p:txBody>
      </p:sp>
      <p:sp>
        <p:nvSpPr>
          <p:cNvPr id="5" name="Altbilgi Yer Tutucusu 4"/>
          <p:cNvSpPr>
            <a:spLocks noGrp="1"/>
          </p:cNvSpPr>
          <p:nvPr>
            <p:ph type="ftr" sz="quarter" idx="11"/>
          </p:nvPr>
        </p:nvSpPr>
        <p:spPr bwMode="auto">
          <a:xfrm rot="5400000">
            <a:off x="7077456" y="4178808"/>
            <a:ext cx="3657600" cy="384048"/>
          </a:xfrm>
        </p:spPr>
        <p:txBody>
          <a:bodyPr/>
          <a:lstStyle/>
          <a:p>
            <a:endParaRPr lang="tr-TR"/>
          </a:p>
        </p:txBody>
      </p:sp>
      <p:sp>
        <p:nvSpPr>
          <p:cNvPr id="9" name="Dikdörtgen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Dikdörtgen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ikdörtgen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Düz Bağlayıcı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Düz Bağlayıcı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ikdörtgen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Düz Bağlayıcı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ayt Numarası Yer Tutucusu 5"/>
          <p:cNvSpPr>
            <a:spLocks noGrp="1"/>
          </p:cNvSpPr>
          <p:nvPr>
            <p:ph type="sldNum" sz="quarter" idx="12"/>
          </p:nvPr>
        </p:nvSpPr>
        <p:spPr bwMode="auto">
          <a:xfrm>
            <a:off x="1340616" y="4928702"/>
            <a:ext cx="609600" cy="517524"/>
          </a:xfrm>
        </p:spPr>
        <p:txBody>
          <a:bodyPr/>
          <a:lstStyle/>
          <a:p>
            <a:fld id="{F302176B-0E47-46AC-8F43-DAB4B8A37D06}" type="slidenum">
              <a:rPr lang="tr-TR" smtClean="0"/>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smtClean="0"/>
              <a:t>Asıl başlık stili için tıklatın</a:t>
            </a:r>
            <a:endParaRPr kumimoji="0" lang="en-US"/>
          </a:p>
        </p:txBody>
      </p:sp>
      <p:sp>
        <p:nvSpPr>
          <p:cNvPr id="5" name="Veri Yer Tutucusu 4"/>
          <p:cNvSpPr>
            <a:spLocks noGrp="1"/>
          </p:cNvSpPr>
          <p:nvPr>
            <p:ph type="dt" sz="half" idx="10"/>
          </p:nvPr>
        </p:nvSpPr>
        <p:spPr/>
        <p:txBody>
          <a:bodyPr/>
          <a:lstStyle/>
          <a:p>
            <a:fld id="{A23720DD-5B6D-40BF-8493-A6B52D484E6B}" type="datetimeFigureOut">
              <a:rPr lang="tr-TR" smtClean="0"/>
              <a:t>1.10.2023</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F302176B-0E47-46AC-8F43-DAB4B8A37D06}" type="slidenum">
              <a:rPr lang="tr-TR" smtClean="0"/>
              <a:t>‹#›</a:t>
            </a:fld>
            <a:endParaRPr lang="tr-TR"/>
          </a:p>
        </p:txBody>
      </p:sp>
      <p:sp>
        <p:nvSpPr>
          <p:cNvPr id="9" name="İçerik Yer Tutucusu 8"/>
          <p:cNvSpPr>
            <a:spLocks noGrp="1"/>
          </p:cNvSpPr>
          <p:nvPr>
            <p:ph sz="quarter" idx="1"/>
          </p:nvPr>
        </p:nvSpPr>
        <p:spPr>
          <a:xfrm>
            <a:off x="457200" y="1600200"/>
            <a:ext cx="3657600" cy="4572000"/>
          </a:xfrm>
        </p:spPr>
        <p:txBody>
          <a:body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11" name="İçerik Yer Tutucusu 10"/>
          <p:cNvSpPr>
            <a:spLocks noGrp="1"/>
          </p:cNvSpPr>
          <p:nvPr>
            <p:ph sz="quarter" idx="2"/>
          </p:nvPr>
        </p:nvSpPr>
        <p:spPr>
          <a:xfrm>
            <a:off x="4270248" y="1600200"/>
            <a:ext cx="3657600" cy="4572000"/>
          </a:xfrm>
        </p:spPr>
        <p:txBody>
          <a:body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7543800" cy="1143000"/>
          </a:xfrm>
        </p:spPr>
        <p:txBody>
          <a:bodyPr anchor="b"/>
          <a:lstStyle>
            <a:lvl1pPr>
              <a:defRPr/>
            </a:lvl1pPr>
          </a:lstStyle>
          <a:p>
            <a:r>
              <a:rPr kumimoji="0" lang="tr-TR" smtClean="0"/>
              <a:t>Asıl başlık stili için tıklatın</a:t>
            </a:r>
            <a:endParaRPr kumimoji="0" lang="en-US"/>
          </a:p>
        </p:txBody>
      </p:sp>
      <p:sp>
        <p:nvSpPr>
          <p:cNvPr id="7" name="Veri Yer Tutucusu 6"/>
          <p:cNvSpPr>
            <a:spLocks noGrp="1"/>
          </p:cNvSpPr>
          <p:nvPr>
            <p:ph type="dt" sz="half" idx="10"/>
          </p:nvPr>
        </p:nvSpPr>
        <p:spPr/>
        <p:txBody>
          <a:bodyPr/>
          <a:lstStyle/>
          <a:p>
            <a:fld id="{A23720DD-5B6D-40BF-8493-A6B52D484E6B}" type="datetimeFigureOut">
              <a:rPr lang="tr-TR" smtClean="0"/>
              <a:t>1.10.2023</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F302176B-0E47-46AC-8F43-DAB4B8A37D06}" type="slidenum">
              <a:rPr lang="tr-TR" smtClean="0"/>
              <a:t>‹#›</a:t>
            </a:fld>
            <a:endParaRPr lang="tr-TR"/>
          </a:p>
        </p:txBody>
      </p:sp>
      <p:sp>
        <p:nvSpPr>
          <p:cNvPr id="11" name="İçerik Yer Tutucusu 10"/>
          <p:cNvSpPr>
            <a:spLocks noGrp="1"/>
          </p:cNvSpPr>
          <p:nvPr>
            <p:ph sz="quarter" idx="2"/>
          </p:nvPr>
        </p:nvSpPr>
        <p:spPr>
          <a:xfrm>
            <a:off x="457200" y="2362200"/>
            <a:ext cx="3657600" cy="3886200"/>
          </a:xfrm>
        </p:spPr>
        <p:txBody>
          <a:body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13" name="İçerik Yer Tutucusu 12"/>
          <p:cNvSpPr>
            <a:spLocks noGrp="1"/>
          </p:cNvSpPr>
          <p:nvPr>
            <p:ph sz="quarter" idx="4"/>
          </p:nvPr>
        </p:nvSpPr>
        <p:spPr>
          <a:xfrm>
            <a:off x="4371975" y="2362200"/>
            <a:ext cx="3657600" cy="3886200"/>
          </a:xfrm>
        </p:spPr>
        <p:txBody>
          <a:body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12" name="Metin Yer Tutucusu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smtClean="0"/>
              <a:t>Asıl metin stillerini düzenlemek için tıklatın</a:t>
            </a:r>
          </a:p>
        </p:txBody>
      </p:sp>
      <p:sp>
        <p:nvSpPr>
          <p:cNvPr id="14" name="Metin Yer Tutucusu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smtClean="0"/>
              <a:t>Asıl metin stillerini düzenlemek için tıklatın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smtClean="0"/>
              <a:t>Asıl başlık stili için tıklatın</a:t>
            </a:r>
            <a:endParaRPr kumimoji="0" lang="en-US"/>
          </a:p>
        </p:txBody>
      </p:sp>
      <p:sp>
        <p:nvSpPr>
          <p:cNvPr id="6" name="Veri Yer Tutucusu 5"/>
          <p:cNvSpPr>
            <a:spLocks noGrp="1"/>
          </p:cNvSpPr>
          <p:nvPr>
            <p:ph type="dt" sz="half" idx="10"/>
          </p:nvPr>
        </p:nvSpPr>
        <p:spPr/>
        <p:txBody>
          <a:bodyPr rtlCol="0"/>
          <a:lstStyle/>
          <a:p>
            <a:fld id="{A23720DD-5B6D-40BF-8493-A6B52D484E6B}" type="datetimeFigureOut">
              <a:rPr lang="tr-TR" smtClean="0"/>
              <a:t>1.10.2023</a:t>
            </a:fld>
            <a:endParaRPr lang="tr-TR"/>
          </a:p>
        </p:txBody>
      </p:sp>
      <p:sp>
        <p:nvSpPr>
          <p:cNvPr id="7" name="Slayt Numarası Yer Tutucusu 6"/>
          <p:cNvSpPr>
            <a:spLocks noGrp="1"/>
          </p:cNvSpPr>
          <p:nvPr>
            <p:ph type="sldNum" sz="quarter" idx="11"/>
          </p:nvPr>
        </p:nvSpPr>
        <p:spPr/>
        <p:txBody>
          <a:bodyPr rtlCol="0"/>
          <a:lstStyle/>
          <a:p>
            <a:fld id="{F302176B-0E47-46AC-8F43-DAB4B8A37D06}" type="slidenum">
              <a:rPr lang="tr-TR" smtClean="0"/>
              <a:t>‹#›</a:t>
            </a:fld>
            <a:endParaRPr lang="tr-TR"/>
          </a:p>
        </p:txBody>
      </p:sp>
      <p:sp>
        <p:nvSpPr>
          <p:cNvPr id="8" name="Altbilgi Yer Tutucusu 7"/>
          <p:cNvSpPr>
            <a:spLocks noGrp="1"/>
          </p:cNvSpPr>
          <p:nvPr>
            <p:ph type="ftr" sz="quarter" idx="12"/>
          </p:nvPr>
        </p:nvSpPr>
        <p:spPr/>
        <p:txBody>
          <a:bodyPr rtlCol="0"/>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A23720DD-5B6D-40BF-8493-A6B52D484E6B}" type="datetimeFigureOut">
              <a:rPr lang="tr-TR" smtClean="0"/>
              <a:t>1.10.2023</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Düz Bağlayıcı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Başlık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smtClean="0"/>
              <a:t>Asıl başlık stili için tıklatın</a:t>
            </a:r>
            <a:endParaRPr kumimoji="0" lang="en-US"/>
          </a:p>
        </p:txBody>
      </p:sp>
      <p:sp>
        <p:nvSpPr>
          <p:cNvPr id="3" name="Metin Yer Tutucusu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smtClean="0"/>
              <a:t>Asıl metin stillerini düzenlemek için tıklatın</a:t>
            </a:r>
          </a:p>
        </p:txBody>
      </p:sp>
      <p:sp>
        <p:nvSpPr>
          <p:cNvPr id="8" name="Düz Bağlayıcı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Düz Bağlayıcı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Düz Bağlayıcı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Dikdörtgen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İçerik Yer Tutucusu 17"/>
          <p:cNvSpPr>
            <a:spLocks noGrp="1"/>
          </p:cNvSpPr>
          <p:nvPr>
            <p:ph sz="quarter" idx="1"/>
          </p:nvPr>
        </p:nvSpPr>
        <p:spPr>
          <a:xfrm>
            <a:off x="304800" y="274320"/>
            <a:ext cx="5638800" cy="6327648"/>
          </a:xfrm>
        </p:spPr>
        <p:txBody>
          <a:body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21" name="Veri Yer Tutucusu 20"/>
          <p:cNvSpPr>
            <a:spLocks noGrp="1"/>
          </p:cNvSpPr>
          <p:nvPr>
            <p:ph type="dt" sz="half" idx="14"/>
          </p:nvPr>
        </p:nvSpPr>
        <p:spPr/>
        <p:txBody>
          <a:bodyPr rtlCol="0"/>
          <a:lstStyle/>
          <a:p>
            <a:fld id="{A23720DD-5B6D-40BF-8493-A6B52D484E6B}" type="datetimeFigureOut">
              <a:rPr lang="tr-TR" smtClean="0"/>
              <a:t>1.10.2023</a:t>
            </a:fld>
            <a:endParaRPr lang="tr-TR"/>
          </a:p>
        </p:txBody>
      </p:sp>
      <p:sp>
        <p:nvSpPr>
          <p:cNvPr id="22" name="Slayt Numarası Yer Tutucusu 21"/>
          <p:cNvSpPr>
            <a:spLocks noGrp="1"/>
          </p:cNvSpPr>
          <p:nvPr>
            <p:ph type="sldNum" sz="quarter" idx="15"/>
          </p:nvPr>
        </p:nvSpPr>
        <p:spPr/>
        <p:txBody>
          <a:bodyPr rtlCol="0"/>
          <a:lstStyle/>
          <a:p>
            <a:fld id="{F302176B-0E47-46AC-8F43-DAB4B8A37D06}" type="slidenum">
              <a:rPr lang="tr-TR" smtClean="0"/>
              <a:t>‹#›</a:t>
            </a:fld>
            <a:endParaRPr lang="tr-TR"/>
          </a:p>
        </p:txBody>
      </p:sp>
      <p:sp>
        <p:nvSpPr>
          <p:cNvPr id="23" name="Altbilgi Yer Tutucusu 22"/>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Düz Bağlayıcı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Başlık 1"/>
          <p:cNvSpPr>
            <a:spLocks noGrp="1"/>
          </p:cNvSpPr>
          <p:nvPr>
            <p:ph type="title"/>
          </p:nvPr>
        </p:nvSpPr>
        <p:spPr>
          <a:xfrm rot="5400000">
            <a:off x="3350133" y="3200400"/>
            <a:ext cx="6309360" cy="457200"/>
          </a:xfrm>
        </p:spPr>
        <p:txBody>
          <a:bodyPr anchor="b"/>
          <a:lstStyle>
            <a:lvl1pPr algn="l">
              <a:buNone/>
              <a:defRPr sz="2000" b="1"/>
            </a:lvl1pPr>
          </a:lstStyle>
          <a:p>
            <a:r>
              <a:rPr kumimoji="0" lang="tr-TR" smtClean="0"/>
              <a:t>Asıl başlık stili için tıklatın</a:t>
            </a:r>
            <a:endParaRPr kumimoji="0" lang="en-US"/>
          </a:p>
        </p:txBody>
      </p:sp>
      <p:sp>
        <p:nvSpPr>
          <p:cNvPr id="3" name="Resim Yer Tutucusu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smtClean="0"/>
              <a:t>Resim eklemek için simgeyi tıklatın</a:t>
            </a:r>
            <a:endParaRPr kumimoji="0" lang="en-US" dirty="0"/>
          </a:p>
        </p:txBody>
      </p:sp>
      <p:sp>
        <p:nvSpPr>
          <p:cNvPr id="4" name="Metin Yer Tutucusu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smtClean="0"/>
              <a:t>Asıl metin stillerini düzenlemek için tıklatın</a:t>
            </a:r>
          </a:p>
        </p:txBody>
      </p:sp>
      <p:sp>
        <p:nvSpPr>
          <p:cNvPr id="10" name="Düz Bağlayıcı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Dikdörtgen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üz Bağlayıcı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Düz Bağlayıcı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Düz Bağlayıcı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Veri Yer Tutucusu 16"/>
          <p:cNvSpPr>
            <a:spLocks noGrp="1"/>
          </p:cNvSpPr>
          <p:nvPr>
            <p:ph type="dt" sz="half" idx="10"/>
          </p:nvPr>
        </p:nvSpPr>
        <p:spPr/>
        <p:txBody>
          <a:bodyPr rtlCol="0"/>
          <a:lstStyle/>
          <a:p>
            <a:fld id="{A23720DD-5B6D-40BF-8493-A6B52D484E6B}" type="datetimeFigureOut">
              <a:rPr lang="tr-TR" smtClean="0"/>
              <a:t>1.10.2023</a:t>
            </a:fld>
            <a:endParaRPr lang="tr-TR"/>
          </a:p>
        </p:txBody>
      </p:sp>
      <p:sp>
        <p:nvSpPr>
          <p:cNvPr id="18" name="Slayt Numarası Yer Tutucusu 17"/>
          <p:cNvSpPr>
            <a:spLocks noGrp="1"/>
          </p:cNvSpPr>
          <p:nvPr>
            <p:ph type="sldNum" sz="quarter" idx="11"/>
          </p:nvPr>
        </p:nvSpPr>
        <p:spPr/>
        <p:txBody>
          <a:bodyPr rtlCol="0"/>
          <a:lstStyle/>
          <a:p>
            <a:fld id="{F302176B-0E47-46AC-8F43-DAB4B8A37D06}" type="slidenum">
              <a:rPr lang="tr-TR" smtClean="0"/>
              <a:t>‹#›</a:t>
            </a:fld>
            <a:endParaRPr lang="tr-TR"/>
          </a:p>
        </p:txBody>
      </p:sp>
      <p:sp>
        <p:nvSpPr>
          <p:cNvPr id="21" name="Altbilgi Yer Tutucusu 20"/>
          <p:cNvSpPr>
            <a:spLocks noGrp="1"/>
          </p:cNvSpPr>
          <p:nvPr>
            <p:ph type="ftr" sz="quarter" idx="12"/>
          </p:nvPr>
        </p:nvSpPr>
        <p:spPr/>
        <p:txBody>
          <a:bodyPr rtlCol="0"/>
          <a:lstStyle/>
          <a:p>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smtClean="0"/>
              <a:t>Asıl başlık stili için tıklatın</a:t>
            </a:r>
            <a:endParaRPr kumimoji="0" lang="en-US"/>
          </a:p>
        </p:txBody>
      </p:sp>
      <p:sp>
        <p:nvSpPr>
          <p:cNvPr id="3" name="Dikey Metin Yer Tutucusu 2"/>
          <p:cNvSpPr>
            <a:spLocks noGrp="1"/>
          </p:cNvSpPr>
          <p:nvPr>
            <p:ph type="body" orient="vert" idx="1"/>
          </p:nvPr>
        </p:nvSpPr>
        <p:spPr/>
        <p:txBody>
          <a:bodyPr vert="eaVer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1.10.2023</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9"/>
            <a:ext cx="1676400" cy="5851525"/>
          </a:xfrm>
        </p:spPr>
        <p:txBody>
          <a:bodyPr vert="eaVert"/>
          <a:lstStyle/>
          <a:p>
            <a:r>
              <a:rPr kumimoji="0" lang="tr-TR" smtClean="0"/>
              <a:t>Asıl başlık stili için tıklatın</a:t>
            </a:r>
            <a:endParaRPr kumimoji="0" lang="en-US"/>
          </a:p>
        </p:txBody>
      </p:sp>
      <p:sp>
        <p:nvSpPr>
          <p:cNvPr id="3" name="Dikey Metin Yer Tutucusu 2"/>
          <p:cNvSpPr>
            <a:spLocks noGrp="1"/>
          </p:cNvSpPr>
          <p:nvPr>
            <p:ph type="body" orient="vert" idx="1"/>
          </p:nvPr>
        </p:nvSpPr>
        <p:spPr>
          <a:xfrm>
            <a:off x="457200" y="274638"/>
            <a:ext cx="6019800" cy="5851525"/>
          </a:xfrm>
        </p:spPr>
        <p:txBody>
          <a:bodyPr vert="eaVer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1.10.2023</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Düz Bağlayıcı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Başlık Yer Tutucusu 21"/>
          <p:cNvSpPr>
            <a:spLocks noGrp="1"/>
          </p:cNvSpPr>
          <p:nvPr>
            <p:ph type="title"/>
          </p:nvPr>
        </p:nvSpPr>
        <p:spPr>
          <a:xfrm>
            <a:off x="457200" y="274638"/>
            <a:ext cx="7467600" cy="1143000"/>
          </a:xfrm>
          <a:prstGeom prst="rect">
            <a:avLst/>
          </a:prstGeom>
        </p:spPr>
        <p:txBody>
          <a:bodyPr vert="horz" anchor="b">
            <a:normAutofit/>
          </a:bodyPr>
          <a:lstStyle/>
          <a:p>
            <a:r>
              <a:rPr kumimoji="0" lang="tr-TR" smtClean="0"/>
              <a:t>Asıl başlık stili için tıklatın</a:t>
            </a:r>
            <a:endParaRPr kumimoji="0" lang="en-US"/>
          </a:p>
        </p:txBody>
      </p:sp>
      <p:sp>
        <p:nvSpPr>
          <p:cNvPr id="13" name="Metin Yer Tutucusu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smtClean="0"/>
              <a:t>Asıl metin stillerini düzenlemek için tıklatın</a:t>
            </a:r>
          </a:p>
          <a:p>
            <a:pPr lvl="1" eaLnBrk="1" latinLnBrk="0" hangingPunct="1"/>
            <a:r>
              <a:rPr kumimoji="0" lang="tr-TR" smtClean="0"/>
              <a:t>İkinci düzey</a:t>
            </a:r>
          </a:p>
          <a:p>
            <a:pPr lvl="2" eaLnBrk="1" latinLnBrk="0" hangingPunct="1"/>
            <a:r>
              <a:rPr kumimoji="0" lang="tr-TR" smtClean="0"/>
              <a:t>Üçüncü düzey</a:t>
            </a:r>
          </a:p>
          <a:p>
            <a:pPr lvl="3" eaLnBrk="1" latinLnBrk="0" hangingPunct="1"/>
            <a:r>
              <a:rPr kumimoji="0" lang="tr-TR" smtClean="0"/>
              <a:t>Dördüncü düzey</a:t>
            </a:r>
          </a:p>
          <a:p>
            <a:pPr lvl="4" eaLnBrk="1" latinLnBrk="0" hangingPunct="1"/>
            <a:r>
              <a:rPr kumimoji="0" lang="tr-TR" smtClean="0"/>
              <a:t>Beşinci düzey</a:t>
            </a:r>
            <a:endParaRPr kumimoji="0" lang="en-US"/>
          </a:p>
        </p:txBody>
      </p:sp>
      <p:sp>
        <p:nvSpPr>
          <p:cNvPr id="14" name="Veri Yer Tutucusu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23720DD-5B6D-40BF-8493-A6B52D484E6B}" type="datetimeFigureOut">
              <a:rPr lang="tr-TR" smtClean="0"/>
              <a:t>1.10.2023</a:t>
            </a:fld>
            <a:endParaRPr lang="tr-TR"/>
          </a:p>
        </p:txBody>
      </p:sp>
      <p:sp>
        <p:nvSpPr>
          <p:cNvPr id="3" name="Altbilgi Yer Tutucusu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Düz Bağlayıcı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Düz Bağlayıcı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Dikdörtgen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ayt Numarası Yer Tutucusu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bilgem.tubitak.gov.tr/yze/" TargetMode="External"/><Relationship Id="rId2" Type="http://schemas.openxmlformats.org/officeDocument/2006/relationships/hyperlink" Target="https://cbddo.gov.tr/uyz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2411760" y="2564904"/>
            <a:ext cx="6172200" cy="1894362"/>
          </a:xfrm>
        </p:spPr>
        <p:txBody>
          <a:bodyPr/>
          <a:lstStyle/>
          <a:p>
            <a:r>
              <a:rPr lang="tr-TR" sz="2800" dirty="0" smtClean="0"/>
              <a:t>Yapay zeka</a:t>
            </a:r>
            <a:endParaRPr lang="tr-TR" dirty="0"/>
          </a:p>
        </p:txBody>
      </p:sp>
      <p:sp>
        <p:nvSpPr>
          <p:cNvPr id="3" name="Alt Başlık 2"/>
          <p:cNvSpPr>
            <a:spLocks noGrp="1"/>
          </p:cNvSpPr>
          <p:nvPr>
            <p:ph type="subTitle" idx="1"/>
          </p:nvPr>
        </p:nvSpPr>
        <p:spPr/>
        <p:txBody>
          <a:bodyPr>
            <a:normAutofit fontScale="85000" lnSpcReduction="20000"/>
          </a:bodyPr>
          <a:lstStyle/>
          <a:p>
            <a:pPr algn="ctr"/>
            <a:r>
              <a:rPr lang="tr-TR" b="0" dirty="0"/>
              <a:t>Prof. Dr. Tuncay YİĞİT</a:t>
            </a:r>
          </a:p>
          <a:p>
            <a:pPr algn="ctr"/>
            <a:r>
              <a:rPr lang="tr-TR" b="0" dirty="0"/>
              <a:t>Süleyman Demirel Üniversitesi</a:t>
            </a:r>
          </a:p>
          <a:p>
            <a:pPr algn="ctr"/>
            <a:r>
              <a:rPr lang="tr-TR" b="0" dirty="0"/>
              <a:t>Bilgisayar Mühendisliği </a:t>
            </a:r>
            <a:r>
              <a:rPr lang="tr-TR" b="0" dirty="0" smtClean="0"/>
              <a:t>Bölümü</a:t>
            </a:r>
          </a:p>
          <a:p>
            <a:pPr algn="ctr"/>
            <a:endParaRPr lang="tr-TR" b="0" dirty="0"/>
          </a:p>
          <a:p>
            <a:pPr algn="ctr"/>
            <a:r>
              <a:rPr lang="tr-TR" b="0" dirty="0" smtClean="0"/>
              <a:t>ISPARTA 2023</a:t>
            </a:r>
            <a:endParaRPr lang="tr-TR" b="0" dirty="0"/>
          </a:p>
        </p:txBody>
      </p:sp>
    </p:spTree>
    <p:extLst>
      <p:ext uri="{BB962C8B-B14F-4D97-AF65-F5344CB8AC3E}">
        <p14:creationId xmlns:p14="http://schemas.microsoft.com/office/powerpoint/2010/main" val="192741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YAPAY ZEKA NEDİR?</a:t>
            </a:r>
            <a:endParaRPr lang="tr-TR" dirty="0">
              <a:ea typeface="ＭＳ Ｐゴシック" pitchFamily="34" charset="-128"/>
            </a:endParaRPr>
          </a:p>
        </p:txBody>
      </p:sp>
      <p:sp>
        <p:nvSpPr>
          <p:cNvPr id="3" name="İçerik Yer Tutucusu 2"/>
          <p:cNvSpPr>
            <a:spLocks noGrp="1"/>
          </p:cNvSpPr>
          <p:nvPr>
            <p:ph sz="quarter" idx="1"/>
          </p:nvPr>
        </p:nvSpPr>
        <p:spPr/>
        <p:txBody>
          <a:bodyPr>
            <a:normAutofit fontScale="92500"/>
          </a:bodyPr>
          <a:lstStyle/>
          <a:p>
            <a:r>
              <a:rPr lang="tr-TR" dirty="0" smtClean="0"/>
              <a:t>Yapay </a:t>
            </a:r>
            <a:r>
              <a:rPr lang="tr-TR" dirty="0"/>
              <a:t>zeka, insanın düşünme yapısını anlamak ve bunun benzerini ortaya çıkaracak bilgisayar işlemlerini geliştirmeye çalışmak olarak tanımlanır. </a:t>
            </a:r>
            <a:endParaRPr lang="tr-TR" dirty="0" smtClean="0"/>
          </a:p>
          <a:p>
            <a:r>
              <a:rPr lang="tr-TR" dirty="0" smtClean="0"/>
              <a:t>Yani </a:t>
            </a:r>
            <a:r>
              <a:rPr lang="tr-TR" dirty="0"/>
              <a:t>programlanmış bir bilgisayarın düşünme girişimidir. </a:t>
            </a:r>
            <a:endParaRPr lang="tr-TR" dirty="0" smtClean="0"/>
          </a:p>
          <a:p>
            <a:r>
              <a:rPr lang="tr-TR" dirty="0" smtClean="0"/>
              <a:t>Daha </a:t>
            </a:r>
            <a:r>
              <a:rPr lang="tr-TR" dirty="0"/>
              <a:t>geniş bir tanıma göre ise, yapay zeka, bilgi edinme, algılama, görme, düşünme ve karar verme gibi insan zekasına özgü kapasitelerle donatılmış bilgisayarlardır. </a:t>
            </a:r>
            <a:endParaRPr lang="tr-TR" dirty="0" smtClean="0"/>
          </a:p>
          <a:p>
            <a:r>
              <a:rPr lang="tr-TR" dirty="0" smtClean="0"/>
              <a:t>Bu </a:t>
            </a:r>
            <a:r>
              <a:rPr lang="tr-TR" dirty="0"/>
              <a:t>yönelim, insanın evreni ve doğayı anlama çabasında kendisine yardımcı olabilecek belki de kendisinden daha zeki, insan ötesi varlıklar yaratma düşünün bir ürünüdür. </a:t>
            </a:r>
            <a:endParaRPr lang="en-US" dirty="0">
              <a:ea typeface="ＭＳ Ｐゴシック" pitchFamily="34" charset="-128"/>
            </a:endParaRPr>
          </a:p>
          <a:p>
            <a:endParaRPr lang="tr-TR" dirty="0"/>
          </a:p>
        </p:txBody>
      </p:sp>
    </p:spTree>
    <p:extLst>
      <p:ext uri="{BB962C8B-B14F-4D97-AF65-F5344CB8AC3E}">
        <p14:creationId xmlns:p14="http://schemas.microsoft.com/office/powerpoint/2010/main" val="2783545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YAPAY ZEKA NIN TARİHÇESİ</a:t>
            </a:r>
            <a:endParaRPr lang="tr-TR" dirty="0">
              <a:ea typeface="ＭＳ Ｐゴシック" pitchFamily="34" charset="-128"/>
            </a:endParaRPr>
          </a:p>
        </p:txBody>
      </p:sp>
      <p:sp>
        <p:nvSpPr>
          <p:cNvPr id="3" name="İçerik Yer Tutucusu 2"/>
          <p:cNvSpPr>
            <a:spLocks noGrp="1"/>
          </p:cNvSpPr>
          <p:nvPr>
            <p:ph sz="quarter" idx="1"/>
          </p:nvPr>
        </p:nvSpPr>
        <p:spPr/>
        <p:txBody>
          <a:bodyPr>
            <a:normAutofit/>
          </a:bodyPr>
          <a:lstStyle/>
          <a:p>
            <a:r>
              <a:rPr lang="tr-TR" dirty="0"/>
              <a:t>Yapay Zeka kavramının geçmişi modern bilgisayar bilimi kadar eskidir. </a:t>
            </a:r>
            <a:endParaRPr lang="tr-TR" dirty="0" smtClean="0"/>
          </a:p>
          <a:p>
            <a:endParaRPr lang="tr-TR" dirty="0" smtClean="0"/>
          </a:p>
          <a:p>
            <a:r>
              <a:rPr lang="tr-TR" dirty="0" smtClean="0"/>
              <a:t>Fikir </a:t>
            </a:r>
            <a:r>
              <a:rPr lang="tr-TR" dirty="0"/>
              <a:t>babası, "Makineler düşünebilir mi?" sorunsalını ortaya atarak Makine Zekasını tartışmaya açan Alan </a:t>
            </a:r>
            <a:r>
              <a:rPr lang="tr-TR" dirty="0" err="1"/>
              <a:t>Mathison</a:t>
            </a:r>
            <a:r>
              <a:rPr lang="tr-TR" dirty="0"/>
              <a:t> Turing'dir. </a:t>
            </a:r>
            <a:endParaRPr lang="tr-TR" dirty="0" smtClean="0"/>
          </a:p>
          <a:p>
            <a:endParaRPr lang="tr-TR" dirty="0" smtClean="0"/>
          </a:p>
          <a:p>
            <a:r>
              <a:rPr lang="tr-TR" dirty="0" smtClean="0"/>
              <a:t>1943 </a:t>
            </a:r>
            <a:r>
              <a:rPr lang="tr-TR" dirty="0"/>
              <a:t>te İkinci dünya savaşı sırasında Kripto Analizi gereksinimleri ile üretilen Elektro-Mekanik cihazlar sayesinde Bilgisayar Bilimi ve Yapay Zeka kavramları doğmuştur</a:t>
            </a:r>
            <a:r>
              <a:rPr lang="tr-TR" dirty="0" smtClean="0"/>
              <a:t>.</a:t>
            </a:r>
          </a:p>
          <a:p>
            <a:endParaRPr lang="tr-TR" dirty="0"/>
          </a:p>
        </p:txBody>
      </p:sp>
    </p:spTree>
    <p:extLst>
      <p:ext uri="{BB962C8B-B14F-4D97-AF65-F5344CB8AC3E}">
        <p14:creationId xmlns:p14="http://schemas.microsoft.com/office/powerpoint/2010/main" val="107630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YAPAY ZEKA NIN TARİHÇESİ</a:t>
            </a:r>
            <a:endParaRPr lang="tr-TR" dirty="0">
              <a:ea typeface="ＭＳ Ｐゴシック" pitchFamily="34" charset="-128"/>
            </a:endParaRPr>
          </a:p>
        </p:txBody>
      </p:sp>
      <p:sp>
        <p:nvSpPr>
          <p:cNvPr id="3" name="İçerik Yer Tutucusu 2"/>
          <p:cNvSpPr>
            <a:spLocks noGrp="1"/>
          </p:cNvSpPr>
          <p:nvPr>
            <p:ph sz="quarter" idx="1"/>
          </p:nvPr>
        </p:nvSpPr>
        <p:spPr/>
        <p:txBody>
          <a:bodyPr>
            <a:normAutofit lnSpcReduction="10000"/>
          </a:bodyPr>
          <a:lstStyle/>
          <a:p>
            <a:r>
              <a:rPr lang="tr-TR" dirty="0"/>
              <a:t>Alan Turing, </a:t>
            </a:r>
            <a:r>
              <a:rPr lang="tr-TR" dirty="0" err="1"/>
              <a:t>Nazi'lerin</a:t>
            </a:r>
            <a:r>
              <a:rPr lang="tr-TR" dirty="0"/>
              <a:t> </a:t>
            </a:r>
            <a:r>
              <a:rPr lang="tr-TR" dirty="0" err="1"/>
              <a:t>Enigma</a:t>
            </a:r>
            <a:r>
              <a:rPr lang="tr-TR" dirty="0"/>
              <a:t> makinesinin şifre algoritmasını çözmeye çalışan matematikçilerin en ünlenmiş olanlarından biriydi. </a:t>
            </a:r>
            <a:endParaRPr lang="tr-TR" dirty="0" smtClean="0"/>
          </a:p>
          <a:p>
            <a:r>
              <a:rPr lang="tr-TR" dirty="0" smtClean="0"/>
              <a:t>İngiltere</a:t>
            </a:r>
            <a:r>
              <a:rPr lang="tr-TR" dirty="0"/>
              <a:t>, </a:t>
            </a:r>
            <a:r>
              <a:rPr lang="tr-TR" dirty="0" err="1"/>
              <a:t>Bletchley</a:t>
            </a:r>
            <a:r>
              <a:rPr lang="tr-TR" dirty="0"/>
              <a:t> Park 'ta şifre çözme amacı ile başlatılan çalışmalar, Turing 'in prensiplerini oluşturduğu bilgisayar prototipleri olan </a:t>
            </a:r>
            <a:r>
              <a:rPr lang="tr-TR" dirty="0" err="1"/>
              <a:t>Heath</a:t>
            </a:r>
            <a:r>
              <a:rPr lang="tr-TR" dirty="0"/>
              <a:t> </a:t>
            </a:r>
            <a:r>
              <a:rPr lang="tr-TR" dirty="0" err="1"/>
              <a:t>Robinson</a:t>
            </a:r>
            <a:r>
              <a:rPr lang="tr-TR" dirty="0"/>
              <a:t>, bombe ve </a:t>
            </a:r>
            <a:r>
              <a:rPr lang="tr-TR" dirty="0" err="1"/>
              <a:t>Colossus</a:t>
            </a:r>
            <a:r>
              <a:rPr lang="tr-TR" dirty="0"/>
              <a:t> bilgisayarları, </a:t>
            </a:r>
            <a:r>
              <a:rPr lang="tr-TR" dirty="0" err="1"/>
              <a:t>Boole</a:t>
            </a:r>
            <a:r>
              <a:rPr lang="tr-TR" dirty="0"/>
              <a:t> </a:t>
            </a:r>
            <a:r>
              <a:rPr lang="tr-TR" dirty="0" err="1"/>
              <a:t>cebirine</a:t>
            </a:r>
            <a:r>
              <a:rPr lang="tr-TR" dirty="0"/>
              <a:t> dayanan veri işleme mantığı ile Makine Zekası kavramının oluşmasına sebep olmuştu</a:t>
            </a:r>
            <a:r>
              <a:rPr lang="tr-TR" dirty="0" smtClean="0"/>
              <a:t>.</a:t>
            </a:r>
          </a:p>
          <a:p>
            <a:r>
              <a:rPr lang="tr-TR" dirty="0" smtClean="0"/>
              <a:t>Modern </a:t>
            </a:r>
            <a:r>
              <a:rPr lang="tr-TR" dirty="0"/>
              <a:t>bilgisayarın atası olan bu makineler ve programlama mantıkları aslında insan zekasından ilham almışlardı. </a:t>
            </a:r>
            <a:endParaRPr lang="tr-TR" dirty="0"/>
          </a:p>
        </p:txBody>
      </p:sp>
    </p:spTree>
    <p:extLst>
      <p:ext uri="{BB962C8B-B14F-4D97-AF65-F5344CB8AC3E}">
        <p14:creationId xmlns:p14="http://schemas.microsoft.com/office/powerpoint/2010/main" val="1304573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YAPAY ZEKA NIN TARİHÇESİ</a:t>
            </a:r>
            <a:endParaRPr lang="tr-TR" dirty="0">
              <a:ea typeface="ＭＳ Ｐゴシック" pitchFamily="34" charset="-128"/>
            </a:endParaRPr>
          </a:p>
        </p:txBody>
      </p:sp>
      <p:sp>
        <p:nvSpPr>
          <p:cNvPr id="3" name="İçerik Yer Tutucusu 2"/>
          <p:cNvSpPr>
            <a:spLocks noGrp="1"/>
          </p:cNvSpPr>
          <p:nvPr>
            <p:ph sz="quarter" idx="1"/>
          </p:nvPr>
        </p:nvSpPr>
        <p:spPr/>
        <p:txBody>
          <a:bodyPr>
            <a:normAutofit/>
          </a:bodyPr>
          <a:lstStyle/>
          <a:p>
            <a:r>
              <a:rPr lang="tr-TR" dirty="0"/>
              <a:t>Yapay Zeka kavramının geçmişi modern bilgisayar bilimi kadar eskidir. </a:t>
            </a:r>
            <a:endParaRPr lang="tr-TR" dirty="0" smtClean="0"/>
          </a:p>
          <a:p>
            <a:endParaRPr lang="tr-TR" dirty="0" smtClean="0"/>
          </a:p>
          <a:p>
            <a:r>
              <a:rPr lang="tr-TR" dirty="0" smtClean="0"/>
              <a:t>Fikir </a:t>
            </a:r>
            <a:r>
              <a:rPr lang="tr-TR" dirty="0"/>
              <a:t>babası, "Makineler düşünebilir mi?" sorunsalını ortaya atarak Makine Zekasını tartışmaya açan Alan </a:t>
            </a:r>
            <a:r>
              <a:rPr lang="tr-TR" dirty="0" err="1"/>
              <a:t>Mathison</a:t>
            </a:r>
            <a:r>
              <a:rPr lang="tr-TR" dirty="0"/>
              <a:t> Turing'dir. </a:t>
            </a:r>
            <a:endParaRPr lang="tr-TR" dirty="0" smtClean="0"/>
          </a:p>
          <a:p>
            <a:endParaRPr lang="tr-TR" dirty="0" smtClean="0"/>
          </a:p>
          <a:p>
            <a:r>
              <a:rPr lang="tr-TR" dirty="0" smtClean="0"/>
              <a:t>1943 </a:t>
            </a:r>
            <a:r>
              <a:rPr lang="tr-TR" dirty="0"/>
              <a:t>te İkinci dünya savaşı sırasında Kripto Analizi gereksinimleri ile üretilen Elektro-Mekanik cihazlar sayesinde Bilgisayar Bilimi ve Yapay Zeka kavramları doğmuştur</a:t>
            </a:r>
            <a:r>
              <a:rPr lang="tr-TR" dirty="0" smtClean="0"/>
              <a:t>.</a:t>
            </a:r>
          </a:p>
          <a:p>
            <a:endParaRPr lang="tr-TR" dirty="0"/>
          </a:p>
        </p:txBody>
      </p:sp>
    </p:spTree>
    <p:extLst>
      <p:ext uri="{BB962C8B-B14F-4D97-AF65-F5344CB8AC3E}">
        <p14:creationId xmlns:p14="http://schemas.microsoft.com/office/powerpoint/2010/main" val="26908603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TÜRKİYEDE YAPAY ZEKA</a:t>
            </a:r>
            <a:endParaRPr lang="tr-TR" dirty="0">
              <a:ea typeface="ＭＳ Ｐゴシック" pitchFamily="34" charset="-128"/>
            </a:endParaRPr>
          </a:p>
        </p:txBody>
      </p:sp>
      <p:sp>
        <p:nvSpPr>
          <p:cNvPr id="3" name="İçerik Yer Tutucusu 2"/>
          <p:cNvSpPr>
            <a:spLocks noGrp="1"/>
          </p:cNvSpPr>
          <p:nvPr>
            <p:ph sz="quarter" idx="1"/>
          </p:nvPr>
        </p:nvSpPr>
        <p:spPr/>
        <p:txBody>
          <a:bodyPr>
            <a:normAutofit fontScale="92500" lnSpcReduction="10000"/>
          </a:bodyPr>
          <a:lstStyle/>
          <a:p>
            <a:r>
              <a:rPr lang="tr-TR" dirty="0"/>
              <a:t>Türkiye'de de </a:t>
            </a:r>
            <a:r>
              <a:rPr lang="tr-TR" dirty="0" smtClean="0"/>
              <a:t>Yapay Zeka ve Makine Öğrenme  </a:t>
            </a:r>
            <a:r>
              <a:rPr lang="tr-TR" dirty="0"/>
              <a:t>çalışmaları </a:t>
            </a:r>
            <a:r>
              <a:rPr lang="tr-TR" dirty="0" smtClean="0"/>
              <a:t>ilk olarak üniversiteler bünyesinde 1980 den bu güne çalışılmaktadır. </a:t>
            </a:r>
          </a:p>
          <a:p>
            <a:r>
              <a:rPr lang="tr-TR" dirty="0" smtClean="0"/>
              <a:t>Bu </a:t>
            </a:r>
            <a:r>
              <a:rPr lang="tr-TR" dirty="0"/>
              <a:t>çalışmalar Doğal Dil işleme, Uzman </a:t>
            </a:r>
            <a:r>
              <a:rPr lang="tr-TR" dirty="0" smtClean="0"/>
              <a:t>sistemler, Bulanık Mantık, Yapay </a:t>
            </a:r>
            <a:r>
              <a:rPr lang="tr-TR" dirty="0"/>
              <a:t>Sinir Ağları </a:t>
            </a:r>
            <a:r>
              <a:rPr lang="tr-TR" dirty="0" smtClean="0"/>
              <a:t>Genetik algoritmalar, gibi alanlarında </a:t>
            </a:r>
            <a:r>
              <a:rPr lang="tr-TR" dirty="0"/>
              <a:t>Üniversiteler bünyesinde </a:t>
            </a:r>
            <a:r>
              <a:rPr lang="tr-TR" dirty="0" smtClean="0"/>
              <a:t>çeşitli araştırma merkezlerinde sürdürülmektedir.</a:t>
            </a:r>
          </a:p>
          <a:p>
            <a:r>
              <a:rPr lang="tr-TR" dirty="0" smtClean="0"/>
              <a:t>Ayrıca Yapay Zeka Mühendisliği Bölümleri kurulduğunu görüyoruz.</a:t>
            </a:r>
          </a:p>
          <a:p>
            <a:r>
              <a:rPr lang="tr-TR" dirty="0" smtClean="0"/>
              <a:t>2019 yılında yapılan </a:t>
            </a:r>
            <a:r>
              <a:rPr lang="tr-TR" dirty="0" err="1" smtClean="0"/>
              <a:t>çalıştay</a:t>
            </a:r>
            <a:r>
              <a:rPr lang="tr-TR" dirty="0" smtClean="0"/>
              <a:t> ile </a:t>
            </a:r>
            <a:r>
              <a:rPr lang="tr-TR" dirty="0" smtClean="0">
                <a:hlinkClick r:id="rId2"/>
              </a:rPr>
              <a:t>«</a:t>
            </a:r>
            <a:r>
              <a:rPr lang="es-ES" b="1" dirty="0">
                <a:hlinkClick r:id="rId2"/>
              </a:rPr>
              <a:t>Ulusal Yapay Zekâ Stratejisi </a:t>
            </a:r>
            <a:r>
              <a:rPr lang="es-ES" b="1" dirty="0" smtClean="0">
                <a:hlinkClick r:id="rId2"/>
              </a:rPr>
              <a:t>2021-2025</a:t>
            </a:r>
            <a:r>
              <a:rPr lang="tr-TR" b="1" dirty="0" smtClean="0">
                <a:hlinkClick r:id="rId2"/>
              </a:rPr>
              <a:t>»</a:t>
            </a:r>
            <a:r>
              <a:rPr lang="tr-TR" dirty="0" smtClean="0"/>
              <a:t>yazılmış ve </a:t>
            </a:r>
            <a:r>
              <a:rPr lang="tr-TR" u="sng" dirty="0" smtClean="0">
                <a:hlinkClick r:id="rId3"/>
              </a:rPr>
              <a:t>TÜBİTAK BİLGEM</a:t>
            </a:r>
            <a:r>
              <a:rPr lang="tr-TR" u="sng" dirty="0"/>
              <a:t> </a:t>
            </a:r>
            <a:r>
              <a:rPr lang="tr-TR" u="sng" dirty="0" smtClean="0"/>
              <a:t>bünyesinde </a:t>
            </a:r>
            <a:r>
              <a:rPr lang="tr-TR" dirty="0" smtClean="0"/>
              <a:t>Yapay Zeka Enstitüsü kurulmuştur.</a:t>
            </a:r>
            <a:endParaRPr lang="tr-TR" dirty="0"/>
          </a:p>
        </p:txBody>
      </p:sp>
    </p:spTree>
    <p:extLst>
      <p:ext uri="{BB962C8B-B14F-4D97-AF65-F5344CB8AC3E}">
        <p14:creationId xmlns:p14="http://schemas.microsoft.com/office/powerpoint/2010/main" val="4655226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YAPAY ZEKANIN AMAÇLARI</a:t>
            </a:r>
            <a:endParaRPr lang="tr-TR" dirty="0">
              <a:ea typeface="ＭＳ Ｐゴシック" pitchFamily="34" charset="-128"/>
            </a:endParaRPr>
          </a:p>
        </p:txBody>
      </p:sp>
      <p:sp>
        <p:nvSpPr>
          <p:cNvPr id="3" name="İçerik Yer Tutucusu 2"/>
          <p:cNvSpPr>
            <a:spLocks noGrp="1"/>
          </p:cNvSpPr>
          <p:nvPr>
            <p:ph sz="quarter" idx="1"/>
          </p:nvPr>
        </p:nvSpPr>
        <p:spPr/>
        <p:txBody>
          <a:bodyPr>
            <a:normAutofit/>
          </a:bodyPr>
          <a:lstStyle/>
          <a:p>
            <a:r>
              <a:rPr lang="tr-TR" dirty="0" smtClean="0"/>
              <a:t>1) İnsan </a:t>
            </a:r>
            <a:r>
              <a:rPr lang="tr-TR" dirty="0"/>
              <a:t>beyninin fonksiyonlarını bilgisayar modelleri yardımıyla anlamaya çalışmak. </a:t>
            </a:r>
            <a:endParaRPr lang="tr-TR" dirty="0" smtClean="0"/>
          </a:p>
          <a:p>
            <a:r>
              <a:rPr lang="tr-TR" dirty="0" smtClean="0"/>
              <a:t>2) İnsanların </a:t>
            </a:r>
            <a:r>
              <a:rPr lang="tr-TR" dirty="0"/>
              <a:t>sahip olduğu zihinsel yetenekleri, bilgi kazanma, öğrenme ve buluş yapmada uyguladıkları strateji, metot ve teknikleri araştırmak. </a:t>
            </a:r>
            <a:endParaRPr lang="tr-TR" dirty="0" smtClean="0"/>
          </a:p>
          <a:p>
            <a:r>
              <a:rPr lang="tr-TR" dirty="0" smtClean="0"/>
              <a:t>3</a:t>
            </a:r>
            <a:r>
              <a:rPr lang="tr-TR" dirty="0"/>
              <a:t>) Bu öğrenme metotlarını biçimsel hale getirmek ve bilgisayarlarda bilgi sistemleri halinde uygulamak. </a:t>
            </a:r>
            <a:endParaRPr lang="tr-TR" dirty="0" smtClean="0"/>
          </a:p>
          <a:p>
            <a:r>
              <a:rPr lang="tr-TR" dirty="0" smtClean="0"/>
              <a:t>4</a:t>
            </a:r>
            <a:r>
              <a:rPr lang="tr-TR" dirty="0"/>
              <a:t>) İnsanların bilgisayar kullanımını kolaylaştıracak insan/bilgisayar ara birimleri geliştirmek. </a:t>
            </a:r>
            <a:endParaRPr lang="tr-TR" dirty="0"/>
          </a:p>
        </p:txBody>
      </p:sp>
    </p:spTree>
    <p:extLst>
      <p:ext uri="{BB962C8B-B14F-4D97-AF65-F5344CB8AC3E}">
        <p14:creationId xmlns:p14="http://schemas.microsoft.com/office/powerpoint/2010/main" val="32966163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YAPAY ZEKANIN AMAÇLARI</a:t>
            </a:r>
            <a:endParaRPr lang="tr-TR" dirty="0">
              <a:ea typeface="ＭＳ Ｐゴシック" pitchFamily="34" charset="-128"/>
            </a:endParaRPr>
          </a:p>
        </p:txBody>
      </p:sp>
      <p:sp>
        <p:nvSpPr>
          <p:cNvPr id="3" name="İçerik Yer Tutucusu 2"/>
          <p:cNvSpPr>
            <a:spLocks noGrp="1"/>
          </p:cNvSpPr>
          <p:nvPr>
            <p:ph sz="quarter" idx="1"/>
          </p:nvPr>
        </p:nvSpPr>
        <p:spPr/>
        <p:txBody>
          <a:bodyPr>
            <a:normAutofit/>
          </a:bodyPr>
          <a:lstStyle/>
          <a:p>
            <a:r>
              <a:rPr lang="tr-TR" dirty="0" smtClean="0"/>
              <a:t>5</a:t>
            </a:r>
            <a:r>
              <a:rPr lang="tr-TR" dirty="0"/>
              <a:t>) Belli bir uzmanlık alanı içindeki bilgileri bir ‘bilgi sistemi’ (veya ‘uzman sistem’) halinde toplamak. </a:t>
            </a:r>
            <a:endParaRPr lang="tr-TR" dirty="0" smtClean="0"/>
          </a:p>
          <a:p>
            <a:r>
              <a:rPr lang="tr-TR" dirty="0" smtClean="0"/>
              <a:t>6</a:t>
            </a:r>
            <a:r>
              <a:rPr lang="tr-TR" dirty="0"/>
              <a:t>) Geleceğin bilgi toplumunun kurulmasında önemli rol oynayacak ‘genel bilgi sistemleri’ geliştirmek. </a:t>
            </a:r>
            <a:endParaRPr lang="tr-TR" dirty="0" smtClean="0"/>
          </a:p>
          <a:p>
            <a:r>
              <a:rPr lang="tr-TR" dirty="0" smtClean="0"/>
              <a:t>7</a:t>
            </a:r>
            <a:r>
              <a:rPr lang="tr-TR" dirty="0"/>
              <a:t>) Yapay zeka iş yardımcıları ve ‘zeki robot timleri’ geliştirmek. </a:t>
            </a:r>
            <a:endParaRPr lang="tr-TR" dirty="0" smtClean="0"/>
          </a:p>
          <a:p>
            <a:r>
              <a:rPr lang="tr-TR" dirty="0" smtClean="0"/>
              <a:t>8</a:t>
            </a:r>
            <a:r>
              <a:rPr lang="tr-TR" dirty="0"/>
              <a:t>) Bilimsel araştırma ve buluşlarda faydalanmak üzere, araştırma yardımcıları geliştirmek.</a:t>
            </a:r>
            <a:endParaRPr lang="tr-TR" dirty="0"/>
          </a:p>
        </p:txBody>
      </p:sp>
    </p:spTree>
    <p:extLst>
      <p:ext uri="{BB962C8B-B14F-4D97-AF65-F5344CB8AC3E}">
        <p14:creationId xmlns:p14="http://schemas.microsoft.com/office/powerpoint/2010/main" val="1475247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YAPAY ZEKA ARAŞTIRMA ALANLARI</a:t>
            </a:r>
            <a:endParaRPr lang="tr-TR" dirty="0">
              <a:ea typeface="ＭＳ Ｐゴシック" pitchFamily="34" charset="-128"/>
            </a:endParaRPr>
          </a:p>
        </p:txBody>
      </p:sp>
      <p:sp>
        <p:nvSpPr>
          <p:cNvPr id="3" name="İçerik Yer Tutucusu 2"/>
          <p:cNvSpPr>
            <a:spLocks noGrp="1"/>
          </p:cNvSpPr>
          <p:nvPr>
            <p:ph sz="quarter" idx="1"/>
          </p:nvPr>
        </p:nvSpPr>
        <p:spPr/>
        <p:txBody>
          <a:bodyPr>
            <a:normAutofit/>
          </a:bodyPr>
          <a:lstStyle/>
          <a:p>
            <a:r>
              <a:rPr lang="tr-TR" dirty="0" smtClean="0"/>
              <a:t>Yapay Zeka Programlama</a:t>
            </a:r>
          </a:p>
          <a:p>
            <a:pPr lvl="1"/>
            <a:r>
              <a:rPr lang="tr-TR" dirty="0" smtClean="0"/>
              <a:t>Prolog, </a:t>
            </a:r>
          </a:p>
          <a:p>
            <a:pPr lvl="1"/>
            <a:r>
              <a:rPr lang="tr-TR" dirty="0" smtClean="0"/>
              <a:t>LISP, </a:t>
            </a:r>
          </a:p>
          <a:p>
            <a:pPr lvl="1"/>
            <a:r>
              <a:rPr lang="tr-TR" dirty="0" smtClean="0"/>
              <a:t>Mantık Programlama, </a:t>
            </a:r>
          </a:p>
          <a:p>
            <a:r>
              <a:rPr lang="tr-TR" dirty="0" smtClean="0"/>
              <a:t>Doğal Dil Anlama ve Çeviri</a:t>
            </a:r>
          </a:p>
          <a:p>
            <a:pPr lvl="1"/>
            <a:r>
              <a:rPr lang="tr-TR" dirty="0" smtClean="0"/>
              <a:t>Makine Çevirisi</a:t>
            </a:r>
          </a:p>
          <a:p>
            <a:pPr lvl="1"/>
            <a:r>
              <a:rPr lang="tr-TR" dirty="0" smtClean="0"/>
              <a:t>Makine Anlama</a:t>
            </a:r>
          </a:p>
          <a:p>
            <a:pPr lvl="1"/>
            <a:r>
              <a:rPr lang="tr-TR" dirty="0" smtClean="0"/>
              <a:t>Metin Özetleme</a:t>
            </a:r>
          </a:p>
          <a:p>
            <a:r>
              <a:rPr lang="tr-TR" dirty="0" smtClean="0"/>
              <a:t>Bilgi Tabanlı Sistemler</a:t>
            </a:r>
          </a:p>
          <a:p>
            <a:pPr lvl="1"/>
            <a:r>
              <a:rPr lang="tr-TR" dirty="0" smtClean="0"/>
              <a:t>Bilgi Gösterimi,</a:t>
            </a:r>
          </a:p>
          <a:p>
            <a:pPr lvl="1"/>
            <a:r>
              <a:rPr lang="tr-TR" dirty="0" smtClean="0"/>
              <a:t>Uzman Sistemler</a:t>
            </a:r>
          </a:p>
          <a:p>
            <a:pPr lvl="1"/>
            <a:r>
              <a:rPr lang="tr-TR" dirty="0" smtClean="0"/>
              <a:t>Genel Bilgi Sistemleri</a:t>
            </a:r>
          </a:p>
          <a:p>
            <a:endParaRPr lang="tr-TR" dirty="0"/>
          </a:p>
        </p:txBody>
      </p:sp>
    </p:spTree>
    <p:extLst>
      <p:ext uri="{BB962C8B-B14F-4D97-AF65-F5344CB8AC3E}">
        <p14:creationId xmlns:p14="http://schemas.microsoft.com/office/powerpoint/2010/main" val="3064278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ea typeface="ＭＳ Ｐゴシック" pitchFamily="34" charset="-128"/>
              </a:rPr>
              <a:t>YAPAY ZEKA DA İLK ARAŞTIRMALAR</a:t>
            </a:r>
            <a:endParaRPr lang="tr-TR" dirty="0">
              <a:ea typeface="ＭＳ Ｐゴシック" pitchFamily="34" charset="-128"/>
            </a:endParaRPr>
          </a:p>
        </p:txBody>
      </p:sp>
      <p:sp>
        <p:nvSpPr>
          <p:cNvPr id="3" name="İçerik Yer Tutucusu 2"/>
          <p:cNvSpPr>
            <a:spLocks noGrp="1"/>
          </p:cNvSpPr>
          <p:nvPr>
            <p:ph sz="quarter" idx="1"/>
          </p:nvPr>
        </p:nvSpPr>
        <p:spPr/>
        <p:txBody>
          <a:bodyPr>
            <a:normAutofit/>
          </a:bodyPr>
          <a:lstStyle/>
          <a:p>
            <a:r>
              <a:rPr lang="tr-TR" dirty="0" smtClean="0"/>
              <a:t>Makine Öğrenmesi</a:t>
            </a:r>
          </a:p>
          <a:p>
            <a:pPr lvl="1"/>
            <a:r>
              <a:rPr lang="tr-TR" dirty="0" smtClean="0"/>
              <a:t>Bilgi Düzeyli Öğrenme (Kontrol, BM) </a:t>
            </a:r>
          </a:p>
          <a:p>
            <a:pPr lvl="1"/>
            <a:r>
              <a:rPr lang="tr-TR" dirty="0" smtClean="0"/>
              <a:t>Sembol Düzeyli Öğrenme(sınıflandırma, GA) </a:t>
            </a:r>
          </a:p>
          <a:p>
            <a:pPr lvl="1"/>
            <a:r>
              <a:rPr lang="tr-TR" dirty="0" smtClean="0"/>
              <a:t>Aygıt Düzeyi Öğrenme(Algılayıcılar, YSA)</a:t>
            </a:r>
          </a:p>
          <a:p>
            <a:r>
              <a:rPr lang="tr-TR" dirty="0" smtClean="0"/>
              <a:t>Robotik</a:t>
            </a:r>
          </a:p>
          <a:p>
            <a:pPr lvl="1"/>
            <a:r>
              <a:rPr lang="tr-TR" dirty="0" smtClean="0"/>
              <a:t>Görev Planlama</a:t>
            </a:r>
          </a:p>
          <a:p>
            <a:pPr lvl="1"/>
            <a:r>
              <a:rPr lang="tr-TR" dirty="0" smtClean="0"/>
              <a:t>Robot Görmesi</a:t>
            </a:r>
          </a:p>
          <a:p>
            <a:pPr lvl="1"/>
            <a:r>
              <a:rPr lang="tr-TR" dirty="0" smtClean="0"/>
              <a:t>Robot Timleri (Sürü Zekası)</a:t>
            </a:r>
          </a:p>
          <a:p>
            <a:r>
              <a:rPr lang="tr-TR" dirty="0" smtClean="0"/>
              <a:t>Şekil Tanıma</a:t>
            </a:r>
          </a:p>
          <a:p>
            <a:pPr lvl="1"/>
            <a:r>
              <a:rPr lang="tr-TR" dirty="0" smtClean="0"/>
              <a:t>Nesne Tanıma,</a:t>
            </a:r>
          </a:p>
          <a:p>
            <a:pPr lvl="1"/>
            <a:r>
              <a:rPr lang="tr-TR" dirty="0" smtClean="0"/>
              <a:t>Optik Harf Tanıma</a:t>
            </a:r>
          </a:p>
          <a:p>
            <a:pPr lvl="1"/>
            <a:r>
              <a:rPr lang="tr-TR" dirty="0" smtClean="0"/>
              <a:t>Ses Tanıma</a:t>
            </a:r>
          </a:p>
          <a:p>
            <a:endParaRPr lang="tr-TR" dirty="0"/>
          </a:p>
        </p:txBody>
      </p:sp>
    </p:spTree>
    <p:extLst>
      <p:ext uri="{BB962C8B-B14F-4D97-AF65-F5344CB8AC3E}">
        <p14:creationId xmlns:p14="http://schemas.microsoft.com/office/powerpoint/2010/main" val="402870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YAPAY ZEKADA İLK ARAŞTIRMLAR</a:t>
            </a:r>
            <a:endParaRPr lang="tr-TR" dirty="0">
              <a:ea typeface="ＭＳ Ｐゴシック" pitchFamily="34" charset="-128"/>
            </a:endParaRPr>
          </a:p>
        </p:txBody>
      </p:sp>
      <p:sp>
        <p:nvSpPr>
          <p:cNvPr id="3" name="İçerik Yer Tutucusu 2"/>
          <p:cNvSpPr>
            <a:spLocks noGrp="1"/>
          </p:cNvSpPr>
          <p:nvPr>
            <p:ph sz="quarter" idx="1"/>
          </p:nvPr>
        </p:nvSpPr>
        <p:spPr/>
        <p:txBody>
          <a:bodyPr>
            <a:normAutofit lnSpcReduction="10000"/>
          </a:bodyPr>
          <a:lstStyle/>
          <a:p>
            <a:r>
              <a:rPr lang="tr-TR" dirty="0"/>
              <a:t>İdealize edilmiş tanımıyla Yapay zeka konusundaki ilk çalışmalardan biri </a:t>
            </a:r>
            <a:r>
              <a:rPr lang="tr-TR" dirty="0" err="1"/>
              <a:t>McCulloch</a:t>
            </a:r>
            <a:r>
              <a:rPr lang="tr-TR" dirty="0"/>
              <a:t> ve </a:t>
            </a:r>
            <a:r>
              <a:rPr lang="tr-TR" dirty="0" err="1"/>
              <a:t>Pitts</a:t>
            </a:r>
            <a:r>
              <a:rPr lang="tr-TR" dirty="0"/>
              <a:t> tarafından yapılmıştır. Bu araştırmacıların önerdiği, yapay sinir hücrelerini kullanan hesaplama modeli, önermeler mantığı, fizyoloji ve Turing'in hesaplama kuramına dayanıyordu. </a:t>
            </a:r>
            <a:endParaRPr lang="tr-TR" dirty="0" smtClean="0"/>
          </a:p>
          <a:p>
            <a:r>
              <a:rPr lang="tr-TR" dirty="0" smtClean="0"/>
              <a:t>Her </a:t>
            </a:r>
            <a:r>
              <a:rPr lang="tr-TR" dirty="0"/>
              <a:t>hangi bir hesaplanabilir fonksiyonun sinir hücrelerinden oluşan ağlarla hesaplanabileceğini ve mantıksal veya işlemlerinin gerçekleştirilebileceğini gösterdiler. Bu ağ yapılarının uygun şekilde tanımlanmaları halinde öğrenme becerisi kazanabileceğini de ileri sürdüler. </a:t>
            </a:r>
            <a:endParaRPr lang="tr-TR" dirty="0"/>
          </a:p>
        </p:txBody>
      </p:sp>
    </p:spTree>
    <p:extLst>
      <p:ext uri="{BB962C8B-B14F-4D97-AF65-F5344CB8AC3E}">
        <p14:creationId xmlns:p14="http://schemas.microsoft.com/office/powerpoint/2010/main" val="1300762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YAPAY ZEKADA İLK ARAŞTIRMLAR</a:t>
            </a:r>
            <a:endParaRPr lang="tr-TR" dirty="0">
              <a:ea typeface="ＭＳ Ｐゴシック" pitchFamily="34" charset="-128"/>
            </a:endParaRPr>
          </a:p>
        </p:txBody>
      </p:sp>
      <p:sp>
        <p:nvSpPr>
          <p:cNvPr id="3" name="İçerik Yer Tutucusu 2"/>
          <p:cNvSpPr>
            <a:spLocks noGrp="1"/>
          </p:cNvSpPr>
          <p:nvPr>
            <p:ph sz="quarter" idx="1"/>
          </p:nvPr>
        </p:nvSpPr>
        <p:spPr/>
        <p:txBody>
          <a:bodyPr>
            <a:normAutofit fontScale="92500" lnSpcReduction="20000"/>
          </a:bodyPr>
          <a:lstStyle/>
          <a:p>
            <a:r>
              <a:rPr lang="tr-TR" dirty="0" err="1" smtClean="0"/>
              <a:t>Hebb</a:t>
            </a:r>
            <a:r>
              <a:rPr lang="tr-TR" dirty="0"/>
              <a:t>, sinir hücreleri arasındaki bağlantıların şiddetlerini değiştirmek için basit bir kural önerince, öğrenebilen yapay sinir ağlarını gerçekleştirmek de olası hale gelmiştir.1950'lerde </a:t>
            </a:r>
            <a:r>
              <a:rPr lang="tr-TR" dirty="0" err="1"/>
              <a:t>Shannon</a:t>
            </a:r>
            <a:r>
              <a:rPr lang="tr-TR" dirty="0"/>
              <a:t> ve Turing bilgisayarlar için satranç programları yazıyorlardı. İlk yapay sinir ağı temelli bilgisayar SNARC, </a:t>
            </a:r>
            <a:r>
              <a:rPr lang="tr-TR" dirty="0" err="1"/>
              <a:t>MIT'de</a:t>
            </a:r>
            <a:r>
              <a:rPr lang="tr-TR" dirty="0"/>
              <a:t> </a:t>
            </a:r>
            <a:r>
              <a:rPr lang="tr-TR" dirty="0" err="1"/>
              <a:t>Minsky</a:t>
            </a:r>
            <a:r>
              <a:rPr lang="tr-TR" dirty="0"/>
              <a:t> ve </a:t>
            </a:r>
            <a:r>
              <a:rPr lang="tr-TR" dirty="0" err="1"/>
              <a:t>Edmonds</a:t>
            </a:r>
            <a:r>
              <a:rPr lang="tr-TR" dirty="0"/>
              <a:t> tarafından 1951'de yapıldı</a:t>
            </a:r>
            <a:r>
              <a:rPr lang="tr-TR" dirty="0" smtClean="0"/>
              <a:t>.</a:t>
            </a:r>
          </a:p>
          <a:p>
            <a:r>
              <a:rPr lang="tr-TR" dirty="0"/>
              <a:t>Çalışmalarını Princeton Üniversitesi'nde sürdüren </a:t>
            </a:r>
            <a:r>
              <a:rPr lang="tr-TR" dirty="0" err="1"/>
              <a:t>Mc</a:t>
            </a:r>
            <a:r>
              <a:rPr lang="tr-TR" dirty="0"/>
              <a:t> </a:t>
            </a:r>
            <a:r>
              <a:rPr lang="tr-TR" dirty="0" err="1"/>
              <a:t>Carthy</a:t>
            </a:r>
            <a:r>
              <a:rPr lang="tr-TR" dirty="0"/>
              <a:t>, </a:t>
            </a:r>
            <a:r>
              <a:rPr lang="tr-TR" dirty="0" err="1"/>
              <a:t>Minsky</a:t>
            </a:r>
            <a:r>
              <a:rPr lang="tr-TR" dirty="0"/>
              <a:t>, </a:t>
            </a:r>
            <a:r>
              <a:rPr lang="tr-TR" dirty="0" err="1"/>
              <a:t>Shannon</a:t>
            </a:r>
            <a:r>
              <a:rPr lang="tr-TR" dirty="0"/>
              <a:t> ve </a:t>
            </a:r>
            <a:r>
              <a:rPr lang="tr-TR" dirty="0" err="1"/>
              <a:t>Rochester'le</a:t>
            </a:r>
            <a:r>
              <a:rPr lang="tr-TR" dirty="0"/>
              <a:t> birlikte 1956 yılında </a:t>
            </a:r>
            <a:r>
              <a:rPr lang="tr-TR" dirty="0" err="1"/>
              <a:t>Dartmouth'da</a:t>
            </a:r>
            <a:r>
              <a:rPr lang="tr-TR" dirty="0"/>
              <a:t> iki aylık bir açık çalışma düzenledi. Bu toplantıda bir çok çalışmanın temelleri atılmakla birlikte, toplantının en önemli özelliği </a:t>
            </a:r>
            <a:r>
              <a:rPr lang="tr-TR" dirty="0" err="1"/>
              <a:t>Mc</a:t>
            </a:r>
            <a:r>
              <a:rPr lang="tr-TR" dirty="0"/>
              <a:t> </a:t>
            </a:r>
            <a:r>
              <a:rPr lang="tr-TR" dirty="0" err="1"/>
              <a:t>Carthy</a:t>
            </a:r>
            <a:r>
              <a:rPr lang="tr-TR" dirty="0"/>
              <a:t> tarafından önerilen Yapay zeka adının konmasıdır. İlk kuram ispatlayan programlardan </a:t>
            </a:r>
            <a:r>
              <a:rPr lang="tr-TR" dirty="0" err="1"/>
              <a:t>Logic</a:t>
            </a:r>
            <a:r>
              <a:rPr lang="tr-TR" dirty="0"/>
              <a:t> </a:t>
            </a:r>
            <a:r>
              <a:rPr lang="tr-TR" dirty="0" err="1"/>
              <a:t>Theorist</a:t>
            </a:r>
            <a:r>
              <a:rPr lang="tr-TR" dirty="0"/>
              <a:t> (Mantık kuramcısı) burada </a:t>
            </a:r>
            <a:r>
              <a:rPr lang="tr-TR" dirty="0" err="1"/>
              <a:t>Newell</a:t>
            </a:r>
            <a:r>
              <a:rPr lang="tr-TR" dirty="0"/>
              <a:t> ve </a:t>
            </a:r>
            <a:r>
              <a:rPr lang="tr-TR" dirty="0" err="1"/>
              <a:t>Simon</a:t>
            </a:r>
            <a:r>
              <a:rPr lang="tr-TR" dirty="0"/>
              <a:t> tarafından tanıtılmıştır. </a:t>
            </a:r>
            <a:endParaRPr lang="tr-TR" dirty="0"/>
          </a:p>
        </p:txBody>
      </p:sp>
    </p:spTree>
    <p:extLst>
      <p:ext uri="{BB962C8B-B14F-4D97-AF65-F5344CB8AC3E}">
        <p14:creationId xmlns:p14="http://schemas.microsoft.com/office/powerpoint/2010/main" val="2159414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YAPAY ZEKADA YENİ YAKLAŞIMLAR</a:t>
            </a:r>
            <a:endParaRPr lang="tr-TR" dirty="0">
              <a:ea typeface="ＭＳ Ｐゴシック" pitchFamily="34" charset="-128"/>
            </a:endParaRPr>
          </a:p>
        </p:txBody>
      </p:sp>
      <p:sp>
        <p:nvSpPr>
          <p:cNvPr id="3" name="İçerik Yer Tutucusu 2"/>
          <p:cNvSpPr>
            <a:spLocks noGrp="1"/>
          </p:cNvSpPr>
          <p:nvPr>
            <p:ph sz="quarter" idx="1"/>
          </p:nvPr>
        </p:nvSpPr>
        <p:spPr/>
        <p:txBody>
          <a:bodyPr>
            <a:normAutofit lnSpcReduction="10000"/>
          </a:bodyPr>
          <a:lstStyle/>
          <a:p>
            <a:r>
              <a:rPr lang="tr-TR" dirty="0"/>
              <a:t>Daha sonra </a:t>
            </a:r>
            <a:r>
              <a:rPr lang="tr-TR" dirty="0" err="1"/>
              <a:t>Newell</a:t>
            </a:r>
            <a:r>
              <a:rPr lang="tr-TR" dirty="0"/>
              <a:t> ve </a:t>
            </a:r>
            <a:r>
              <a:rPr lang="tr-TR" dirty="0" err="1"/>
              <a:t>Simon</a:t>
            </a:r>
            <a:r>
              <a:rPr lang="tr-TR" dirty="0"/>
              <a:t>, insan gibi düşünme yaklaşımına göre üretilmiş ilk program olan Genel Sorun Çözücü (General Problem </a:t>
            </a:r>
            <a:r>
              <a:rPr lang="tr-TR" dirty="0" err="1"/>
              <a:t>Solver</a:t>
            </a:r>
            <a:r>
              <a:rPr lang="tr-TR" dirty="0"/>
              <a:t>) 'ı geliştirmişlerdir. </a:t>
            </a:r>
            <a:r>
              <a:rPr lang="tr-TR" dirty="0" err="1"/>
              <a:t>Simon</a:t>
            </a:r>
            <a:r>
              <a:rPr lang="tr-TR" dirty="0"/>
              <a:t>, daha sonra fiziksel simge varsayımını ortaya atmış ve bu kuram, insandan bağımsız zeki sistemler yapma çalışmalarıyla uğraşanların hareket noktasını oluşturmuştur. </a:t>
            </a:r>
            <a:r>
              <a:rPr lang="tr-TR" dirty="0" err="1"/>
              <a:t>Simon'ın</a:t>
            </a:r>
            <a:r>
              <a:rPr lang="tr-TR" dirty="0"/>
              <a:t> bu tanımlaması bilim adamlarının Yapay zekaya yaklaşımlarında iki farklı akımın ortaya çıktığını belirginleştirmesi açısından önemlidir</a:t>
            </a:r>
            <a:r>
              <a:rPr lang="tr-TR" dirty="0" smtClean="0"/>
              <a:t>:</a:t>
            </a:r>
          </a:p>
          <a:p>
            <a:pPr lvl="1"/>
            <a:r>
              <a:rPr lang="tr-TR" dirty="0" smtClean="0"/>
              <a:t>1</a:t>
            </a:r>
            <a:r>
              <a:rPr lang="tr-TR" dirty="0"/>
              <a:t>. Sembolik Yapay Zeka </a:t>
            </a:r>
            <a:endParaRPr lang="tr-TR" dirty="0" smtClean="0"/>
          </a:p>
          <a:p>
            <a:pPr lvl="1"/>
            <a:r>
              <a:rPr lang="tr-TR" dirty="0" smtClean="0"/>
              <a:t>2</a:t>
            </a:r>
            <a:r>
              <a:rPr lang="tr-TR" dirty="0"/>
              <a:t>. Sibernetik Yapay Zeka </a:t>
            </a:r>
            <a:endParaRPr lang="tr-TR" dirty="0"/>
          </a:p>
        </p:txBody>
      </p:sp>
    </p:spTree>
    <p:extLst>
      <p:ext uri="{BB962C8B-B14F-4D97-AF65-F5344CB8AC3E}">
        <p14:creationId xmlns:p14="http://schemas.microsoft.com/office/powerpoint/2010/main" val="4004675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SEMBOLİK YAPAY ZEKA</a:t>
            </a:r>
            <a:endParaRPr lang="tr-TR" dirty="0">
              <a:ea typeface="ＭＳ Ｐゴシック" pitchFamily="34" charset="-128"/>
            </a:endParaRPr>
          </a:p>
        </p:txBody>
      </p:sp>
      <p:sp>
        <p:nvSpPr>
          <p:cNvPr id="3" name="İçerik Yer Tutucusu 2"/>
          <p:cNvSpPr>
            <a:spLocks noGrp="1"/>
          </p:cNvSpPr>
          <p:nvPr>
            <p:ph sz="quarter" idx="1"/>
          </p:nvPr>
        </p:nvSpPr>
        <p:spPr/>
        <p:txBody>
          <a:bodyPr>
            <a:normAutofit fontScale="85000" lnSpcReduction="10000"/>
          </a:bodyPr>
          <a:lstStyle/>
          <a:p>
            <a:r>
              <a:rPr lang="tr-TR" dirty="0" err="1"/>
              <a:t>Simon'ın</a:t>
            </a:r>
            <a:r>
              <a:rPr lang="tr-TR" dirty="0"/>
              <a:t> Sembolik yaklaşımından sonraki yıllarda mantık temelli çalışmalar egemen olmuş ve programların başarımlarını göstermek için bir takım yapay sorunlar ve dünyalar kullanılmıştır. Daha sonraları bu sorunlar gerçek yaşamı hiçbir şekilde temsil etmeyen oyuncak dünyalar olmakla suçlanmış ve Yapay zekanın yalnızca bu alanlarda başarılı olabileceği ve gerçek yaşamdaki sorunların çözümüne ölçeklenemeyeceği ileri sürülmüştür. </a:t>
            </a:r>
            <a:endParaRPr lang="tr-TR" dirty="0" smtClean="0"/>
          </a:p>
          <a:p>
            <a:r>
              <a:rPr lang="tr-TR" dirty="0" smtClean="0"/>
              <a:t>Bu </a:t>
            </a:r>
            <a:r>
              <a:rPr lang="tr-TR" dirty="0"/>
              <a:t>dönemin en ünlü programlarından </a:t>
            </a:r>
            <a:r>
              <a:rPr lang="tr-TR" dirty="0" err="1"/>
              <a:t>Weizenbaum</a:t>
            </a:r>
            <a:r>
              <a:rPr lang="tr-TR" dirty="0"/>
              <a:t> tarafından geliştirilen Eliza, karşısındaki ile sohbet edebiliyor gibi görünmesine karşın, yalnızca karşısındaki insanın cümleleri üzerinde bazı işlemler yapıyordu. İlk makine çevirisi çalışmaları sırasında benzeri yaklaşımlar kullanılıp çok gülünç çevirilerle karşılaşılınca bu çalışmaların desteklenmesi durdurulmuştu. Bu yetersizlikler aslında insan beynindeki semantik süreçlerin yeterince incelenmemesinden kaynaklanmaktaydı.</a:t>
            </a:r>
            <a:endParaRPr lang="tr-TR" dirty="0"/>
          </a:p>
        </p:txBody>
      </p:sp>
    </p:spTree>
    <p:extLst>
      <p:ext uri="{BB962C8B-B14F-4D97-AF65-F5344CB8AC3E}">
        <p14:creationId xmlns:p14="http://schemas.microsoft.com/office/powerpoint/2010/main" val="538318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SİBERNETİK YAPAY ZEKA</a:t>
            </a:r>
            <a:endParaRPr lang="tr-TR" dirty="0">
              <a:ea typeface="ＭＳ Ｐゴシック" pitchFamily="34" charset="-128"/>
            </a:endParaRPr>
          </a:p>
        </p:txBody>
      </p:sp>
      <p:sp>
        <p:nvSpPr>
          <p:cNvPr id="3" name="İçerik Yer Tutucusu 2"/>
          <p:cNvSpPr>
            <a:spLocks noGrp="1"/>
          </p:cNvSpPr>
          <p:nvPr>
            <p:ph sz="quarter" idx="1"/>
          </p:nvPr>
        </p:nvSpPr>
        <p:spPr/>
        <p:txBody>
          <a:bodyPr>
            <a:normAutofit fontScale="85000" lnSpcReduction="20000"/>
          </a:bodyPr>
          <a:lstStyle/>
          <a:p>
            <a:r>
              <a:rPr lang="tr-TR" dirty="0"/>
              <a:t>Yapay Sinir Ağları çalışmalarının dahil olduğu Sibernetik cephede de durum aynıydı. Zeki davranışı </a:t>
            </a:r>
            <a:r>
              <a:rPr lang="tr-TR" dirty="0" err="1"/>
              <a:t>benzeşimlendirmek</a:t>
            </a:r>
            <a:r>
              <a:rPr lang="tr-TR" dirty="0"/>
              <a:t> için bu çalışmalarda kullanılan temel yapılardaki bazı önemli yetersizliklerin ortaya konmasıyla birçok araştırmacılar çalışmalarını durdurdular. </a:t>
            </a:r>
            <a:endParaRPr lang="tr-TR" dirty="0" smtClean="0"/>
          </a:p>
          <a:p>
            <a:r>
              <a:rPr lang="tr-TR" dirty="0" smtClean="0"/>
              <a:t>Buna </a:t>
            </a:r>
            <a:r>
              <a:rPr lang="tr-TR" dirty="0"/>
              <a:t>en temel örnek, Yapay Sinir Ağları konusundaki çalışmaların </a:t>
            </a:r>
            <a:r>
              <a:rPr lang="tr-TR" dirty="0" err="1"/>
              <a:t>Minsky</a:t>
            </a:r>
            <a:r>
              <a:rPr lang="tr-TR" dirty="0"/>
              <a:t> ve </a:t>
            </a:r>
            <a:r>
              <a:rPr lang="tr-TR" dirty="0" err="1"/>
              <a:t>Papert'in</a:t>
            </a:r>
            <a:r>
              <a:rPr lang="tr-TR" dirty="0"/>
              <a:t> 1969'da yayınlanan </a:t>
            </a:r>
            <a:r>
              <a:rPr lang="tr-TR" dirty="0" err="1"/>
              <a:t>Perceptrons</a:t>
            </a:r>
            <a:r>
              <a:rPr lang="tr-TR" dirty="0"/>
              <a:t> adlı kitaplarında tek katmanlı </a:t>
            </a:r>
            <a:r>
              <a:rPr lang="tr-TR" dirty="0" err="1"/>
              <a:t>algaçların</a:t>
            </a:r>
            <a:r>
              <a:rPr lang="tr-TR" dirty="0"/>
              <a:t> bazı basit problemleri çözemeyeceğini gösterip aynı kısırlığın çok katmanlı </a:t>
            </a:r>
            <a:r>
              <a:rPr lang="tr-TR" dirty="0" err="1"/>
              <a:t>algaçlarda</a:t>
            </a:r>
            <a:r>
              <a:rPr lang="tr-TR" dirty="0"/>
              <a:t> da beklenilmesi gerektiğini söylemeleri ile bıçakla kesilmiş gibi durmasıdır. </a:t>
            </a:r>
            <a:endParaRPr lang="tr-TR" dirty="0" smtClean="0"/>
          </a:p>
          <a:p>
            <a:r>
              <a:rPr lang="tr-TR" dirty="0" smtClean="0"/>
              <a:t>Sibernetik </a:t>
            </a:r>
            <a:r>
              <a:rPr lang="tr-TR" dirty="0"/>
              <a:t>akımın uğradığı başarısızlığın temel sebebi de benzer şekilde Yapay Sinir Ağının tek katmanlı görevi başarması fakat bu görevle ilgili vargıların veya sonuçların bir yargıya dönüşerek diğer 8 kavramlar ile bir ilişki kurulamamasından kaynaklanmaktadır. Bu durum aynı zamanda semantik süreçlerin de </a:t>
            </a:r>
            <a:r>
              <a:rPr lang="tr-TR" dirty="0" err="1"/>
              <a:t>benzeşimlendirilememesi</a:t>
            </a:r>
            <a:r>
              <a:rPr lang="tr-TR" dirty="0"/>
              <a:t> gerçeğini doğurdu.</a:t>
            </a:r>
            <a:endParaRPr lang="tr-TR" dirty="0"/>
          </a:p>
        </p:txBody>
      </p:sp>
    </p:spTree>
    <p:extLst>
      <p:ext uri="{BB962C8B-B14F-4D97-AF65-F5344CB8AC3E}">
        <p14:creationId xmlns:p14="http://schemas.microsoft.com/office/powerpoint/2010/main" val="2454061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ea typeface="ＭＳ Ｐゴシック" pitchFamily="34" charset="-128"/>
              </a:rPr>
              <a:t>UZMAN SİSTEMLERİN GELİŞİMİ</a:t>
            </a:r>
            <a:endParaRPr lang="tr-TR" dirty="0">
              <a:ea typeface="ＭＳ Ｐゴシック" pitchFamily="34" charset="-128"/>
            </a:endParaRPr>
          </a:p>
        </p:txBody>
      </p:sp>
      <p:sp>
        <p:nvSpPr>
          <p:cNvPr id="3" name="İçerik Yer Tutucusu 2"/>
          <p:cNvSpPr>
            <a:spLocks noGrp="1"/>
          </p:cNvSpPr>
          <p:nvPr>
            <p:ph sz="quarter" idx="1"/>
          </p:nvPr>
        </p:nvSpPr>
        <p:spPr/>
        <p:txBody>
          <a:bodyPr>
            <a:normAutofit fontScale="77500" lnSpcReduction="20000"/>
          </a:bodyPr>
          <a:lstStyle/>
          <a:p>
            <a:r>
              <a:rPr lang="tr-TR" dirty="0"/>
              <a:t>Her iki akımın da uğradığı başarısızlıklar, her sorunu çözecek genel amaçlı sistemler yerine belirli bir uzmanlık alanındaki bilgiyle donatılmış programları kullanma fikrinin gelişmesine sebep oldu ve bu durum Yapay Zeka alanında yeniden bir canlanmaya yol açtı. </a:t>
            </a:r>
            <a:r>
              <a:rPr lang="tr-TR" dirty="0" smtClean="0"/>
              <a:t>Kısa </a:t>
            </a:r>
            <a:r>
              <a:rPr lang="tr-TR" dirty="0"/>
              <a:t>sürede Uzman sistemler adı verilen bir metodoloji gelişti. </a:t>
            </a:r>
            <a:endParaRPr lang="tr-TR" dirty="0" smtClean="0"/>
          </a:p>
          <a:p>
            <a:r>
              <a:rPr lang="tr-TR" dirty="0" smtClean="0"/>
              <a:t>Fakat </a:t>
            </a:r>
            <a:r>
              <a:rPr lang="tr-TR" dirty="0"/>
              <a:t>burada çok sık rastlanan tipik bir durum, bir otomobilin tamiri için önerilerde bulunan uzman sistem programının otomobilin ne işe yaradığından haberi olmamasıydı. </a:t>
            </a:r>
            <a:r>
              <a:rPr lang="tr-TR" dirty="0" smtClean="0"/>
              <a:t>Buna </a:t>
            </a:r>
            <a:r>
              <a:rPr lang="tr-TR" dirty="0"/>
              <a:t>rağmen Uzman sistemlerin başarıları beraberinde ilk ticari uygulamaları da getirdi. </a:t>
            </a:r>
            <a:endParaRPr lang="tr-TR" dirty="0" smtClean="0"/>
          </a:p>
          <a:p>
            <a:r>
              <a:rPr lang="tr-TR" dirty="0" smtClean="0"/>
              <a:t>Yapay </a:t>
            </a:r>
            <a:r>
              <a:rPr lang="tr-TR" dirty="0"/>
              <a:t>Zeka yavaş yavaş bir endüstri haline geliyordu. DEC tarafından kullanılan ve müşteri siparişlerine göre donanım seçimi yapan R1 adlı uzman sistem şirkete bir yılda 40 milyon dolarlık tasarruf sağlamıştı. Birden diğer ülkelerde yapay zekayı yeniden keşfettiler ve araştırmalara büyük kaynaklar ayrılmaya başlandı. 1988'de yapay zeka endüstrisinin cirosu 2 milyar dolara ulaşmıştı.</a:t>
            </a:r>
            <a:endParaRPr lang="tr-TR" dirty="0"/>
          </a:p>
        </p:txBody>
      </p:sp>
    </p:spTree>
    <p:extLst>
      <p:ext uri="{BB962C8B-B14F-4D97-AF65-F5344CB8AC3E}">
        <p14:creationId xmlns:p14="http://schemas.microsoft.com/office/powerpoint/2010/main" val="3826979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t>DOĞAL DİL İŞLEME ÇALIŞMALARI</a:t>
            </a:r>
            <a:endParaRPr lang="tr-TR" dirty="0">
              <a:ea typeface="ＭＳ Ｐゴシック" pitchFamily="34" charset="-128"/>
            </a:endParaRPr>
          </a:p>
        </p:txBody>
      </p:sp>
      <p:sp>
        <p:nvSpPr>
          <p:cNvPr id="3" name="İçerik Yer Tutucusu 2"/>
          <p:cNvSpPr>
            <a:spLocks noGrp="1"/>
          </p:cNvSpPr>
          <p:nvPr>
            <p:ph sz="quarter" idx="1"/>
          </p:nvPr>
        </p:nvSpPr>
        <p:spPr/>
        <p:txBody>
          <a:bodyPr>
            <a:normAutofit fontScale="77500" lnSpcReduction="20000"/>
          </a:bodyPr>
          <a:lstStyle/>
          <a:p>
            <a:r>
              <a:rPr lang="tr-TR" dirty="0"/>
              <a:t>Antropoloji bilimi, gelişmiş insan Zekası ile Dil arasındaki bağlantıyı gözler önüne serdiğinde, Dil üzerinden yürütülen Yapay Zeka çalışmaları tekrar önem kazandı. İnsan zekasının doğrudan doğruya kavramlarla düşünmediği, dil ile düşündüğü, dil kodları olan kelimeler ile kavramlar arasında bağlantı kurduğu anlaşıldı. </a:t>
            </a:r>
            <a:endParaRPr lang="tr-TR" dirty="0" smtClean="0"/>
          </a:p>
          <a:p>
            <a:r>
              <a:rPr lang="tr-TR" dirty="0" smtClean="0"/>
              <a:t>Bu </a:t>
            </a:r>
            <a:r>
              <a:rPr lang="tr-TR" dirty="0"/>
              <a:t>sayede insan aklı kavramlar ile düşünen hayvan beyninden daha hızlı işlem yapabilmekteydi ve dil dizgeleri olan cümleler yani şablonlar ile etkili bir öğrenmeye ve bilgisini soyut olarak genişletebilme yeteneğine sahip olmuştu. </a:t>
            </a:r>
            <a:endParaRPr lang="tr-TR" dirty="0" smtClean="0"/>
          </a:p>
          <a:p>
            <a:r>
              <a:rPr lang="tr-TR" dirty="0" smtClean="0"/>
              <a:t>İnsanların </a:t>
            </a:r>
            <a:r>
              <a:rPr lang="tr-TR" dirty="0"/>
              <a:t>iletişimde kullandıkları Türkçe, İngilizce gibi doğal dilleri anlayan bilgisayarlar konusundaki çalışmalar hızlanmaya başladı. </a:t>
            </a:r>
            <a:endParaRPr lang="tr-TR" dirty="0" smtClean="0"/>
          </a:p>
          <a:p>
            <a:r>
              <a:rPr lang="tr-TR" dirty="0" smtClean="0"/>
              <a:t>Bugün </a:t>
            </a:r>
            <a:r>
              <a:rPr lang="tr-TR" dirty="0"/>
              <a:t>Sembolik Yapay Zeka araştırmacıları özel Yapay Zeka dillerini kullanarak verileri birbiri ile ilişkilendirebilmekte, geliştirilen özel prosedürler sayesinde anlam çıkarma ve </a:t>
            </a:r>
            <a:r>
              <a:rPr lang="tr-TR" dirty="0" err="1"/>
              <a:t>çıkarımsama</a:t>
            </a:r>
            <a:r>
              <a:rPr lang="tr-TR" dirty="0"/>
              <a:t> yapma gibi ileri seviye bilişsel fonksiyonları </a:t>
            </a:r>
            <a:r>
              <a:rPr lang="tr-TR" dirty="0" err="1"/>
              <a:t>benzetimlendirmeye</a:t>
            </a:r>
            <a:r>
              <a:rPr lang="tr-TR" dirty="0"/>
              <a:t> </a:t>
            </a:r>
            <a:r>
              <a:rPr lang="tr-TR" dirty="0" smtClean="0"/>
              <a:t>çalışmaktadırlar, (</a:t>
            </a:r>
            <a:r>
              <a:rPr lang="tr-TR" dirty="0" err="1" smtClean="0"/>
              <a:t>ChatGPT</a:t>
            </a:r>
            <a:r>
              <a:rPr lang="tr-TR" dirty="0" smtClean="0"/>
              <a:t>).</a:t>
            </a:r>
            <a:endParaRPr lang="tr-TR" dirty="0"/>
          </a:p>
        </p:txBody>
      </p:sp>
    </p:spTree>
    <p:extLst>
      <p:ext uri="{BB962C8B-B14F-4D97-AF65-F5344CB8AC3E}">
        <p14:creationId xmlns:p14="http://schemas.microsoft.com/office/powerpoint/2010/main" val="3587608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t>İNSAN GİBİ DÜŞÜNEN SİSTEMLER</a:t>
            </a:r>
            <a:endParaRPr lang="tr-TR" dirty="0">
              <a:ea typeface="ＭＳ Ｐゴシック" pitchFamily="34" charset="-128"/>
            </a:endParaRPr>
          </a:p>
        </p:txBody>
      </p:sp>
      <p:sp>
        <p:nvSpPr>
          <p:cNvPr id="3" name="İçerik Yer Tutucusu 2"/>
          <p:cNvSpPr>
            <a:spLocks noGrp="1"/>
          </p:cNvSpPr>
          <p:nvPr>
            <p:ph sz="quarter" idx="1"/>
          </p:nvPr>
        </p:nvSpPr>
        <p:spPr/>
        <p:txBody>
          <a:bodyPr>
            <a:normAutofit fontScale="92500" lnSpcReduction="10000"/>
          </a:bodyPr>
          <a:lstStyle/>
          <a:p>
            <a:r>
              <a:rPr lang="tr-TR" dirty="0"/>
              <a:t>İnsan gibi düşünen bir program üretmek için insanların nasıl düşündüğünü saptamak gerekir. Bu da psikolojik deneylerle yapılabilir. Yeterli sayıda deney yapıldıktan sonra elde edilen bilgilerle bir kuram oluşturulabilir. </a:t>
            </a:r>
            <a:endParaRPr lang="tr-TR" dirty="0" smtClean="0"/>
          </a:p>
          <a:p>
            <a:r>
              <a:rPr lang="tr-TR" dirty="0" smtClean="0"/>
              <a:t>Daha </a:t>
            </a:r>
            <a:r>
              <a:rPr lang="tr-TR" dirty="0"/>
              <a:t>sonra bu kurama dayanarak bilgisayar programı üretilebilir. Eğer programın giriş/çıkış ve zamanlama davranışı insanlarınkine eşse programın düzeneklerinden bazılarının insan beyninde de mevcut olabileceği söylenebilir. </a:t>
            </a:r>
            <a:endParaRPr lang="tr-TR" dirty="0" smtClean="0"/>
          </a:p>
          <a:p>
            <a:r>
              <a:rPr lang="tr-TR" dirty="0" smtClean="0"/>
              <a:t>İnsan </a:t>
            </a:r>
            <a:r>
              <a:rPr lang="tr-TR" dirty="0"/>
              <a:t>gibi düşünen sistemler üretmek bilişsel bilimin araştırma alanına girmektedir. Bu çalışmalarda asıl amaç genellikle insanın düşünme süreçlerini çözümlemede bilgisayar modellerini bir araç olarak kullanmaktır. </a:t>
            </a:r>
            <a:endParaRPr lang="tr-TR" dirty="0"/>
          </a:p>
        </p:txBody>
      </p:sp>
    </p:spTree>
    <p:extLst>
      <p:ext uri="{BB962C8B-B14F-4D97-AF65-F5344CB8AC3E}">
        <p14:creationId xmlns:p14="http://schemas.microsoft.com/office/powerpoint/2010/main" val="780229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t>İNSAN GİBİ DAVRANAN SİSTEMLER</a:t>
            </a:r>
            <a:endParaRPr lang="tr-TR" dirty="0">
              <a:ea typeface="ＭＳ Ｐゴシック" pitchFamily="34" charset="-128"/>
            </a:endParaRPr>
          </a:p>
        </p:txBody>
      </p:sp>
      <p:sp>
        <p:nvSpPr>
          <p:cNvPr id="3" name="İçerik Yer Tutucusu 2"/>
          <p:cNvSpPr>
            <a:spLocks noGrp="1"/>
          </p:cNvSpPr>
          <p:nvPr>
            <p:ph sz="quarter" idx="1"/>
          </p:nvPr>
        </p:nvSpPr>
        <p:spPr/>
        <p:txBody>
          <a:bodyPr>
            <a:normAutofit fontScale="85000" lnSpcReduction="10000"/>
          </a:bodyPr>
          <a:lstStyle/>
          <a:p>
            <a:r>
              <a:rPr lang="tr-TR" dirty="0"/>
              <a:t>Yapay zeka araştırmacılarının baştan beri ulaşmak istediği ideal, insan gibi davranan sistemler üretmektir. Turing zeki davranışı, bir sorgulayıcıyı kandıracak kadar bütün bilişsel görevlerde insan düzeyinde başarım göstermek olarak tanımlamıştır. Bunu ölçmek için de Turing testi olarak bilinen bir test önermiştir. Turing testinde denek, sorgulayıcıyla bir terminal aracılığıyla haberleşir. Eğer sorgulayıcı, deneğin insan mı yoksa bir bilgisayar mı olduğunu anlayamazsa denek Turing testini geçmiş sayılır. </a:t>
            </a:r>
            <a:endParaRPr lang="tr-TR" dirty="0" smtClean="0"/>
          </a:p>
          <a:p>
            <a:r>
              <a:rPr lang="tr-TR" dirty="0" smtClean="0"/>
              <a:t>Turing</a:t>
            </a:r>
            <a:r>
              <a:rPr lang="tr-TR" dirty="0"/>
              <a:t>, testini tanımlarken zeka için bir insanın fiziksel benzetiminin gereksiz olduğunu düşündüğü için sorgulayıcıyla bilgisayar arasında doğrudan fiziksel temastan söz etmekten kaçınmıştır. Burada vurgulanması gereken nokta, bilgisayarda zeki davranışı üreten sürecin insan beynindeki süreçlerin modellenmesiyle elde edilebileceği gibi tamamen başka prensiplerden de hareket edilerek üretilmesinin olası olmasıdır. </a:t>
            </a:r>
            <a:endParaRPr lang="tr-TR" dirty="0"/>
          </a:p>
        </p:txBody>
      </p:sp>
    </p:spTree>
    <p:extLst>
      <p:ext uri="{BB962C8B-B14F-4D97-AF65-F5344CB8AC3E}">
        <p14:creationId xmlns:p14="http://schemas.microsoft.com/office/powerpoint/2010/main" val="3752128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7787208" cy="1143000"/>
          </a:xfrm>
        </p:spPr>
        <p:txBody>
          <a:bodyPr>
            <a:normAutofit/>
          </a:bodyPr>
          <a:lstStyle/>
          <a:p>
            <a:r>
              <a:rPr lang="tr-TR" dirty="0" smtClean="0"/>
              <a:t>YAPAY ZEKANIN ALT KATEGORİLERİ</a:t>
            </a:r>
            <a:endParaRPr lang="tr-TR" dirty="0">
              <a:ea typeface="ＭＳ Ｐゴシック" pitchFamily="34" charset="-128"/>
            </a:endParaRPr>
          </a:p>
        </p:txBody>
      </p:sp>
      <p:sp>
        <p:nvSpPr>
          <p:cNvPr id="3" name="İçerik Yer Tutucusu 2"/>
          <p:cNvSpPr>
            <a:spLocks noGrp="1"/>
          </p:cNvSpPr>
          <p:nvPr>
            <p:ph sz="quarter" idx="1"/>
          </p:nvPr>
        </p:nvSpPr>
        <p:spPr/>
        <p:txBody>
          <a:bodyPr>
            <a:normAutofit lnSpcReduction="10000"/>
          </a:bodyPr>
          <a:lstStyle/>
          <a:p>
            <a:r>
              <a:rPr lang="tr-TR" dirty="0"/>
              <a:t>Makine Zekası ( Sembolik Yapay Zeka </a:t>
            </a:r>
            <a:r>
              <a:rPr lang="tr-TR" dirty="0" smtClean="0"/>
              <a:t>)</a:t>
            </a:r>
          </a:p>
          <a:p>
            <a:r>
              <a:rPr lang="tr-TR" dirty="0" smtClean="0"/>
              <a:t>Yapay </a:t>
            </a:r>
            <a:r>
              <a:rPr lang="tr-TR" dirty="0"/>
              <a:t>Sinir Ağları ( Sibernetik Yapay Zeka ) </a:t>
            </a:r>
            <a:endParaRPr lang="tr-TR" dirty="0" smtClean="0"/>
          </a:p>
          <a:p>
            <a:r>
              <a:rPr lang="tr-TR" dirty="0" smtClean="0"/>
              <a:t>Doğal </a:t>
            </a:r>
            <a:r>
              <a:rPr lang="tr-TR" dirty="0"/>
              <a:t>Dil işleme ( Dil ile düşünme ) </a:t>
            </a:r>
            <a:endParaRPr lang="tr-TR" dirty="0" smtClean="0"/>
          </a:p>
          <a:p>
            <a:r>
              <a:rPr lang="tr-TR" dirty="0" smtClean="0"/>
              <a:t>Konuşma </a:t>
            </a:r>
            <a:r>
              <a:rPr lang="tr-TR" dirty="0"/>
              <a:t>Sentezi ( Yapay Konuşma ) </a:t>
            </a:r>
            <a:endParaRPr lang="tr-TR" dirty="0" smtClean="0"/>
          </a:p>
          <a:p>
            <a:r>
              <a:rPr lang="tr-TR" dirty="0" smtClean="0"/>
              <a:t>Konuşma </a:t>
            </a:r>
            <a:r>
              <a:rPr lang="tr-TR" dirty="0"/>
              <a:t>Anlama ( Konuşma Analizi ) </a:t>
            </a:r>
            <a:endParaRPr lang="tr-TR" dirty="0" smtClean="0"/>
          </a:p>
          <a:p>
            <a:r>
              <a:rPr lang="tr-TR" dirty="0" smtClean="0"/>
              <a:t>Uzman </a:t>
            </a:r>
            <a:r>
              <a:rPr lang="tr-TR" dirty="0"/>
              <a:t>sistemler </a:t>
            </a:r>
            <a:endParaRPr lang="tr-TR" dirty="0" smtClean="0"/>
          </a:p>
          <a:p>
            <a:r>
              <a:rPr lang="tr-TR" dirty="0" smtClean="0"/>
              <a:t>Bilgi Tabanı</a:t>
            </a:r>
          </a:p>
          <a:p>
            <a:r>
              <a:rPr lang="tr-TR" dirty="0" smtClean="0"/>
              <a:t>Görüntü İşleme</a:t>
            </a:r>
          </a:p>
          <a:p>
            <a:r>
              <a:rPr lang="tr-TR" dirty="0" smtClean="0"/>
              <a:t>Örüntü Tanıma</a:t>
            </a:r>
          </a:p>
          <a:p>
            <a:r>
              <a:rPr lang="tr-TR" dirty="0" smtClean="0"/>
              <a:t>Bulanık Mantık</a:t>
            </a:r>
          </a:p>
          <a:p>
            <a:r>
              <a:rPr lang="tr-TR" dirty="0" smtClean="0"/>
              <a:t>Genetik Algoritmalar</a:t>
            </a:r>
            <a:endParaRPr lang="tr-TR" dirty="0" smtClean="0"/>
          </a:p>
        </p:txBody>
      </p:sp>
    </p:spTree>
    <p:extLst>
      <p:ext uri="{BB962C8B-B14F-4D97-AF65-F5344CB8AC3E}">
        <p14:creationId xmlns:p14="http://schemas.microsoft.com/office/powerpoint/2010/main" val="1218879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smtClean="0"/>
              <a:t>GELECEKTE YAPAY ZEKA</a:t>
            </a:r>
            <a:endParaRPr lang="tr-TR" dirty="0">
              <a:ea typeface="ＭＳ Ｐゴシック" pitchFamily="34" charset="-128"/>
            </a:endParaRPr>
          </a:p>
        </p:txBody>
      </p:sp>
      <p:sp>
        <p:nvSpPr>
          <p:cNvPr id="3" name="İçerik Yer Tutucusu 2"/>
          <p:cNvSpPr>
            <a:spLocks noGrp="1"/>
          </p:cNvSpPr>
          <p:nvPr>
            <p:ph sz="quarter" idx="1"/>
          </p:nvPr>
        </p:nvSpPr>
        <p:spPr/>
        <p:txBody>
          <a:bodyPr>
            <a:normAutofit fontScale="92500" lnSpcReduction="10000"/>
          </a:bodyPr>
          <a:lstStyle/>
          <a:p>
            <a:r>
              <a:rPr lang="tr-TR" dirty="0"/>
              <a:t>Gelecekte Yapay Zeka araştırmalarındaki tüm alanların birleşeceğini öngörmek zor değildir. Sibernetik bir yaklaşımla modellenmiş bir Yapay Beyin, Sembolik bir yaklaşımla insan aklına benzetilmiş bilişsel süreçler ve Yapay Bilinç sistemi, insan aklı kadar esnek ve duyguları olan bir İrade (Karar alma yetisi), Uzman sistemler kadar yetkin bir bilgi birikimi ve rasyonel yaklaşım. </a:t>
            </a:r>
            <a:endParaRPr lang="tr-TR" dirty="0" smtClean="0"/>
          </a:p>
          <a:p>
            <a:r>
              <a:rPr lang="tr-TR" dirty="0" smtClean="0"/>
              <a:t>Bunların </a:t>
            </a:r>
            <a:r>
              <a:rPr lang="tr-TR" dirty="0"/>
              <a:t>dengeli bir karışımı sayesinde Yapay Zeka, gelecekte genetik kusurları bulunan insan zekasına bir alternatif oluşturabilir. </a:t>
            </a:r>
            <a:endParaRPr lang="tr-TR" dirty="0" smtClean="0"/>
          </a:p>
          <a:p>
            <a:r>
              <a:rPr lang="tr-TR" dirty="0" smtClean="0"/>
              <a:t>Bu </a:t>
            </a:r>
            <a:r>
              <a:rPr lang="tr-TR" dirty="0"/>
              <a:t>tehlikeyi gören bilim adamları bu rekabeti engelleyebilmek için insan zekasını genetik </a:t>
            </a:r>
            <a:r>
              <a:rPr lang="tr-TR" dirty="0" err="1"/>
              <a:t>metodlarla</a:t>
            </a:r>
            <a:r>
              <a:rPr lang="tr-TR" dirty="0"/>
              <a:t> geliştirerek doğal evrim sürecine katkıda bulunmayı amaçlamaktadırlar. </a:t>
            </a:r>
            <a:endParaRPr lang="tr-TR" dirty="0"/>
          </a:p>
        </p:txBody>
      </p:sp>
    </p:spTree>
    <p:extLst>
      <p:ext uri="{BB962C8B-B14F-4D97-AF65-F5344CB8AC3E}">
        <p14:creationId xmlns:p14="http://schemas.microsoft.com/office/powerpoint/2010/main" val="7310081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169</TotalTime>
  <Words>1723</Words>
  <Application>Microsoft Office PowerPoint</Application>
  <PresentationFormat>Ekran Gösterisi (4:3)</PresentationFormat>
  <Paragraphs>117</Paragraphs>
  <Slides>21</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21</vt:i4>
      </vt:variant>
    </vt:vector>
  </HeadingPairs>
  <TitlesOfParts>
    <vt:vector size="26" baseType="lpstr">
      <vt:lpstr>ＭＳ Ｐゴシック</vt:lpstr>
      <vt:lpstr>Century Schoolbook</vt:lpstr>
      <vt:lpstr>Wingdings</vt:lpstr>
      <vt:lpstr>Wingdings 2</vt:lpstr>
      <vt:lpstr>Cumba</vt:lpstr>
      <vt:lpstr>Yapay zeka</vt:lpstr>
      <vt:lpstr>YAPAY ZEKA NEDİR?</vt:lpstr>
      <vt:lpstr>YAPAY ZEKA NIN TARİHÇESİ</vt:lpstr>
      <vt:lpstr>YAPAY ZEKA NIN TARİHÇESİ</vt:lpstr>
      <vt:lpstr>YAPAY ZEKA NIN TARİHÇESİ</vt:lpstr>
      <vt:lpstr>TÜRKİYEDE YAPAY ZEKA</vt:lpstr>
      <vt:lpstr>YAPAY ZEKANIN AMAÇLARI</vt:lpstr>
      <vt:lpstr>YAPAY ZEKANIN AMAÇLARI</vt:lpstr>
      <vt:lpstr>YAPAY ZEKA ARAŞTIRMA ALANLARI</vt:lpstr>
      <vt:lpstr>YAPAY ZEKA DA İLK ARAŞTIRMALAR</vt:lpstr>
      <vt:lpstr>YAPAY ZEKADA İLK ARAŞTIRMLAR</vt:lpstr>
      <vt:lpstr>YAPAY ZEKADA İLK ARAŞTIRMLAR</vt:lpstr>
      <vt:lpstr>YAPAY ZEKADA YENİ YAKLAŞIMLAR</vt:lpstr>
      <vt:lpstr>SEMBOLİK YAPAY ZEKA</vt:lpstr>
      <vt:lpstr>SİBERNETİK YAPAY ZEKA</vt:lpstr>
      <vt:lpstr>UZMAN SİSTEMLERİN GELİŞİMİ</vt:lpstr>
      <vt:lpstr>DOĞAL DİL İŞLEME ÇALIŞMALARI</vt:lpstr>
      <vt:lpstr>İNSAN GİBİ DÜŞÜNEN SİSTEMLER</vt:lpstr>
      <vt:lpstr>İNSAN GİBİ DAVRANAN SİSTEMLER</vt:lpstr>
      <vt:lpstr>YAPAY ZEKANIN ALT KATEGORİLERİ</vt:lpstr>
      <vt:lpstr>GELECEKTE YAPAY ZEKA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İLERİ PROGRAMLAMA</dc:title>
  <dc:creator>SFuat</dc:creator>
  <cp:lastModifiedBy>Tuncay</cp:lastModifiedBy>
  <cp:revision>24</cp:revision>
  <dcterms:created xsi:type="dcterms:W3CDTF">2020-02-18T10:38:04Z</dcterms:created>
  <dcterms:modified xsi:type="dcterms:W3CDTF">2023-10-01T15:49:22Z</dcterms:modified>
</cp:coreProperties>
</file>
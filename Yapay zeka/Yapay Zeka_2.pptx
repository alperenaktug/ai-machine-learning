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0" r:id="rId3"/>
    <p:sldId id="288" r:id="rId4"/>
    <p:sldId id="289" r:id="rId5"/>
    <p:sldId id="290" r:id="rId6"/>
    <p:sldId id="291" r:id="rId7"/>
    <p:sldId id="292" r:id="rId8"/>
    <p:sldId id="293" r:id="rId9"/>
    <p:sldId id="294" r:id="rId10"/>
    <p:sldId id="295" r:id="rId11"/>
    <p:sldId id="269" r:id="rId12"/>
    <p:sldId id="296" r:id="rId13"/>
    <p:sldId id="297" r:id="rId14"/>
    <p:sldId id="298" r:id="rId15"/>
    <p:sldId id="299" r:id="rId16"/>
    <p:sldId id="300" r:id="rId17"/>
    <p:sldId id="301" r:id="rId18"/>
    <p:sldId id="302" r:id="rId19"/>
    <p:sldId id="303" r:id="rId20"/>
    <p:sldId id="304" r:id="rId21"/>
    <p:sldId id="305" r:id="rId22"/>
    <p:sldId id="306" r:id="rId23"/>
    <p:sldId id="307" r:id="rId24"/>
    <p:sldId id="308" r:id="rId25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şlık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9" name="Alt Başlık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tr-TR" smtClean="0"/>
              <a:t>Asıl alt başlık stilini düzenlemek için tıklatın</a:t>
            </a:r>
            <a:endParaRPr kumimoji="0" lang="en-US"/>
          </a:p>
        </p:txBody>
      </p:sp>
      <p:sp>
        <p:nvSpPr>
          <p:cNvPr id="28" name="Veri Yer Tutucusu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A23720DD-5B6D-40BF-8493-A6B52D484E6B}" type="datetimeFigureOut">
              <a:rPr lang="tr-TR" smtClean="0"/>
              <a:t>1.10.2023</a:t>
            </a:fld>
            <a:endParaRPr lang="tr-TR"/>
          </a:p>
        </p:txBody>
      </p:sp>
      <p:sp>
        <p:nvSpPr>
          <p:cNvPr id="17" name="Altbilgi Yer Tutucusu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tr-TR"/>
          </a:p>
        </p:txBody>
      </p:sp>
      <p:sp>
        <p:nvSpPr>
          <p:cNvPr id="10" name="Dikdörtgen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ikdörtgen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Dikdörtgen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Dikdörtgen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üz Bağlayıcı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Düz Bağlayıcı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Düz Bağlayıcı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Düz Bağlayıcı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Düz Bağlayıcı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Düz Bağlayıcı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Dikdörtgen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ayt Numarası Yer Tutucusu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8" name="İçerik Yer Tutucusu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A23720DD-5B6D-40BF-8493-A6B52D484E6B}" type="datetimeFigureOut">
              <a:rPr lang="tr-TR" smtClean="0"/>
              <a:t>1.10.2023</a:t>
            </a:fld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10" name="Altbilgi Yer Tutucusu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bilgisi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A23720DD-5B6D-40BF-8493-A6B52D484E6B}" type="datetimeFigureOut">
              <a:rPr lang="tr-TR" smtClean="0"/>
              <a:t>1.10.2023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tr-TR"/>
          </a:p>
        </p:txBody>
      </p:sp>
      <p:sp>
        <p:nvSpPr>
          <p:cNvPr id="9" name="Dikdörtgen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Dikdörtgen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ikdörtgen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ikdörtgen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Düz Bağlayıcı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Düz Bağlayıcı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Düz Bağlayıcı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Düz Bağlayıcı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Düz Bağlayıcı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Dikdörtgen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Düz Bağlayıcı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1.10.2023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9" name="İçerik Yer Tutucusu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11" name="İçerik Yer Tutucusu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1.10.2023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11" name="İçerik Yer Tutucusu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13" name="İçerik Yer Tutucusu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12" name="Metin Yer Tutucusu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14" name="Metin Yer Tutucusu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6" name="Veri Yer Tutucusu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A23720DD-5B6D-40BF-8493-A6B52D484E6B}" type="datetimeFigureOut">
              <a:rPr lang="tr-TR" smtClean="0"/>
              <a:t>1.10.2023</a:t>
            </a:fld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1.10.2023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üz Bağlayıcı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8" name="Düz Bağlayıcı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Düz Bağlayıcı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Düz Bağlayıcı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Dikdörtgen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Düz Bağlayıcı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İçerik Yer Tutucusu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21" name="Veri Yer Tutucusu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A23720DD-5B6D-40BF-8493-A6B52D484E6B}" type="datetimeFigureOut">
              <a:rPr lang="tr-TR" smtClean="0"/>
              <a:t>1.10.2023</a:t>
            </a:fld>
            <a:endParaRPr lang="tr-TR"/>
          </a:p>
        </p:txBody>
      </p:sp>
      <p:sp>
        <p:nvSpPr>
          <p:cNvPr id="22" name="Slayt Numarası Yer Tutucusu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23" name="Altbilgi Yer Tutucusu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tr-T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üz Bağlayıcı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tr-TR" smtClean="0"/>
              <a:t>Resim eklemek için simgeyi tıklatın</a:t>
            </a:r>
            <a:endParaRPr kumimoji="0" lang="en-US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10" name="Düz Bağlayıcı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Dikdörtgen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üz Bağlayıcı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Düz Bağlayıcı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Düz Bağlayıcı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Veri Yer Tutucusu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A23720DD-5B6D-40BF-8493-A6B52D484E6B}" type="datetimeFigureOut">
              <a:rPr lang="tr-TR" smtClean="0"/>
              <a:t>1.10.2023</a:t>
            </a:fld>
            <a:endParaRPr lang="tr-TR"/>
          </a:p>
        </p:txBody>
      </p:sp>
      <p:sp>
        <p:nvSpPr>
          <p:cNvPr id="18" name="Slayt Numarası Yer Tutucusu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21" name="Altbilgi Yer Tutucusu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1.10.2023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1.10.2023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üz Bağlayıcı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Başlık Yer Tutucusu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13" name="Metin Yer Tutucusu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  <a:p>
            <a:pPr lvl="1" eaLnBrk="1" latinLnBrk="0" hangingPunct="1"/>
            <a:r>
              <a:rPr kumimoji="0" lang="tr-TR" smtClean="0"/>
              <a:t>İkinci düzey</a:t>
            </a:r>
          </a:p>
          <a:p>
            <a:pPr lvl="2" eaLnBrk="1" latinLnBrk="0" hangingPunct="1"/>
            <a:r>
              <a:rPr kumimoji="0" lang="tr-TR" smtClean="0"/>
              <a:t>Üçüncü düzey</a:t>
            </a:r>
          </a:p>
          <a:p>
            <a:pPr lvl="3" eaLnBrk="1" latinLnBrk="0" hangingPunct="1"/>
            <a:r>
              <a:rPr kumimoji="0" lang="tr-TR" smtClean="0"/>
              <a:t>Dördüncü düzey</a:t>
            </a:r>
          </a:p>
          <a:p>
            <a:pPr lvl="4" eaLnBrk="1" latinLnBrk="0" hangingPunct="1"/>
            <a:r>
              <a:rPr kumimoji="0" lang="tr-TR" smtClean="0"/>
              <a:t>Beşinci düzey</a:t>
            </a:r>
            <a:endParaRPr kumimoji="0" lang="en-US"/>
          </a:p>
        </p:txBody>
      </p:sp>
      <p:sp>
        <p:nvSpPr>
          <p:cNvPr id="14" name="Veri Yer Tutucusu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A23720DD-5B6D-40BF-8493-A6B52D484E6B}" type="datetimeFigureOut">
              <a:rPr lang="tr-TR" smtClean="0"/>
              <a:t>1.10.2023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tr-TR"/>
          </a:p>
        </p:txBody>
      </p:sp>
      <p:sp>
        <p:nvSpPr>
          <p:cNvPr id="7" name="Düz Bağlayıcı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Düz Bağlayıcı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Dikdörtgen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üz Bağlayıcı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ayt Numarası Yer Tutucusu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2411760" y="2564904"/>
            <a:ext cx="6172200" cy="1894362"/>
          </a:xfrm>
        </p:spPr>
        <p:txBody>
          <a:bodyPr/>
          <a:lstStyle/>
          <a:p>
            <a:r>
              <a:rPr lang="tr-TR" sz="2800" dirty="0" smtClean="0"/>
              <a:t>Yapay sinir ağları</a:t>
            </a: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ctr"/>
            <a:r>
              <a:rPr lang="tr-TR" b="0" dirty="0"/>
              <a:t>Prof. Dr. Tuncay YİĞİT</a:t>
            </a:r>
          </a:p>
          <a:p>
            <a:pPr algn="ctr"/>
            <a:r>
              <a:rPr lang="tr-TR" b="0" dirty="0"/>
              <a:t>Süleyman Demirel Üniversitesi</a:t>
            </a:r>
          </a:p>
          <a:p>
            <a:pPr algn="ctr"/>
            <a:r>
              <a:rPr lang="tr-TR" b="0" dirty="0"/>
              <a:t>Bilgisayar Mühendisliği </a:t>
            </a:r>
            <a:r>
              <a:rPr lang="tr-TR" b="0" dirty="0" smtClean="0"/>
              <a:t>Bölümü</a:t>
            </a:r>
          </a:p>
          <a:p>
            <a:pPr algn="ctr"/>
            <a:endParaRPr lang="tr-TR" b="0" dirty="0"/>
          </a:p>
          <a:p>
            <a:pPr algn="ctr"/>
            <a:r>
              <a:rPr lang="tr-TR" b="0" dirty="0" smtClean="0"/>
              <a:t>ISPARTA 2023</a:t>
            </a:r>
            <a:endParaRPr lang="tr-TR" b="0" dirty="0"/>
          </a:p>
        </p:txBody>
      </p:sp>
    </p:spTree>
    <p:extLst>
      <p:ext uri="{BB962C8B-B14F-4D97-AF65-F5344CB8AC3E}">
        <p14:creationId xmlns:p14="http://schemas.microsoft.com/office/powerpoint/2010/main" val="1927419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YAPAY </a:t>
            </a:r>
            <a:r>
              <a:rPr lang="tr-TR" dirty="0" smtClean="0">
                <a:ea typeface="ＭＳ Ｐゴシック" pitchFamily="34" charset="-128"/>
              </a:rPr>
              <a:t>SİNİR AĞI NEDİR</a:t>
            </a:r>
            <a:r>
              <a:rPr lang="tr-TR" dirty="0" smtClean="0">
                <a:ea typeface="ＭＳ Ｐゴシック" pitchFamily="34" charset="-128"/>
              </a:rPr>
              <a:t>?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dirty="0"/>
              <a:t>Biyolojik sinir sisteminden esinlenerek ortaya çıkmıştır. </a:t>
            </a:r>
            <a:endParaRPr lang="tr-TR" dirty="0" smtClean="0"/>
          </a:p>
          <a:p>
            <a:r>
              <a:rPr lang="tr-TR" dirty="0" smtClean="0"/>
              <a:t>İnsan </a:t>
            </a:r>
            <a:r>
              <a:rPr lang="tr-TR" dirty="0"/>
              <a:t>beyninin, öğrenme, eski bilgiye dayalı tahmin etme, eksik bilgiyi tamamlama gibi yeteneklerini makinelere kazandırmayı amaçlar</a:t>
            </a:r>
            <a:r>
              <a:rPr lang="tr-TR" dirty="0" smtClean="0"/>
              <a:t>.</a:t>
            </a:r>
          </a:p>
          <a:p>
            <a:r>
              <a:rPr lang="tr-TR" dirty="0" smtClean="0"/>
              <a:t>Çok </a:t>
            </a:r>
            <a:r>
              <a:rPr lang="tr-TR" dirty="0"/>
              <a:t>sayıda işlem ünitesinden (</a:t>
            </a:r>
            <a:r>
              <a:rPr lang="tr-TR" dirty="0" err="1"/>
              <a:t>processing</a:t>
            </a:r>
            <a:r>
              <a:rPr lang="tr-TR" dirty="0"/>
              <a:t> </a:t>
            </a:r>
            <a:r>
              <a:rPr lang="tr-TR" dirty="0" err="1"/>
              <a:t>elements</a:t>
            </a:r>
            <a:r>
              <a:rPr lang="tr-TR" dirty="0"/>
              <a:t>, </a:t>
            </a:r>
            <a:r>
              <a:rPr lang="tr-TR" dirty="0" err="1"/>
              <a:t>units</a:t>
            </a:r>
            <a:r>
              <a:rPr lang="tr-TR" dirty="0"/>
              <a:t>, </a:t>
            </a:r>
            <a:r>
              <a:rPr lang="tr-TR" dirty="0" err="1"/>
              <a:t>nodes</a:t>
            </a:r>
            <a:r>
              <a:rPr lang="tr-TR" dirty="0"/>
              <a:t>, </a:t>
            </a:r>
            <a:r>
              <a:rPr lang="tr-TR" dirty="0" err="1"/>
              <a:t>neurons</a:t>
            </a:r>
            <a:r>
              <a:rPr lang="tr-TR" dirty="0"/>
              <a:t>) oluşur. </a:t>
            </a:r>
            <a:endParaRPr lang="tr-TR" dirty="0" smtClean="0"/>
          </a:p>
          <a:p>
            <a:r>
              <a:rPr lang="tr-TR" dirty="0" smtClean="0"/>
              <a:t>Birçok </a:t>
            </a:r>
            <a:r>
              <a:rPr lang="tr-TR" dirty="0"/>
              <a:t>farklı alanda başarıyla uygulanmıştır</a:t>
            </a:r>
            <a:r>
              <a:rPr lang="tr-TR" dirty="0" smtClean="0"/>
              <a:t>:</a:t>
            </a:r>
          </a:p>
          <a:p>
            <a:pPr lvl="1"/>
            <a:r>
              <a:rPr lang="tr-TR" dirty="0" smtClean="0"/>
              <a:t>İşaret </a:t>
            </a:r>
            <a:r>
              <a:rPr lang="tr-TR" dirty="0"/>
              <a:t>tanıma </a:t>
            </a:r>
            <a:endParaRPr lang="tr-TR" dirty="0" smtClean="0"/>
          </a:p>
          <a:p>
            <a:pPr lvl="1"/>
            <a:r>
              <a:rPr lang="tr-TR" dirty="0" smtClean="0"/>
              <a:t>El </a:t>
            </a:r>
            <a:r>
              <a:rPr lang="tr-TR" dirty="0"/>
              <a:t>yazısı tanıma </a:t>
            </a:r>
            <a:endParaRPr lang="tr-TR" dirty="0" smtClean="0"/>
          </a:p>
          <a:p>
            <a:pPr lvl="1"/>
            <a:r>
              <a:rPr lang="tr-TR" dirty="0" smtClean="0"/>
              <a:t>İleriye </a:t>
            </a:r>
            <a:r>
              <a:rPr lang="tr-TR" dirty="0"/>
              <a:t>dönük tahminde bulunma </a:t>
            </a:r>
            <a:endParaRPr lang="tr-TR" dirty="0" smtClean="0"/>
          </a:p>
          <a:p>
            <a:pPr lvl="1"/>
            <a:r>
              <a:rPr lang="tr-TR" dirty="0" err="1" smtClean="0"/>
              <a:t>Adaptif</a:t>
            </a:r>
            <a:r>
              <a:rPr lang="tr-TR" dirty="0" smtClean="0"/>
              <a:t> </a:t>
            </a:r>
            <a:r>
              <a:rPr lang="tr-TR" dirty="0"/>
              <a:t>kontrol </a:t>
            </a:r>
            <a:endParaRPr lang="tr-TR" dirty="0" smtClean="0"/>
          </a:p>
          <a:p>
            <a:pPr lvl="1"/>
            <a:r>
              <a:rPr lang="tr-TR" dirty="0" smtClean="0"/>
              <a:t>Gürültülü </a:t>
            </a:r>
            <a:r>
              <a:rPr lang="tr-TR" dirty="0"/>
              <a:t>veya eksik bilgileri tanıma </a:t>
            </a:r>
            <a:endParaRPr lang="tr-TR" dirty="0" smtClean="0"/>
          </a:p>
          <a:p>
            <a:pPr lvl="1"/>
            <a:r>
              <a:rPr lang="tr-TR" dirty="0" smtClean="0"/>
              <a:t>… 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783545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YAPAY </a:t>
            </a:r>
            <a:r>
              <a:rPr lang="tr-TR" dirty="0" smtClean="0">
                <a:ea typeface="ＭＳ Ｐゴシック" pitchFamily="34" charset="-128"/>
              </a:rPr>
              <a:t>SİNİR AĞI NEDİR</a:t>
            </a:r>
            <a:r>
              <a:rPr lang="tr-TR" dirty="0" smtClean="0">
                <a:ea typeface="ＭＳ Ｐゴシック" pitchFamily="34" charset="-128"/>
              </a:rPr>
              <a:t>?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tr-TR" dirty="0"/>
              <a:t>Beyin, çok karmaşık yapıdadır, doğrusal olmayan ve paralel işlem yapar. </a:t>
            </a:r>
            <a:endParaRPr lang="tr-TR" dirty="0" smtClean="0"/>
          </a:p>
          <a:p>
            <a:r>
              <a:rPr lang="tr-TR" dirty="0" smtClean="0"/>
              <a:t>Beyin</a:t>
            </a:r>
            <a:r>
              <a:rPr lang="tr-TR" dirty="0"/>
              <a:t>, </a:t>
            </a:r>
            <a:r>
              <a:rPr lang="tr-TR" dirty="0" err="1"/>
              <a:t>neuron’lardan</a:t>
            </a:r>
            <a:r>
              <a:rPr lang="tr-TR" dirty="0"/>
              <a:t> (</a:t>
            </a:r>
            <a:r>
              <a:rPr lang="tr-TR" dirty="0" err="1"/>
              <a:t>processing</a:t>
            </a:r>
            <a:r>
              <a:rPr lang="tr-TR" dirty="0"/>
              <a:t> </a:t>
            </a:r>
            <a:r>
              <a:rPr lang="tr-TR" dirty="0" err="1"/>
              <a:t>units</a:t>
            </a:r>
            <a:r>
              <a:rPr lang="tr-TR" dirty="0"/>
              <a:t>) oluşur ve bazı problemlerde günümüzdeki en hızlı bilgisayarlardan daha hızlı hesaplama kapasitesine sahiptir. </a:t>
            </a:r>
            <a:endParaRPr lang="tr-TR" dirty="0" smtClean="0"/>
          </a:p>
          <a:p>
            <a:r>
              <a:rPr lang="tr-TR" dirty="0" smtClean="0"/>
              <a:t>Yapay </a:t>
            </a:r>
            <a:r>
              <a:rPr lang="tr-TR" dirty="0"/>
              <a:t>sinir ağı (YSA), beynin bazı özel işlevlerini modellemek için tasarlanan makinedir. </a:t>
            </a:r>
            <a:endParaRPr lang="tr-TR" dirty="0" smtClean="0"/>
          </a:p>
          <a:p>
            <a:r>
              <a:rPr lang="tr-TR" dirty="0" smtClean="0"/>
              <a:t>YSA</a:t>
            </a:r>
            <a:r>
              <a:rPr lang="tr-TR" dirty="0"/>
              <a:t>, iyi performans sağlamak için çok sayıda basit işlem birimi (</a:t>
            </a:r>
            <a:r>
              <a:rPr lang="tr-TR" dirty="0" err="1"/>
              <a:t>neuron</a:t>
            </a:r>
            <a:r>
              <a:rPr lang="tr-TR" dirty="0"/>
              <a:t>) arasında bağlantı yapar. </a:t>
            </a:r>
            <a:endParaRPr lang="tr-TR" dirty="0" smtClean="0"/>
          </a:p>
          <a:p>
            <a:r>
              <a:rPr lang="tr-TR" dirty="0" smtClean="0"/>
              <a:t>YSA </a:t>
            </a:r>
            <a:r>
              <a:rPr lang="tr-TR" dirty="0"/>
              <a:t>ile beyin iki açıdan benzerdir: </a:t>
            </a:r>
            <a:endParaRPr lang="tr-TR" dirty="0" smtClean="0"/>
          </a:p>
          <a:p>
            <a:pPr lvl="1"/>
            <a:r>
              <a:rPr lang="tr-TR" dirty="0" smtClean="0"/>
              <a:t>Bilgi</a:t>
            </a:r>
            <a:r>
              <a:rPr lang="tr-TR" dirty="0"/>
              <a:t>, ağ tarafından öğrenme sürecinde çevreden edinilir. </a:t>
            </a:r>
            <a:endParaRPr lang="tr-TR" dirty="0" smtClean="0"/>
          </a:p>
          <a:p>
            <a:pPr lvl="1"/>
            <a:r>
              <a:rPr lang="tr-TR" dirty="0" err="1" smtClean="0"/>
              <a:t>Neuronlar</a:t>
            </a:r>
            <a:r>
              <a:rPr lang="tr-TR" dirty="0" smtClean="0"/>
              <a:t> </a:t>
            </a:r>
            <a:r>
              <a:rPr lang="tr-TR" dirty="0"/>
              <a:t>arasındaki bağlantının gücü (</a:t>
            </a:r>
            <a:r>
              <a:rPr lang="tr-TR" dirty="0" err="1"/>
              <a:t>synaptic</a:t>
            </a:r>
            <a:r>
              <a:rPr lang="tr-TR" dirty="0"/>
              <a:t> </a:t>
            </a:r>
            <a:r>
              <a:rPr lang="tr-TR" dirty="0" err="1"/>
              <a:t>weights</a:t>
            </a:r>
            <a:r>
              <a:rPr lang="tr-TR" dirty="0"/>
              <a:t>) kullanılarak edinilen bilgi saklanır. </a:t>
            </a:r>
            <a:endParaRPr lang="tr-TR" dirty="0"/>
          </a:p>
          <a:p>
            <a:pPr marL="274320" lvl="1">
              <a:spcBef>
                <a:spcPts val="600"/>
              </a:spcBef>
              <a:buSzPct val="70000"/>
              <a:buFont typeface="Wingdings"/>
              <a:buChar char=""/>
            </a:pPr>
            <a:r>
              <a:rPr lang="tr-TR" sz="2400" dirty="0" smtClean="0"/>
              <a:t>Öğrenme </a:t>
            </a:r>
            <a:r>
              <a:rPr lang="tr-TR" sz="2400" dirty="0"/>
              <a:t>sürecinde kullanılan öğrenme algoritması ile ağırlıklar değiştirilir. </a:t>
            </a:r>
          </a:p>
          <a:p>
            <a:pPr marL="274320" lvl="1">
              <a:spcBef>
                <a:spcPts val="600"/>
              </a:spcBef>
              <a:buSzPct val="70000"/>
              <a:buFont typeface="Wingdings"/>
              <a:buChar char=""/>
            </a:pPr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364857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YAPAY </a:t>
            </a:r>
            <a:r>
              <a:rPr lang="tr-TR" dirty="0" smtClean="0">
                <a:ea typeface="ＭＳ Ｐゴシック" pitchFamily="34" charset="-128"/>
              </a:rPr>
              <a:t>SİNİR AĞI NEDİR</a:t>
            </a:r>
            <a:r>
              <a:rPr lang="tr-TR" dirty="0" smtClean="0">
                <a:ea typeface="ＭＳ Ｐゴシック" pitchFamily="34" charset="-128"/>
              </a:rPr>
              <a:t>?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tr-TR" dirty="0" err="1"/>
              <a:t>Walter</a:t>
            </a:r>
            <a:r>
              <a:rPr lang="tr-TR" dirty="0"/>
              <a:t> </a:t>
            </a:r>
            <a:r>
              <a:rPr lang="tr-TR" dirty="0" err="1"/>
              <a:t>Pitts</a:t>
            </a:r>
            <a:r>
              <a:rPr lang="tr-TR" dirty="0"/>
              <a:t> ve </a:t>
            </a:r>
            <a:r>
              <a:rPr lang="tr-TR" dirty="0" err="1"/>
              <a:t>Warren</a:t>
            </a:r>
            <a:r>
              <a:rPr lang="tr-TR" dirty="0"/>
              <a:t> </a:t>
            </a:r>
            <a:r>
              <a:rPr lang="tr-TR" dirty="0" err="1"/>
              <a:t>McCulloch</a:t>
            </a:r>
            <a:r>
              <a:rPr lang="tr-TR" dirty="0"/>
              <a:t> tarafından 1943 yılında biyolojik nöronların ilk yapay nöron modeli oluşturulmuştur. </a:t>
            </a:r>
            <a:endParaRPr lang="tr-TR" dirty="0" smtClean="0"/>
          </a:p>
          <a:p>
            <a:r>
              <a:rPr lang="tr-TR" dirty="0" smtClean="0"/>
              <a:t>Bütün </a:t>
            </a:r>
            <a:r>
              <a:rPr lang="tr-TR" dirty="0"/>
              <a:t>mantıksal işlemler farklı eşik değerleri ve farklı ağırlıklar ile gerçekleştirilmiştir. </a:t>
            </a:r>
            <a:endParaRPr lang="tr-TR" dirty="0" smtClean="0"/>
          </a:p>
          <a:p>
            <a:r>
              <a:rPr lang="tr-TR" dirty="0" smtClean="0"/>
              <a:t>Donald </a:t>
            </a:r>
            <a:r>
              <a:rPr lang="tr-TR" dirty="0" err="1"/>
              <a:t>Hebb</a:t>
            </a:r>
            <a:r>
              <a:rPr lang="tr-TR" dirty="0"/>
              <a:t> tarafından 1949 yılında </a:t>
            </a:r>
            <a:r>
              <a:rPr lang="tr-TR" dirty="0" err="1"/>
              <a:t>Hebb</a:t>
            </a:r>
            <a:r>
              <a:rPr lang="tr-TR" dirty="0"/>
              <a:t> öğrenme kuralı geliştirilmiştir. </a:t>
            </a:r>
            <a:endParaRPr lang="tr-TR" dirty="0" smtClean="0"/>
          </a:p>
          <a:p>
            <a:r>
              <a:rPr lang="tr-TR" dirty="0" err="1" smtClean="0"/>
              <a:t>Hebb</a:t>
            </a:r>
            <a:r>
              <a:rPr lang="tr-TR" dirty="0" smtClean="0"/>
              <a:t> </a:t>
            </a:r>
            <a:r>
              <a:rPr lang="tr-TR" dirty="0"/>
              <a:t>kuralına göre, iki nöron aktifse ikisinin aralarındaki bağlantı güçlendirilir. </a:t>
            </a:r>
            <a:endParaRPr lang="tr-TR" dirty="0" smtClean="0"/>
          </a:p>
          <a:p>
            <a:r>
              <a:rPr lang="tr-TR" dirty="0" err="1" smtClean="0"/>
              <a:t>Rosenblatt</a:t>
            </a:r>
            <a:r>
              <a:rPr lang="tr-TR" dirty="0" smtClean="0"/>
              <a:t> </a:t>
            </a:r>
            <a:r>
              <a:rPr lang="tr-TR" dirty="0"/>
              <a:t>tarafından 1958 yılında ilk </a:t>
            </a:r>
            <a:r>
              <a:rPr lang="tr-TR" dirty="0" err="1"/>
              <a:t>perceptron</a:t>
            </a:r>
            <a:r>
              <a:rPr lang="tr-TR" dirty="0"/>
              <a:t> ve öğrenme metodu geliştirildi. </a:t>
            </a:r>
            <a:endParaRPr lang="tr-TR" dirty="0" smtClean="0"/>
          </a:p>
          <a:p>
            <a:r>
              <a:rPr lang="tr-TR" dirty="0" err="1" smtClean="0"/>
              <a:t>Widrow</a:t>
            </a:r>
            <a:r>
              <a:rPr lang="tr-TR" dirty="0" smtClean="0"/>
              <a:t> </a:t>
            </a:r>
            <a:r>
              <a:rPr lang="tr-TR" dirty="0"/>
              <a:t>ve </a:t>
            </a:r>
            <a:r>
              <a:rPr lang="tr-TR" dirty="0" err="1"/>
              <a:t>Hoff</a:t>
            </a:r>
            <a:r>
              <a:rPr lang="tr-TR" dirty="0"/>
              <a:t> tarafından 1960 yılında </a:t>
            </a:r>
            <a:r>
              <a:rPr lang="tr-TR" dirty="0" err="1"/>
              <a:t>Adaptive</a:t>
            </a:r>
            <a:r>
              <a:rPr lang="tr-TR" dirty="0"/>
              <a:t> </a:t>
            </a:r>
            <a:r>
              <a:rPr lang="tr-TR" dirty="0" err="1"/>
              <a:t>Linear</a:t>
            </a:r>
            <a:r>
              <a:rPr lang="tr-TR" dirty="0"/>
              <a:t> Element (ADALINE) geliştirildi. </a:t>
            </a:r>
            <a:endParaRPr lang="tr-TR" dirty="0" smtClean="0"/>
          </a:p>
          <a:p>
            <a:r>
              <a:rPr lang="tr-TR" dirty="0" err="1" smtClean="0"/>
              <a:t>Widrow</a:t>
            </a:r>
            <a:r>
              <a:rPr lang="tr-TR" dirty="0" smtClean="0"/>
              <a:t> </a:t>
            </a:r>
            <a:r>
              <a:rPr lang="tr-TR" dirty="0"/>
              <a:t>ve </a:t>
            </a:r>
            <a:r>
              <a:rPr lang="tr-TR" dirty="0" err="1"/>
              <a:t>Hoff</a:t>
            </a:r>
            <a:r>
              <a:rPr lang="tr-TR" dirty="0"/>
              <a:t>, </a:t>
            </a:r>
            <a:r>
              <a:rPr lang="tr-TR" dirty="0" err="1"/>
              <a:t>türevlenebilir</a:t>
            </a:r>
            <a:r>
              <a:rPr lang="tr-TR" dirty="0"/>
              <a:t> fonksiyonlarla </a:t>
            </a:r>
            <a:r>
              <a:rPr lang="tr-TR" dirty="0" err="1"/>
              <a:t>gradient</a:t>
            </a:r>
            <a:r>
              <a:rPr lang="tr-TR" dirty="0"/>
              <a:t> </a:t>
            </a:r>
            <a:r>
              <a:rPr lang="tr-TR" dirty="0" err="1"/>
              <a:t>descent</a:t>
            </a:r>
            <a:r>
              <a:rPr lang="tr-TR" dirty="0"/>
              <a:t> tabanlı öğrenme kuralını geliştirmiştir. </a:t>
            </a:r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1860075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YAPAY </a:t>
            </a:r>
            <a:r>
              <a:rPr lang="tr-TR" dirty="0" smtClean="0">
                <a:ea typeface="ＭＳ Ｐゴシック" pitchFamily="34" charset="-128"/>
              </a:rPr>
              <a:t>SİNİR AĞI NEDİR</a:t>
            </a:r>
            <a:r>
              <a:rPr lang="tr-TR" dirty="0" smtClean="0">
                <a:ea typeface="ＭＳ Ｐゴシック" pitchFamily="34" charset="-128"/>
              </a:rPr>
              <a:t>?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tr-TR" dirty="0" err="1"/>
              <a:t>Rosenblatt</a:t>
            </a:r>
            <a:r>
              <a:rPr lang="tr-TR" dirty="0"/>
              <a:t> 1961 yılında </a:t>
            </a:r>
            <a:r>
              <a:rPr lang="tr-TR" dirty="0" err="1"/>
              <a:t>backpropagation</a:t>
            </a:r>
            <a:r>
              <a:rPr lang="tr-TR" dirty="0"/>
              <a:t> öğrenme şemasını önerdi, ancak ağın eğitiminde başarılı olamadı. </a:t>
            </a:r>
            <a:endParaRPr lang="tr-TR" dirty="0" smtClean="0"/>
          </a:p>
          <a:p>
            <a:r>
              <a:rPr lang="tr-TR" dirty="0" err="1" smtClean="0"/>
              <a:t>Minsky</a:t>
            </a:r>
            <a:r>
              <a:rPr lang="tr-TR" dirty="0" smtClean="0"/>
              <a:t> </a:t>
            </a:r>
            <a:r>
              <a:rPr lang="tr-TR" dirty="0"/>
              <a:t>ve </a:t>
            </a:r>
            <a:r>
              <a:rPr lang="tr-TR" dirty="0" err="1"/>
              <a:t>Papert</a:t>
            </a:r>
            <a:r>
              <a:rPr lang="tr-TR" dirty="0"/>
              <a:t> 1969 yılında </a:t>
            </a:r>
            <a:r>
              <a:rPr lang="tr-TR" dirty="0" err="1"/>
              <a:t>perceptron’un</a:t>
            </a:r>
            <a:r>
              <a:rPr lang="tr-TR" dirty="0"/>
              <a:t> bazı basit mantıksal işlemlerde yetersiz olduğunu göstermiştir. </a:t>
            </a:r>
            <a:endParaRPr lang="tr-TR" dirty="0" smtClean="0"/>
          </a:p>
          <a:p>
            <a:r>
              <a:rPr lang="tr-TR" dirty="0" smtClean="0"/>
              <a:t>Bir </a:t>
            </a:r>
            <a:r>
              <a:rPr lang="tr-TR" dirty="0" err="1"/>
              <a:t>perceptron</a:t>
            </a:r>
            <a:r>
              <a:rPr lang="tr-TR" dirty="0"/>
              <a:t> ile XOR probleminin çözülemediği gösterilmiştir. </a:t>
            </a:r>
            <a:endParaRPr lang="tr-TR" dirty="0" smtClean="0"/>
          </a:p>
          <a:p>
            <a:r>
              <a:rPr lang="tr-TR" dirty="0" smtClean="0"/>
              <a:t>Çok </a:t>
            </a:r>
            <a:r>
              <a:rPr lang="tr-TR" dirty="0"/>
              <a:t>katmanlı ağ ile bu tür problemlerin çözülebileceği düşünüldü, ancak nasıl eğitilebileceği konusunda çözüm bulunamadı. </a:t>
            </a:r>
            <a:endParaRPr lang="tr-TR" dirty="0" smtClean="0"/>
          </a:p>
          <a:p>
            <a:r>
              <a:rPr lang="tr-TR" dirty="0" smtClean="0"/>
              <a:t>1980’li </a:t>
            </a:r>
            <a:r>
              <a:rPr lang="tr-TR" dirty="0"/>
              <a:t>yıllarda bu tür problemler çok katmanlı ve farklı ağ yapıları kullanılarak çözüldü. </a:t>
            </a:r>
            <a:endParaRPr lang="tr-TR" dirty="0" smtClean="0"/>
          </a:p>
          <a:p>
            <a:r>
              <a:rPr lang="tr-TR" dirty="0" smtClean="0"/>
              <a:t>Günümüzde</a:t>
            </a:r>
            <a:r>
              <a:rPr lang="tr-TR" dirty="0"/>
              <a:t>, YSA diğer yapay zeka teknikleriyle (</a:t>
            </a:r>
            <a:r>
              <a:rPr lang="tr-TR" dirty="0" err="1"/>
              <a:t>fuzzy</a:t>
            </a:r>
            <a:r>
              <a:rPr lang="tr-TR" dirty="0"/>
              <a:t> </a:t>
            </a:r>
            <a:r>
              <a:rPr lang="tr-TR" dirty="0" err="1"/>
              <a:t>logic</a:t>
            </a:r>
            <a:r>
              <a:rPr lang="tr-TR" dirty="0"/>
              <a:t>, genetik algoritma) birlikte kullanılarak çok daha etkin çözümler ortaya koymaktadır.</a:t>
            </a:r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220943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YAPAY </a:t>
            </a:r>
            <a:r>
              <a:rPr lang="tr-TR" dirty="0" smtClean="0">
                <a:ea typeface="ＭＳ Ｐゴシック" pitchFamily="34" charset="-128"/>
              </a:rPr>
              <a:t>SİNİR AĞI ÖZELLİKLERİ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tr-TR" dirty="0"/>
              <a:t>YSA, birbirine çok sayıda bağlantıya sahip olan çok sayıda </a:t>
            </a:r>
            <a:r>
              <a:rPr lang="tr-TR" dirty="0" err="1"/>
              <a:t>neuron</a:t>
            </a:r>
            <a:r>
              <a:rPr lang="tr-TR" dirty="0"/>
              <a:t> ile öğrenme ve genelleme özelliğine sahiptir. </a:t>
            </a:r>
            <a:endParaRPr lang="tr-TR" dirty="0" smtClean="0"/>
          </a:p>
          <a:p>
            <a:r>
              <a:rPr lang="tr-TR" dirty="0" smtClean="0"/>
              <a:t>Genelleme</a:t>
            </a:r>
            <a:r>
              <a:rPr lang="tr-TR" dirty="0"/>
              <a:t>, sinir ağlarının eğitim sırasında görmediği girişler için makul çıkışlar üretmesidir. </a:t>
            </a:r>
            <a:endParaRPr lang="tr-TR" dirty="0" smtClean="0"/>
          </a:p>
          <a:p>
            <a:r>
              <a:rPr lang="tr-TR" dirty="0" smtClean="0"/>
              <a:t>YSA</a:t>
            </a:r>
            <a:r>
              <a:rPr lang="tr-TR" dirty="0"/>
              <a:t>, karmaşık ve zor problemler için iyi düzeyde çözümler üretir. </a:t>
            </a:r>
            <a:endParaRPr lang="tr-TR" dirty="0" smtClean="0"/>
          </a:p>
          <a:p>
            <a:r>
              <a:rPr lang="tr-TR" dirty="0" smtClean="0"/>
              <a:t>YSA </a:t>
            </a:r>
            <a:r>
              <a:rPr lang="tr-TR" dirty="0"/>
              <a:t>aşağıdaki önemli özelliklere ve yeteneklere sahiptir: </a:t>
            </a:r>
            <a:endParaRPr lang="tr-TR" dirty="0" smtClean="0"/>
          </a:p>
          <a:p>
            <a:pPr lvl="1"/>
            <a:r>
              <a:rPr lang="tr-TR" dirty="0" err="1" smtClean="0"/>
              <a:t>Nonlineer</a:t>
            </a:r>
            <a:r>
              <a:rPr lang="tr-TR" dirty="0" smtClean="0"/>
              <a:t> </a:t>
            </a:r>
          </a:p>
          <a:p>
            <a:pPr lvl="1"/>
            <a:r>
              <a:rPr lang="tr-TR" dirty="0" smtClean="0"/>
              <a:t>Giriş-çıkış </a:t>
            </a:r>
            <a:r>
              <a:rPr lang="tr-TR" dirty="0"/>
              <a:t>eşleştirme </a:t>
            </a:r>
            <a:endParaRPr lang="tr-TR" dirty="0" smtClean="0"/>
          </a:p>
          <a:p>
            <a:pPr lvl="1"/>
            <a:r>
              <a:rPr lang="tr-TR" dirty="0" err="1" smtClean="0"/>
              <a:t>Adaptif</a:t>
            </a:r>
            <a:r>
              <a:rPr lang="tr-TR" dirty="0" smtClean="0"/>
              <a:t> </a:t>
            </a:r>
          </a:p>
          <a:p>
            <a:pPr lvl="1"/>
            <a:r>
              <a:rPr lang="tr-TR" dirty="0" smtClean="0"/>
              <a:t>Kanıtlı </a:t>
            </a:r>
            <a:r>
              <a:rPr lang="tr-TR" dirty="0"/>
              <a:t>cevap </a:t>
            </a:r>
            <a:endParaRPr lang="tr-TR" dirty="0" smtClean="0"/>
          </a:p>
          <a:p>
            <a:pPr lvl="1"/>
            <a:r>
              <a:rPr lang="tr-TR" dirty="0" smtClean="0"/>
              <a:t>Bağlamsal </a:t>
            </a:r>
            <a:r>
              <a:rPr lang="tr-TR" dirty="0"/>
              <a:t>bilgi </a:t>
            </a:r>
            <a:endParaRPr lang="tr-TR" dirty="0" smtClean="0"/>
          </a:p>
          <a:p>
            <a:pPr lvl="1"/>
            <a:r>
              <a:rPr lang="tr-TR" dirty="0" smtClean="0"/>
              <a:t>Hata </a:t>
            </a:r>
            <a:r>
              <a:rPr lang="tr-TR" dirty="0"/>
              <a:t>toleransı </a:t>
            </a:r>
            <a:endParaRPr lang="tr-TR" dirty="0" smtClean="0"/>
          </a:p>
          <a:p>
            <a:pPr lvl="1"/>
            <a:r>
              <a:rPr lang="tr-TR" dirty="0" err="1" smtClean="0"/>
              <a:t>Nörobiyolojik</a:t>
            </a:r>
            <a:r>
              <a:rPr lang="tr-TR" dirty="0" smtClean="0"/>
              <a:t> </a:t>
            </a:r>
            <a:r>
              <a:rPr lang="tr-TR" dirty="0"/>
              <a:t>analoji</a:t>
            </a:r>
          </a:p>
        </p:txBody>
      </p:sp>
    </p:spTree>
    <p:extLst>
      <p:ext uri="{BB962C8B-B14F-4D97-AF65-F5344CB8AC3E}">
        <p14:creationId xmlns:p14="http://schemas.microsoft.com/office/powerpoint/2010/main" val="4197609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YAPAY </a:t>
            </a:r>
            <a:r>
              <a:rPr lang="tr-TR" dirty="0" smtClean="0">
                <a:ea typeface="ＭＳ Ｐゴシック" pitchFamily="34" charset="-128"/>
              </a:rPr>
              <a:t>SİNİR AĞI ÖZELLİKLERİ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tr-TR" dirty="0" err="1" smtClean="0"/>
              <a:t>Nonlineer</a:t>
            </a:r>
            <a:r>
              <a:rPr lang="tr-TR" dirty="0" smtClean="0"/>
              <a:t> </a:t>
            </a:r>
          </a:p>
          <a:p>
            <a:pPr lvl="1"/>
            <a:r>
              <a:rPr lang="tr-TR" dirty="0"/>
              <a:t>Bir yapay </a:t>
            </a:r>
            <a:r>
              <a:rPr lang="tr-TR" dirty="0" err="1"/>
              <a:t>neuron</a:t>
            </a:r>
            <a:r>
              <a:rPr lang="tr-TR" dirty="0"/>
              <a:t>, lineer veya </a:t>
            </a:r>
            <a:r>
              <a:rPr lang="tr-TR" dirty="0" err="1"/>
              <a:t>nonlineer</a:t>
            </a:r>
            <a:r>
              <a:rPr lang="tr-TR" dirty="0"/>
              <a:t> olabilir. </a:t>
            </a:r>
          </a:p>
          <a:p>
            <a:pPr lvl="1"/>
            <a:r>
              <a:rPr lang="tr-TR" dirty="0"/>
              <a:t>Girişin yüksek </a:t>
            </a:r>
            <a:r>
              <a:rPr lang="tr-TR" dirty="0" err="1"/>
              <a:t>nonlineer</a:t>
            </a:r>
            <a:r>
              <a:rPr lang="tr-TR" dirty="0"/>
              <a:t> olduğu durumlarda (ses sinyali) </a:t>
            </a:r>
            <a:r>
              <a:rPr lang="tr-TR" dirty="0" err="1"/>
              <a:t>YSA’nın</a:t>
            </a:r>
            <a:r>
              <a:rPr lang="tr-TR" dirty="0"/>
              <a:t> </a:t>
            </a:r>
            <a:r>
              <a:rPr lang="tr-TR" dirty="0" err="1"/>
              <a:t>nonlineer</a:t>
            </a:r>
            <a:r>
              <a:rPr lang="tr-TR" dirty="0"/>
              <a:t> olma özelliği çok önemlidir. </a:t>
            </a:r>
          </a:p>
          <a:p>
            <a:r>
              <a:rPr lang="tr-TR" sz="2400" dirty="0" smtClean="0"/>
              <a:t>Giriş-çıkış eşleştirme </a:t>
            </a:r>
          </a:p>
          <a:p>
            <a:pPr lvl="1"/>
            <a:r>
              <a:rPr lang="tr-TR" dirty="0" smtClean="0"/>
              <a:t>Popüler </a:t>
            </a:r>
            <a:r>
              <a:rPr lang="tr-TR" dirty="0"/>
              <a:t>öğrenme yaklaşımı olan denetimli öğrenme (</a:t>
            </a:r>
            <a:r>
              <a:rPr lang="tr-TR" dirty="0" err="1"/>
              <a:t>supervised</a:t>
            </a:r>
            <a:r>
              <a:rPr lang="tr-TR" dirty="0"/>
              <a:t> </a:t>
            </a:r>
            <a:r>
              <a:rPr lang="tr-TR" dirty="0" err="1"/>
              <a:t>learning</a:t>
            </a:r>
            <a:r>
              <a:rPr lang="tr-TR" dirty="0"/>
              <a:t>) ağırlıkları giriş örneklerine göre değiştirir. </a:t>
            </a:r>
            <a:endParaRPr lang="tr-TR" dirty="0" smtClean="0"/>
          </a:p>
          <a:p>
            <a:pPr lvl="1"/>
            <a:r>
              <a:rPr lang="tr-TR" dirty="0" smtClean="0"/>
              <a:t>YSA</a:t>
            </a:r>
            <a:r>
              <a:rPr lang="tr-TR" dirty="0"/>
              <a:t>, öğrenme süreci sonunda giriş-çıkış eşleştirmesini oluşturur. </a:t>
            </a:r>
          </a:p>
          <a:p>
            <a:r>
              <a:rPr lang="tr-TR" dirty="0" err="1" smtClean="0"/>
              <a:t>Adaptif</a:t>
            </a:r>
            <a:endParaRPr lang="tr-TR" dirty="0" smtClean="0"/>
          </a:p>
          <a:p>
            <a:pPr lvl="1"/>
            <a:r>
              <a:rPr lang="tr-TR" dirty="0" smtClean="0"/>
              <a:t>YSA</a:t>
            </a:r>
            <a:r>
              <a:rPr lang="tr-TR" dirty="0"/>
              <a:t>, ağırlıklarını çevresindeki değişimlere adapte edebilir</a:t>
            </a:r>
            <a:r>
              <a:rPr lang="tr-TR" dirty="0" smtClean="0"/>
              <a:t>.</a:t>
            </a:r>
          </a:p>
          <a:p>
            <a:pPr lvl="1"/>
            <a:r>
              <a:rPr lang="tr-TR" dirty="0" smtClean="0"/>
              <a:t>Bir </a:t>
            </a:r>
            <a:r>
              <a:rPr lang="tr-TR" dirty="0"/>
              <a:t>problem için eğitilen sinir ağı, problemin değişen şartları için yeniden </a:t>
            </a:r>
            <a:r>
              <a:rPr lang="tr-TR" dirty="0" smtClean="0"/>
              <a:t>eğitilebilir</a:t>
            </a:r>
            <a:r>
              <a:rPr lang="tr-TR" dirty="0"/>
              <a:t>.</a:t>
            </a:r>
          </a:p>
          <a:p>
            <a:pPr marL="365760" lvl="1" indent="0">
              <a:buNone/>
            </a:pPr>
            <a:endParaRPr lang="tr-TR" dirty="0" smtClean="0"/>
          </a:p>
        </p:txBody>
      </p:sp>
    </p:spTree>
    <p:extLst>
      <p:ext uri="{BB962C8B-B14F-4D97-AF65-F5344CB8AC3E}">
        <p14:creationId xmlns:p14="http://schemas.microsoft.com/office/powerpoint/2010/main" val="3394829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YAPAY </a:t>
            </a:r>
            <a:r>
              <a:rPr lang="tr-TR" dirty="0" smtClean="0">
                <a:ea typeface="ＭＳ Ｐゴシック" pitchFamily="34" charset="-128"/>
              </a:rPr>
              <a:t>SİNİR AĞI ÖZELLİKLERİ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>
            <a:normAutofit fontScale="92500" lnSpcReduction="10000"/>
          </a:bodyPr>
          <a:lstStyle/>
          <a:p>
            <a:r>
              <a:rPr lang="tr-TR" dirty="0"/>
              <a:t>Kanıtlı cevap </a:t>
            </a:r>
            <a:endParaRPr lang="tr-TR" dirty="0" smtClean="0"/>
          </a:p>
          <a:p>
            <a:pPr lvl="1"/>
            <a:r>
              <a:rPr lang="tr-TR" dirty="0" smtClean="0"/>
              <a:t>Sınıflandırma </a:t>
            </a:r>
            <a:r>
              <a:rPr lang="tr-TR" dirty="0"/>
              <a:t>kararının güvenilirliğini belirlemek için eğitilebilir. </a:t>
            </a:r>
            <a:endParaRPr lang="tr-TR" dirty="0" smtClean="0"/>
          </a:p>
          <a:p>
            <a:pPr lvl="1"/>
            <a:r>
              <a:rPr lang="tr-TR" dirty="0" smtClean="0"/>
              <a:t>YSA</a:t>
            </a:r>
            <a:r>
              <a:rPr lang="tr-TR" dirty="0"/>
              <a:t>, belirsiz örüntüleri ret edebilir. </a:t>
            </a:r>
            <a:endParaRPr lang="tr-TR" dirty="0" smtClean="0"/>
          </a:p>
          <a:p>
            <a:r>
              <a:rPr lang="tr-TR" dirty="0" smtClean="0"/>
              <a:t>Bağlamsal </a:t>
            </a:r>
            <a:r>
              <a:rPr lang="tr-TR" dirty="0"/>
              <a:t>bilgi </a:t>
            </a:r>
            <a:endParaRPr lang="tr-TR" dirty="0" smtClean="0"/>
          </a:p>
          <a:p>
            <a:pPr lvl="1"/>
            <a:r>
              <a:rPr lang="tr-TR" dirty="0" smtClean="0"/>
              <a:t>Her </a:t>
            </a:r>
            <a:r>
              <a:rPr lang="tr-TR" dirty="0" err="1"/>
              <a:t>neuron</a:t>
            </a:r>
            <a:r>
              <a:rPr lang="tr-TR" dirty="0"/>
              <a:t>, </a:t>
            </a:r>
            <a:r>
              <a:rPr lang="tr-TR" dirty="0" err="1"/>
              <a:t>YSA’da</a:t>
            </a:r>
            <a:r>
              <a:rPr lang="tr-TR" dirty="0"/>
              <a:t> diğer </a:t>
            </a:r>
            <a:r>
              <a:rPr lang="tr-TR" dirty="0" err="1"/>
              <a:t>neuronların</a:t>
            </a:r>
            <a:r>
              <a:rPr lang="tr-TR" dirty="0"/>
              <a:t> aktivitesinden etkilenir. </a:t>
            </a:r>
            <a:endParaRPr lang="tr-TR" dirty="0" smtClean="0"/>
          </a:p>
          <a:p>
            <a:r>
              <a:rPr lang="tr-TR" dirty="0" smtClean="0"/>
              <a:t>Hata </a:t>
            </a:r>
            <a:r>
              <a:rPr lang="tr-TR" dirty="0"/>
              <a:t>toleransı </a:t>
            </a:r>
            <a:endParaRPr lang="tr-TR" dirty="0" smtClean="0"/>
          </a:p>
          <a:p>
            <a:pPr lvl="1"/>
            <a:r>
              <a:rPr lang="tr-TR" dirty="0" smtClean="0"/>
              <a:t>YSA</a:t>
            </a:r>
            <a:r>
              <a:rPr lang="tr-TR" dirty="0"/>
              <a:t>, hata toleransına sahiptir ve olumsuz şartlarda performansı düşer (</a:t>
            </a:r>
            <a:r>
              <a:rPr lang="tr-TR" dirty="0" err="1"/>
              <a:t>graceful</a:t>
            </a:r>
            <a:r>
              <a:rPr lang="tr-TR" dirty="0"/>
              <a:t> </a:t>
            </a:r>
            <a:r>
              <a:rPr lang="tr-TR" dirty="0" err="1"/>
              <a:t>degradation</a:t>
            </a:r>
            <a:r>
              <a:rPr lang="tr-TR" dirty="0"/>
              <a:t>). </a:t>
            </a:r>
            <a:endParaRPr lang="tr-TR" dirty="0" smtClean="0"/>
          </a:p>
          <a:p>
            <a:r>
              <a:rPr lang="tr-TR" dirty="0" err="1" smtClean="0"/>
              <a:t>Nörobiyolojik</a:t>
            </a:r>
            <a:r>
              <a:rPr lang="tr-TR" dirty="0" smtClean="0"/>
              <a:t> </a:t>
            </a:r>
            <a:r>
              <a:rPr lang="tr-TR" dirty="0"/>
              <a:t>analoji </a:t>
            </a:r>
            <a:endParaRPr lang="tr-TR" dirty="0" smtClean="0"/>
          </a:p>
          <a:p>
            <a:pPr lvl="1"/>
            <a:r>
              <a:rPr lang="tr-TR" dirty="0" smtClean="0"/>
              <a:t>YSA </a:t>
            </a:r>
            <a:r>
              <a:rPr lang="tr-TR" dirty="0"/>
              <a:t>beyin taklit edilerek tasarlanır. </a:t>
            </a:r>
            <a:endParaRPr lang="tr-TR" dirty="0" smtClean="0"/>
          </a:p>
          <a:p>
            <a:pPr lvl="1"/>
            <a:r>
              <a:rPr lang="tr-TR" dirty="0" smtClean="0"/>
              <a:t>Beyin</a:t>
            </a:r>
            <a:r>
              <a:rPr lang="tr-TR" dirty="0"/>
              <a:t>, hata toleranslı paralel işlemin fiziksel olabilirliğini, aynı zamanda hızlı ve güçlü olduğunu ispatlar. </a:t>
            </a:r>
          </a:p>
        </p:txBody>
      </p:sp>
    </p:spTree>
    <p:extLst>
      <p:ext uri="{BB962C8B-B14F-4D97-AF65-F5344CB8AC3E}">
        <p14:creationId xmlns:p14="http://schemas.microsoft.com/office/powerpoint/2010/main" val="2656424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İNSAN BEYNİ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>
            <a:normAutofit/>
          </a:bodyPr>
          <a:lstStyle/>
          <a:p>
            <a:r>
              <a:rPr lang="tr-TR" dirty="0"/>
              <a:t>İnsan beyninde 10 milyar </a:t>
            </a:r>
            <a:r>
              <a:rPr lang="tr-TR" dirty="0" err="1"/>
              <a:t>neuron</a:t>
            </a:r>
            <a:r>
              <a:rPr lang="tr-TR" dirty="0"/>
              <a:t> ve 60 trilyon bağlantı olduğu tahmin edilmektedir. </a:t>
            </a:r>
            <a:endParaRPr lang="tr-TR" dirty="0" smtClean="0"/>
          </a:p>
          <a:p>
            <a:r>
              <a:rPr lang="tr-TR" dirty="0" err="1" smtClean="0"/>
              <a:t>Sinapslar</a:t>
            </a:r>
            <a:r>
              <a:rPr lang="tr-TR" dirty="0" smtClean="0"/>
              <a:t> </a:t>
            </a:r>
            <a:r>
              <a:rPr lang="tr-TR" dirty="0"/>
              <a:t>veya sinir uçları, </a:t>
            </a:r>
            <a:r>
              <a:rPr lang="tr-TR" dirty="0" err="1"/>
              <a:t>neuronlar</a:t>
            </a:r>
            <a:r>
              <a:rPr lang="tr-TR" dirty="0"/>
              <a:t> arasında etkileşimi sağlayan temel bileşenlerdir. </a:t>
            </a:r>
            <a:endParaRPr lang="tr-TR" dirty="0" smtClean="0"/>
          </a:p>
          <a:p>
            <a:r>
              <a:rPr lang="tr-TR" dirty="0" err="1" smtClean="0"/>
              <a:t>Plastisite</a:t>
            </a:r>
            <a:r>
              <a:rPr lang="tr-TR" dirty="0"/>
              <a:t>, sinir sisteminin çevresine adapte olarak gelişmesine izin verir. </a:t>
            </a:r>
            <a:endParaRPr lang="tr-TR" dirty="0" smtClean="0"/>
          </a:p>
          <a:p>
            <a:r>
              <a:rPr lang="tr-TR" dirty="0" err="1" smtClean="0"/>
              <a:t>Plastisite</a:t>
            </a:r>
            <a:r>
              <a:rPr lang="tr-TR" dirty="0" smtClean="0"/>
              <a:t> </a:t>
            </a:r>
            <a:r>
              <a:rPr lang="tr-TR" dirty="0"/>
              <a:t>ile; </a:t>
            </a:r>
            <a:endParaRPr lang="tr-TR" dirty="0" smtClean="0"/>
          </a:p>
          <a:p>
            <a:pPr lvl="1"/>
            <a:r>
              <a:rPr lang="tr-TR" dirty="0" err="1" smtClean="0"/>
              <a:t>Neuronlar</a:t>
            </a:r>
            <a:r>
              <a:rPr lang="tr-TR" dirty="0" smtClean="0"/>
              <a:t> </a:t>
            </a:r>
            <a:r>
              <a:rPr lang="tr-TR" dirty="0"/>
              <a:t>arasında yeni </a:t>
            </a:r>
            <a:r>
              <a:rPr lang="tr-TR" dirty="0" err="1"/>
              <a:t>sinaptik</a:t>
            </a:r>
            <a:r>
              <a:rPr lang="tr-TR" dirty="0"/>
              <a:t> bağlantılar oluşturulur. </a:t>
            </a:r>
            <a:endParaRPr lang="tr-TR" dirty="0" smtClean="0"/>
          </a:p>
          <a:p>
            <a:pPr lvl="1"/>
            <a:r>
              <a:rPr lang="tr-TR" dirty="0" err="1" smtClean="0"/>
              <a:t>Varolan</a:t>
            </a:r>
            <a:r>
              <a:rPr lang="tr-TR" dirty="0" smtClean="0"/>
              <a:t> </a:t>
            </a:r>
            <a:r>
              <a:rPr lang="tr-TR" dirty="0" err="1"/>
              <a:t>sinaptik</a:t>
            </a:r>
            <a:r>
              <a:rPr lang="tr-TR" dirty="0"/>
              <a:t> bağlantılar değiştirilir. </a:t>
            </a:r>
            <a:endParaRPr lang="tr-TR" dirty="0" smtClean="0"/>
          </a:p>
          <a:p>
            <a:r>
              <a:rPr lang="tr-TR" dirty="0" smtClean="0"/>
              <a:t>Beyinde </a:t>
            </a:r>
            <a:r>
              <a:rPr lang="tr-TR" dirty="0"/>
              <a:t>farklı kısımlardaki </a:t>
            </a:r>
            <a:r>
              <a:rPr lang="tr-TR" dirty="0" err="1"/>
              <a:t>neuronlar</a:t>
            </a:r>
            <a:r>
              <a:rPr lang="tr-TR" dirty="0"/>
              <a:t> çok farklı boyutlarda ve </a:t>
            </a:r>
            <a:r>
              <a:rPr lang="tr-TR" dirty="0" err="1"/>
              <a:t>şekilerdedir</a:t>
            </a:r>
            <a:r>
              <a:rPr lang="tr-T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58844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İNSAN BEYNİ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10744" cy="4873752"/>
          </a:xfrm>
        </p:spPr>
        <p:txBody>
          <a:bodyPr>
            <a:normAutofit/>
          </a:bodyPr>
          <a:lstStyle/>
          <a:p>
            <a:r>
              <a:rPr lang="tr-TR" dirty="0"/>
              <a:t>Bir </a:t>
            </a:r>
            <a:r>
              <a:rPr lang="tr-TR" dirty="0" err="1"/>
              <a:t>neuron</a:t>
            </a:r>
            <a:r>
              <a:rPr lang="tr-TR" dirty="0"/>
              <a:t>, 10.000 veya daha fazla bağlantı alabilir ve binlerce hedef hücreye çıkış üretebilir</a:t>
            </a:r>
            <a:r>
              <a:rPr lang="tr-TR" dirty="0" smtClean="0"/>
              <a:t>.</a:t>
            </a:r>
          </a:p>
          <a:p>
            <a:r>
              <a:rPr lang="tr-TR" dirty="0" err="1" smtClean="0"/>
              <a:t>Neuronlar</a:t>
            </a:r>
            <a:r>
              <a:rPr lang="tr-TR" dirty="0" smtClean="0"/>
              <a:t> </a:t>
            </a:r>
            <a:r>
              <a:rPr lang="tr-TR" dirty="0"/>
              <a:t>arasındaki bağlantıyı </a:t>
            </a:r>
            <a:r>
              <a:rPr lang="tr-TR" dirty="0" err="1"/>
              <a:t>axon’lar</a:t>
            </a:r>
            <a:r>
              <a:rPr lang="tr-TR" dirty="0"/>
              <a:t> sağlar</a:t>
            </a:r>
            <a:r>
              <a:rPr lang="tr-TR" dirty="0" smtClean="0"/>
              <a:t>.</a:t>
            </a:r>
          </a:p>
          <a:p>
            <a:r>
              <a:rPr lang="tr-TR" dirty="0" err="1" smtClean="0"/>
              <a:t>Neuronlar</a:t>
            </a:r>
            <a:r>
              <a:rPr lang="tr-TR" dirty="0" smtClean="0"/>
              <a:t> </a:t>
            </a:r>
            <a:r>
              <a:rPr lang="tr-TR" dirty="0" err="1"/>
              <a:t>dendrite’ler</a:t>
            </a:r>
            <a:r>
              <a:rPr lang="tr-TR" dirty="0"/>
              <a:t> ile giriş alma işlemini yapar. </a:t>
            </a:r>
          </a:p>
        </p:txBody>
      </p:sp>
      <p:pic>
        <p:nvPicPr>
          <p:cNvPr id="8" name="Resim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2350" y="44624"/>
            <a:ext cx="5810250" cy="6768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956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>
                <a:ea typeface="ＭＳ Ｐゴシック" pitchFamily="34" charset="-128"/>
              </a:rPr>
              <a:t>Neuron</a:t>
            </a:r>
            <a:r>
              <a:rPr lang="tr-TR" dirty="0" smtClean="0">
                <a:ea typeface="ＭＳ Ｐゴシック" pitchFamily="34" charset="-128"/>
              </a:rPr>
              <a:t> Modeli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147248" cy="1396752"/>
          </a:xfrm>
        </p:spPr>
        <p:txBody>
          <a:bodyPr>
            <a:normAutofit/>
          </a:bodyPr>
          <a:lstStyle/>
          <a:p>
            <a:r>
              <a:rPr lang="tr-TR" sz="1600" dirty="0"/>
              <a:t>Bir </a:t>
            </a:r>
            <a:r>
              <a:rPr lang="tr-TR" sz="1600" dirty="0" err="1"/>
              <a:t>neuron</a:t>
            </a:r>
            <a:r>
              <a:rPr lang="tr-TR" sz="1600" dirty="0"/>
              <a:t>, sinir ağının temel işlem birimidir. </a:t>
            </a:r>
            <a:endParaRPr lang="tr-TR" sz="1600" dirty="0" smtClean="0"/>
          </a:p>
          <a:p>
            <a:r>
              <a:rPr lang="tr-TR" sz="1600" dirty="0" smtClean="0"/>
              <a:t>Bir </a:t>
            </a:r>
            <a:r>
              <a:rPr lang="tr-TR" sz="1600" dirty="0"/>
              <a:t>grup </a:t>
            </a:r>
            <a:r>
              <a:rPr lang="tr-TR" sz="1600" dirty="0" err="1"/>
              <a:t>sinaps</a:t>
            </a:r>
            <a:r>
              <a:rPr lang="tr-TR" sz="1600" dirty="0"/>
              <a:t> vardır ve belirli bir ağırlığa sahiptir. </a:t>
            </a:r>
            <a:endParaRPr lang="tr-TR" sz="1600" dirty="0" smtClean="0"/>
          </a:p>
          <a:p>
            <a:r>
              <a:rPr lang="tr-TR" sz="1600" dirty="0" smtClean="0"/>
              <a:t>Toplayıcı</a:t>
            </a:r>
            <a:r>
              <a:rPr lang="tr-TR" sz="1600" dirty="0"/>
              <a:t>, girişlerden gelen sinyalleri doğrusal olarak birleştirir. </a:t>
            </a:r>
            <a:endParaRPr lang="tr-TR" sz="1600" dirty="0" smtClean="0"/>
          </a:p>
          <a:p>
            <a:r>
              <a:rPr lang="tr-TR" sz="1600" dirty="0" smtClean="0"/>
              <a:t>Aktivasyon </a:t>
            </a:r>
            <a:r>
              <a:rPr lang="tr-TR" sz="1600" dirty="0"/>
              <a:t>fonksiyonu, </a:t>
            </a:r>
            <a:r>
              <a:rPr lang="tr-TR" sz="1600" dirty="0" err="1"/>
              <a:t>neuron’un</a:t>
            </a:r>
            <a:r>
              <a:rPr lang="tr-TR" sz="1600" dirty="0"/>
              <a:t> çıkış genliğini belirler.</a:t>
            </a:r>
            <a:endParaRPr lang="tr-TR" sz="1600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2893108"/>
            <a:ext cx="8688388" cy="3920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30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>
                <a:ea typeface="ＭＳ Ｐゴシック" pitchFamily="34" charset="-128"/>
              </a:rPr>
              <a:t>Neuron</a:t>
            </a:r>
            <a:r>
              <a:rPr lang="tr-TR" dirty="0" smtClean="0">
                <a:ea typeface="ＭＳ Ｐゴシック" pitchFamily="34" charset="-128"/>
              </a:rPr>
              <a:t> Modeli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147248" cy="7486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1600" b="1" dirty="0"/>
              <a:t>Aktivasyon fonksiyonları </a:t>
            </a:r>
            <a:endParaRPr lang="tr-TR" sz="1600" b="1" dirty="0" smtClean="0"/>
          </a:p>
          <a:p>
            <a:r>
              <a:rPr lang="tr-TR" sz="1600" dirty="0" err="1" smtClean="0"/>
              <a:t>Threshold</a:t>
            </a:r>
            <a:r>
              <a:rPr lang="tr-TR" sz="1600" dirty="0" smtClean="0"/>
              <a:t> </a:t>
            </a:r>
            <a:r>
              <a:rPr lang="tr-TR" sz="1600" dirty="0"/>
              <a:t>fonksiyonu, çıkışı bir eşik değere göre belirler. </a:t>
            </a:r>
            <a:endParaRPr lang="tr-TR" sz="1600" dirty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89" y="2204864"/>
            <a:ext cx="7701211" cy="2288852"/>
          </a:xfrm>
          <a:prstGeom prst="rect">
            <a:avLst/>
          </a:prstGeom>
        </p:spPr>
      </p:pic>
      <p:sp>
        <p:nvSpPr>
          <p:cNvPr id="6" name="İçerik Yer Tutucusu 2"/>
          <p:cNvSpPr txBox="1">
            <a:spLocks/>
          </p:cNvSpPr>
          <p:nvPr/>
        </p:nvSpPr>
        <p:spPr>
          <a:xfrm>
            <a:off x="467544" y="4423742"/>
            <a:ext cx="8147248" cy="37341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1600" dirty="0"/>
              <a:t>Sigmoid, en yaygın kullanılan aktivasyon fonksiyonudur </a:t>
            </a:r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4725144"/>
            <a:ext cx="7272808" cy="2194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53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>
                <a:ea typeface="ＭＳ Ｐゴシック" pitchFamily="34" charset="-128"/>
              </a:rPr>
              <a:t>Neuron</a:t>
            </a:r>
            <a:r>
              <a:rPr lang="tr-TR" dirty="0" smtClean="0">
                <a:ea typeface="ＭＳ Ｐゴシック" pitchFamily="34" charset="-128"/>
              </a:rPr>
              <a:t> Modeli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67544" y="1344700"/>
            <a:ext cx="8147248" cy="3743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1600" b="1" dirty="0"/>
              <a:t>Aktivasyon fonksiyonları </a:t>
            </a:r>
            <a:endParaRPr lang="tr-TR" sz="1600" b="1" dirty="0" smtClean="0"/>
          </a:p>
        </p:txBody>
      </p:sp>
      <p:pic>
        <p:nvPicPr>
          <p:cNvPr id="11" name="Resim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669901"/>
            <a:ext cx="7656511" cy="518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529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YAPAY SİNİR AĞI MİMARİLERİ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147248" cy="1396752"/>
          </a:xfrm>
        </p:spPr>
        <p:txBody>
          <a:bodyPr>
            <a:normAutofit/>
          </a:bodyPr>
          <a:lstStyle/>
          <a:p>
            <a:r>
              <a:rPr lang="tr-TR" dirty="0"/>
              <a:t>Komple bağlı ağlar (</a:t>
            </a:r>
            <a:r>
              <a:rPr lang="tr-TR" dirty="0" err="1"/>
              <a:t>fully</a:t>
            </a:r>
            <a:r>
              <a:rPr lang="tr-TR" dirty="0"/>
              <a:t> </a:t>
            </a:r>
            <a:r>
              <a:rPr lang="tr-TR" dirty="0" err="1"/>
              <a:t>connected</a:t>
            </a:r>
            <a:r>
              <a:rPr lang="tr-TR" dirty="0"/>
              <a:t> </a:t>
            </a:r>
            <a:r>
              <a:rPr lang="tr-TR" dirty="0" err="1"/>
              <a:t>networks</a:t>
            </a:r>
            <a:r>
              <a:rPr lang="tr-TR" dirty="0"/>
              <a:t>) </a:t>
            </a:r>
            <a:endParaRPr lang="tr-TR" dirty="0" smtClean="0"/>
          </a:p>
          <a:p>
            <a:pPr lvl="1"/>
            <a:r>
              <a:rPr lang="tr-TR" dirty="0" smtClean="0"/>
              <a:t>Her </a:t>
            </a:r>
            <a:r>
              <a:rPr lang="tr-TR" dirty="0" err="1"/>
              <a:t>node</a:t>
            </a:r>
            <a:r>
              <a:rPr lang="tr-TR" dirty="0"/>
              <a:t> diğer tüm </a:t>
            </a:r>
            <a:r>
              <a:rPr lang="tr-TR" dirty="0" err="1"/>
              <a:t>node’lara</a:t>
            </a:r>
            <a:r>
              <a:rPr lang="tr-TR" dirty="0"/>
              <a:t> bağlıdır. </a:t>
            </a:r>
            <a:endParaRPr lang="tr-TR" dirty="0" smtClean="0"/>
          </a:p>
          <a:p>
            <a:pPr lvl="1"/>
            <a:r>
              <a:rPr lang="tr-TR" dirty="0" smtClean="0"/>
              <a:t>Bağlantılar </a:t>
            </a:r>
            <a:r>
              <a:rPr lang="tr-TR" dirty="0"/>
              <a:t>pozitif, negatif veya 0 olabilir</a:t>
            </a:r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2996952"/>
            <a:ext cx="5448772" cy="323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602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YAPAY SİNİR AĞI MİMARİLERİ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147248" cy="1396752"/>
          </a:xfrm>
        </p:spPr>
        <p:txBody>
          <a:bodyPr>
            <a:normAutofit/>
          </a:bodyPr>
          <a:lstStyle/>
          <a:p>
            <a:r>
              <a:rPr lang="tr-TR" dirty="0"/>
              <a:t>Katmanlı ağlar (</a:t>
            </a:r>
            <a:r>
              <a:rPr lang="tr-TR" dirty="0" err="1"/>
              <a:t>layered</a:t>
            </a:r>
            <a:r>
              <a:rPr lang="tr-TR" dirty="0"/>
              <a:t> </a:t>
            </a:r>
            <a:r>
              <a:rPr lang="tr-TR" dirty="0" err="1"/>
              <a:t>networks</a:t>
            </a:r>
            <a:r>
              <a:rPr lang="tr-TR" dirty="0"/>
              <a:t>) </a:t>
            </a:r>
            <a:endParaRPr lang="tr-TR" dirty="0" smtClean="0"/>
          </a:p>
          <a:p>
            <a:pPr lvl="1"/>
            <a:r>
              <a:rPr lang="tr-TR" dirty="0" err="1" smtClean="0"/>
              <a:t>Node’lar</a:t>
            </a:r>
            <a:r>
              <a:rPr lang="tr-TR" dirty="0" smtClean="0"/>
              <a:t> </a:t>
            </a:r>
            <a:r>
              <a:rPr lang="tr-TR" dirty="0"/>
              <a:t>katman ismi verilen alt gruplar halindedir. </a:t>
            </a:r>
            <a:endParaRPr lang="tr-TR" dirty="0" smtClean="0"/>
          </a:p>
          <a:p>
            <a:pPr lvl="1"/>
            <a:r>
              <a:rPr lang="tr-TR" dirty="0" smtClean="0"/>
              <a:t>İleri </a:t>
            </a:r>
            <a:r>
              <a:rPr lang="tr-TR" dirty="0"/>
              <a:t>katmandan geriye doğru bağlantı olamaz. </a:t>
            </a:r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3021393"/>
            <a:ext cx="5890770" cy="3215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990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YAPAY SİNİR AĞI MİMARİLERİ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147248" cy="1396752"/>
          </a:xfrm>
        </p:spPr>
        <p:txBody>
          <a:bodyPr>
            <a:normAutofit fontScale="85000" lnSpcReduction="10000"/>
          </a:bodyPr>
          <a:lstStyle/>
          <a:p>
            <a:r>
              <a:rPr lang="tr-TR" dirty="0"/>
              <a:t>Katmanlı ileri beslemeli ağlar (</a:t>
            </a:r>
            <a:r>
              <a:rPr lang="tr-TR" dirty="0" err="1"/>
              <a:t>layered</a:t>
            </a:r>
            <a:r>
              <a:rPr lang="tr-TR" dirty="0"/>
              <a:t> </a:t>
            </a:r>
            <a:r>
              <a:rPr lang="tr-TR" dirty="0" err="1"/>
              <a:t>feedforward</a:t>
            </a:r>
            <a:r>
              <a:rPr lang="tr-TR" dirty="0"/>
              <a:t> </a:t>
            </a:r>
            <a:r>
              <a:rPr lang="tr-TR" dirty="0" err="1"/>
              <a:t>networks</a:t>
            </a:r>
            <a:r>
              <a:rPr lang="tr-TR" dirty="0"/>
              <a:t>) </a:t>
            </a:r>
            <a:endParaRPr lang="tr-TR" dirty="0" smtClean="0"/>
          </a:p>
          <a:p>
            <a:pPr lvl="1"/>
            <a:r>
              <a:rPr lang="tr-TR" dirty="0" smtClean="0"/>
              <a:t>Bağlantılar</a:t>
            </a:r>
            <a:r>
              <a:rPr lang="tr-TR" dirty="0"/>
              <a:t>, </a:t>
            </a:r>
            <a:r>
              <a:rPr lang="tr-TR" dirty="0" err="1"/>
              <a:t>i.katmandaki</a:t>
            </a:r>
            <a:r>
              <a:rPr lang="tr-TR" dirty="0"/>
              <a:t> </a:t>
            </a:r>
            <a:r>
              <a:rPr lang="tr-TR" dirty="0" err="1"/>
              <a:t>neuron</a:t>
            </a:r>
            <a:r>
              <a:rPr lang="tr-TR" dirty="0"/>
              <a:t> ile i+1.katmandaki </a:t>
            </a:r>
            <a:r>
              <a:rPr lang="tr-TR" dirty="0" err="1"/>
              <a:t>neuronlar</a:t>
            </a:r>
            <a:r>
              <a:rPr lang="tr-TR" dirty="0"/>
              <a:t> arasında </a:t>
            </a:r>
            <a:r>
              <a:rPr lang="tr-TR" dirty="0" smtClean="0"/>
              <a:t>yapılabilir.</a:t>
            </a:r>
          </a:p>
          <a:p>
            <a:pPr lvl="1"/>
            <a:r>
              <a:rPr lang="tr-TR" dirty="0" smtClean="0"/>
              <a:t>En </a:t>
            </a:r>
            <a:r>
              <a:rPr lang="tr-TR" dirty="0"/>
              <a:t>yaygın kullanılan ağ yapısıdır. </a:t>
            </a:r>
            <a:endParaRPr lang="tr-TR" dirty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2996952"/>
            <a:ext cx="5509737" cy="2933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848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YAPAY SİNİR AĞI MİMARİLERİ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147248" cy="2188840"/>
          </a:xfrm>
        </p:spPr>
        <p:txBody>
          <a:bodyPr>
            <a:noAutofit/>
          </a:bodyPr>
          <a:lstStyle/>
          <a:p>
            <a:r>
              <a:rPr lang="tr-TR" sz="2000" dirty="0"/>
              <a:t>Tek katmanlı ileri beslemeli ağlar </a:t>
            </a:r>
            <a:endParaRPr lang="tr-TR" sz="2000" dirty="0" smtClean="0"/>
          </a:p>
          <a:p>
            <a:pPr lvl="1"/>
            <a:r>
              <a:rPr lang="tr-TR" sz="1800" dirty="0" err="1" smtClean="0"/>
              <a:t>YSA’daki</a:t>
            </a:r>
            <a:r>
              <a:rPr lang="tr-TR" sz="1800" dirty="0" smtClean="0"/>
              <a:t> </a:t>
            </a:r>
            <a:r>
              <a:rPr lang="tr-TR" sz="1800" dirty="0" err="1"/>
              <a:t>neuronların</a:t>
            </a:r>
            <a:r>
              <a:rPr lang="tr-TR" sz="1800" dirty="0"/>
              <a:t> bağlantı şekli öğrenme algoritmasıyla doğrudan ilişkilidir. </a:t>
            </a:r>
            <a:endParaRPr lang="tr-TR" sz="1800" dirty="0" smtClean="0"/>
          </a:p>
          <a:p>
            <a:pPr lvl="1"/>
            <a:r>
              <a:rPr lang="tr-TR" sz="1800" dirty="0" smtClean="0"/>
              <a:t>Ağda </a:t>
            </a:r>
            <a:r>
              <a:rPr lang="tr-TR" sz="1800" dirty="0" err="1"/>
              <a:t>neuronlar</a:t>
            </a:r>
            <a:r>
              <a:rPr lang="tr-TR" sz="1800" dirty="0"/>
              <a:t> katman halinde bağlantıya sahiptir. </a:t>
            </a:r>
            <a:endParaRPr lang="tr-TR" sz="1800" dirty="0" smtClean="0"/>
          </a:p>
          <a:p>
            <a:pPr lvl="1"/>
            <a:r>
              <a:rPr lang="tr-TR" sz="1800" dirty="0" smtClean="0"/>
              <a:t>Ağda </a:t>
            </a:r>
            <a:r>
              <a:rPr lang="tr-TR" sz="1800" dirty="0"/>
              <a:t>girişlerden çıkışlara doğru geçiş yapılır (</a:t>
            </a:r>
            <a:r>
              <a:rPr lang="tr-TR" sz="1800" dirty="0" err="1"/>
              <a:t>feedforward</a:t>
            </a:r>
            <a:r>
              <a:rPr lang="tr-TR" sz="1800" dirty="0"/>
              <a:t>). </a:t>
            </a:r>
            <a:endParaRPr lang="tr-TR" sz="1800" dirty="0" smtClean="0"/>
          </a:p>
          <a:p>
            <a:pPr lvl="1"/>
            <a:r>
              <a:rPr lang="tr-TR" sz="1800" dirty="0" smtClean="0"/>
              <a:t>Girişler </a:t>
            </a:r>
            <a:r>
              <a:rPr lang="tr-TR" sz="1800" dirty="0"/>
              <a:t>ve çıkışlar arasında tek katman vardır</a:t>
            </a:r>
            <a:r>
              <a:rPr lang="tr-TR" sz="1700" dirty="0"/>
              <a:t>. 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3573016"/>
            <a:ext cx="2110923" cy="313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877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YAPAY SİNİR AĞI MİMARİLERİ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147248" cy="2764904"/>
          </a:xfrm>
        </p:spPr>
        <p:txBody>
          <a:bodyPr>
            <a:noAutofit/>
          </a:bodyPr>
          <a:lstStyle/>
          <a:p>
            <a:r>
              <a:rPr lang="tr-TR" sz="2000" dirty="0"/>
              <a:t>Çok katmanlı ileri beslemeli ağlar </a:t>
            </a:r>
            <a:endParaRPr lang="tr-TR" sz="2000" dirty="0" smtClean="0"/>
          </a:p>
          <a:p>
            <a:pPr lvl="1"/>
            <a:r>
              <a:rPr lang="tr-TR" sz="1800" dirty="0" smtClean="0"/>
              <a:t>Bir </a:t>
            </a:r>
            <a:r>
              <a:rPr lang="tr-TR" sz="1800" dirty="0"/>
              <a:t>veya daha fazla gizli katman (</a:t>
            </a:r>
            <a:r>
              <a:rPr lang="tr-TR" sz="1800" dirty="0" err="1"/>
              <a:t>hidden</a:t>
            </a:r>
            <a:r>
              <a:rPr lang="tr-TR" sz="1800" dirty="0"/>
              <a:t> </a:t>
            </a:r>
            <a:r>
              <a:rPr lang="tr-TR" sz="1800" dirty="0" err="1"/>
              <a:t>layer</a:t>
            </a:r>
            <a:r>
              <a:rPr lang="tr-TR" sz="1800" dirty="0"/>
              <a:t>) vardır. </a:t>
            </a:r>
            <a:endParaRPr lang="tr-TR" sz="1800" dirty="0" smtClean="0"/>
          </a:p>
          <a:p>
            <a:pPr lvl="1"/>
            <a:r>
              <a:rPr lang="tr-TR" sz="1800" dirty="0" smtClean="0"/>
              <a:t>Gizli </a:t>
            </a:r>
            <a:r>
              <a:rPr lang="tr-TR" sz="1800" dirty="0"/>
              <a:t>katman sayısı artırılarak işlem kapasitesi artırılır. </a:t>
            </a:r>
            <a:endParaRPr lang="tr-TR" sz="1800" dirty="0" smtClean="0"/>
          </a:p>
          <a:p>
            <a:pPr lvl="1"/>
            <a:r>
              <a:rPr lang="tr-TR" sz="1800" dirty="0" smtClean="0"/>
              <a:t>Üç </a:t>
            </a:r>
            <a:r>
              <a:rPr lang="tr-TR" sz="1800" dirty="0"/>
              <a:t>veya daha fazla boyutlu tasarım ile işlem kapasitesi artırılır. </a:t>
            </a:r>
            <a:endParaRPr lang="tr-TR" sz="1800" dirty="0" smtClean="0"/>
          </a:p>
          <a:p>
            <a:pPr lvl="1"/>
            <a:r>
              <a:rPr lang="tr-TR" sz="1800" dirty="0" smtClean="0"/>
              <a:t>Şekilde</a:t>
            </a:r>
            <a:r>
              <a:rPr lang="tr-TR" sz="1800" dirty="0"/>
              <a:t>, 10-4-2 sinir ağı görülmektedir. </a:t>
            </a:r>
            <a:endParaRPr lang="tr-TR" sz="1800" dirty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768" y="3284984"/>
            <a:ext cx="3299746" cy="3436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245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YAPAY SİNİR AĞI MİMARİLERİ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147248" cy="2764904"/>
          </a:xfrm>
        </p:spPr>
        <p:txBody>
          <a:bodyPr>
            <a:noAutofit/>
          </a:bodyPr>
          <a:lstStyle/>
          <a:p>
            <a:r>
              <a:rPr lang="tr-TR" sz="2000" dirty="0" err="1"/>
              <a:t>Recurrent</a:t>
            </a:r>
            <a:r>
              <a:rPr lang="tr-TR" sz="2000" dirty="0"/>
              <a:t> </a:t>
            </a:r>
            <a:r>
              <a:rPr lang="tr-TR" sz="2000" dirty="0" err="1"/>
              <a:t>networks</a:t>
            </a:r>
            <a:r>
              <a:rPr lang="tr-TR" sz="2000" dirty="0"/>
              <a:t> </a:t>
            </a:r>
            <a:endParaRPr lang="tr-TR" sz="2000" dirty="0" smtClean="0"/>
          </a:p>
          <a:p>
            <a:pPr lvl="1"/>
            <a:r>
              <a:rPr lang="tr-TR" sz="1800" dirty="0" err="1" smtClean="0"/>
              <a:t>Recurrent</a:t>
            </a:r>
            <a:r>
              <a:rPr lang="tr-TR" sz="1800" dirty="0" smtClean="0"/>
              <a:t> </a:t>
            </a:r>
            <a:r>
              <a:rPr lang="tr-TR" sz="1800" dirty="0"/>
              <a:t>(tekrarlayan) </a:t>
            </a:r>
            <a:r>
              <a:rPr lang="tr-TR" sz="1800" dirty="0" err="1"/>
              <a:t>neural</a:t>
            </a:r>
            <a:r>
              <a:rPr lang="tr-TR" sz="1800" dirty="0"/>
              <a:t> network (RNN), en az bir tane </a:t>
            </a:r>
            <a:r>
              <a:rPr lang="tr-TR" sz="1800" dirty="0" err="1"/>
              <a:t>feedback</a:t>
            </a:r>
            <a:r>
              <a:rPr lang="tr-TR" sz="1800" dirty="0"/>
              <a:t> döngüsüne sahiptir. </a:t>
            </a:r>
            <a:endParaRPr lang="tr-TR" sz="1800" dirty="0" smtClean="0"/>
          </a:p>
          <a:p>
            <a:pPr lvl="1"/>
            <a:r>
              <a:rPr lang="tr-TR" sz="1800" dirty="0" smtClean="0"/>
              <a:t>Şekilde</a:t>
            </a:r>
            <a:r>
              <a:rPr lang="tr-TR" sz="1800" dirty="0"/>
              <a:t>, kendi kendisine </a:t>
            </a:r>
            <a:r>
              <a:rPr lang="tr-TR" sz="1800" dirty="0" err="1"/>
              <a:t>feedback</a:t>
            </a:r>
            <a:r>
              <a:rPr lang="tr-TR" sz="1800" dirty="0"/>
              <a:t> olmayan RNN ağ yapısı görülmektedir.</a:t>
            </a:r>
            <a:endParaRPr lang="tr-TR" sz="1800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0523" y="2996952"/>
            <a:ext cx="3421677" cy="3673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386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YAPAY SİNİR AĞI MİMARİLERİ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147248" cy="2764904"/>
          </a:xfrm>
        </p:spPr>
        <p:txBody>
          <a:bodyPr>
            <a:noAutofit/>
          </a:bodyPr>
          <a:lstStyle/>
          <a:p>
            <a:r>
              <a:rPr lang="tr-TR" sz="2000" dirty="0" err="1"/>
              <a:t>Recurrent</a:t>
            </a:r>
            <a:r>
              <a:rPr lang="tr-TR" sz="2000" dirty="0"/>
              <a:t> </a:t>
            </a:r>
            <a:r>
              <a:rPr lang="tr-TR" sz="2000" dirty="0" err="1"/>
              <a:t>networks</a:t>
            </a:r>
            <a:r>
              <a:rPr lang="tr-TR" sz="2000" dirty="0"/>
              <a:t> </a:t>
            </a:r>
            <a:endParaRPr lang="tr-TR" sz="2000" dirty="0" smtClean="0"/>
          </a:p>
          <a:p>
            <a:pPr lvl="1"/>
            <a:r>
              <a:rPr lang="tr-TR" sz="1800" dirty="0" smtClean="0"/>
              <a:t>Şekilde</a:t>
            </a:r>
            <a:r>
              <a:rPr lang="tr-TR" sz="1800" dirty="0"/>
              <a:t>, kendi kendisine </a:t>
            </a:r>
            <a:r>
              <a:rPr lang="tr-TR" sz="1800" dirty="0" err="1"/>
              <a:t>feedback</a:t>
            </a:r>
            <a:r>
              <a:rPr lang="tr-TR" sz="1800" dirty="0"/>
              <a:t> olan RNN yapısı görülmektedir.</a:t>
            </a:r>
            <a:endParaRPr lang="tr-TR" sz="1800" dirty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2792774"/>
            <a:ext cx="4541914" cy="344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09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ÖĞRENME İŞLEMİ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147248" cy="2764904"/>
          </a:xfrm>
        </p:spPr>
        <p:txBody>
          <a:bodyPr>
            <a:noAutofit/>
          </a:bodyPr>
          <a:lstStyle/>
          <a:p>
            <a:r>
              <a:rPr lang="tr-TR" sz="2000" b="1" dirty="0"/>
              <a:t>Denetimli öğrenme (</a:t>
            </a:r>
            <a:r>
              <a:rPr lang="tr-TR" sz="2000" b="1" dirty="0" err="1"/>
              <a:t>supervised</a:t>
            </a:r>
            <a:r>
              <a:rPr lang="tr-TR" sz="2000" b="1" dirty="0"/>
              <a:t> </a:t>
            </a:r>
            <a:r>
              <a:rPr lang="tr-TR" sz="2000" b="1" dirty="0" err="1"/>
              <a:t>learning</a:t>
            </a:r>
            <a:r>
              <a:rPr lang="tr-TR" sz="2000" b="1" dirty="0"/>
              <a:t>) </a:t>
            </a:r>
            <a:endParaRPr lang="tr-TR" sz="2000" b="1" dirty="0" smtClean="0"/>
          </a:p>
          <a:p>
            <a:pPr lvl="1"/>
            <a:r>
              <a:rPr lang="tr-TR" sz="1800" dirty="0" smtClean="0"/>
              <a:t>Denetimli </a:t>
            </a:r>
            <a:r>
              <a:rPr lang="tr-TR" sz="1800" dirty="0"/>
              <a:t>öğrenmede, giriş ve çıkış örnekleri birlikte </a:t>
            </a:r>
            <a:r>
              <a:rPr lang="tr-TR" sz="1800" dirty="0" smtClean="0"/>
              <a:t>sağlanır.</a:t>
            </a:r>
          </a:p>
          <a:p>
            <a:pPr lvl="1"/>
            <a:r>
              <a:rPr lang="tr-TR" sz="1800" dirty="0" smtClean="0"/>
              <a:t>Girişlere </a:t>
            </a:r>
            <a:r>
              <a:rPr lang="tr-TR" sz="1800" dirty="0"/>
              <a:t>göre </a:t>
            </a:r>
            <a:r>
              <a:rPr lang="tr-TR" sz="1800" dirty="0" err="1"/>
              <a:t>YSA’dan</a:t>
            </a:r>
            <a:r>
              <a:rPr lang="tr-TR" sz="1800" dirty="0"/>
              <a:t> beklenen cevap da sağlanır. </a:t>
            </a:r>
            <a:endParaRPr lang="tr-TR" sz="1800" dirty="0" smtClean="0"/>
          </a:p>
          <a:p>
            <a:pPr lvl="1"/>
            <a:r>
              <a:rPr lang="tr-TR" sz="1800" dirty="0" smtClean="0"/>
              <a:t>YSA </a:t>
            </a:r>
            <a:r>
              <a:rPr lang="tr-TR" sz="1800" dirty="0"/>
              <a:t>parametreleri hata sinyaline göre ayarlanır. </a:t>
            </a:r>
            <a:r>
              <a:rPr lang="tr-TR" sz="1800" dirty="0" smtClean="0"/>
              <a:t>.</a:t>
            </a:r>
            <a:endParaRPr lang="tr-TR" sz="1800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3103667"/>
            <a:ext cx="4625741" cy="3421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75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ÖĞRENME İŞLEMİ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147248" cy="2764904"/>
          </a:xfrm>
        </p:spPr>
        <p:txBody>
          <a:bodyPr>
            <a:noAutofit/>
          </a:bodyPr>
          <a:lstStyle/>
          <a:p>
            <a:r>
              <a:rPr lang="tr-TR" sz="2000" b="1" dirty="0"/>
              <a:t>Denetimli öğrenme (</a:t>
            </a:r>
            <a:r>
              <a:rPr lang="tr-TR" sz="2000" b="1" dirty="0" err="1"/>
              <a:t>supervised</a:t>
            </a:r>
            <a:r>
              <a:rPr lang="tr-TR" sz="2000" b="1" dirty="0"/>
              <a:t> </a:t>
            </a:r>
            <a:r>
              <a:rPr lang="tr-TR" sz="2000" b="1" dirty="0" err="1"/>
              <a:t>learning</a:t>
            </a:r>
            <a:r>
              <a:rPr lang="tr-TR" sz="2000" b="1" dirty="0"/>
              <a:t>) </a:t>
            </a:r>
            <a:endParaRPr lang="tr-TR" sz="2000" b="1" dirty="0" smtClean="0"/>
          </a:p>
          <a:p>
            <a:pPr lvl="1"/>
            <a:r>
              <a:rPr lang="tr-TR" sz="1800" dirty="0"/>
              <a:t>Toplam hata, hataların karelerinin toplamı (</a:t>
            </a:r>
            <a:r>
              <a:rPr lang="tr-TR" sz="1800" dirty="0" err="1"/>
              <a:t>sum</a:t>
            </a:r>
            <a:r>
              <a:rPr lang="tr-TR" sz="1800" dirty="0"/>
              <a:t> of </a:t>
            </a:r>
            <a:r>
              <a:rPr lang="tr-TR" sz="1800" dirty="0" err="1"/>
              <a:t>squared</a:t>
            </a:r>
            <a:r>
              <a:rPr lang="tr-TR" sz="1800" dirty="0"/>
              <a:t> </a:t>
            </a:r>
            <a:r>
              <a:rPr lang="tr-TR" sz="1800" dirty="0" err="1"/>
              <a:t>errors</a:t>
            </a:r>
            <a:r>
              <a:rPr lang="tr-TR" sz="1800" dirty="0"/>
              <a:t>) veya hataların karelerinin toplamının ortalaması (</a:t>
            </a:r>
            <a:r>
              <a:rPr lang="tr-TR" sz="1800" dirty="0" err="1"/>
              <a:t>mean</a:t>
            </a:r>
            <a:r>
              <a:rPr lang="tr-TR" sz="1800" dirty="0"/>
              <a:t> </a:t>
            </a:r>
            <a:r>
              <a:rPr lang="tr-TR" sz="1800" dirty="0" err="1"/>
              <a:t>squared</a:t>
            </a:r>
            <a:r>
              <a:rPr lang="tr-TR" sz="1800" dirty="0"/>
              <a:t> </a:t>
            </a:r>
            <a:r>
              <a:rPr lang="tr-TR" sz="1800" dirty="0" err="1"/>
              <a:t>error</a:t>
            </a:r>
            <a:r>
              <a:rPr lang="tr-TR" sz="1800" dirty="0"/>
              <a:t>) ile hesaplanır. </a:t>
            </a:r>
            <a:endParaRPr lang="tr-TR" sz="1800" dirty="0" smtClean="0"/>
          </a:p>
          <a:p>
            <a:pPr lvl="1"/>
            <a:r>
              <a:rPr lang="tr-TR" sz="1800" dirty="0" smtClean="0"/>
              <a:t>Toplam </a:t>
            </a:r>
            <a:r>
              <a:rPr lang="tr-TR" sz="1800" dirty="0"/>
              <a:t>hata, belirlenen bir eşik değerin altına düştüğünde eğitim sonlandırılır. </a:t>
            </a:r>
            <a:endParaRPr lang="tr-TR" sz="1800" dirty="0" smtClean="0"/>
          </a:p>
          <a:p>
            <a:pPr lvl="1"/>
            <a:r>
              <a:rPr lang="tr-TR" sz="1800" dirty="0" smtClean="0"/>
              <a:t>Eğitim </a:t>
            </a:r>
            <a:r>
              <a:rPr lang="tr-TR" sz="1800" dirty="0"/>
              <a:t>hatası yerine test hatası minimum olduğunda da eğitim sonlandırılabilir. </a:t>
            </a:r>
            <a:endParaRPr lang="tr-TR" sz="1800" dirty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4126389"/>
            <a:ext cx="3970364" cy="2110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460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ÖĞRENME İŞLEMİ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147248" cy="2764904"/>
          </a:xfrm>
        </p:spPr>
        <p:txBody>
          <a:bodyPr>
            <a:noAutofit/>
          </a:bodyPr>
          <a:lstStyle/>
          <a:p>
            <a:r>
              <a:rPr lang="tr-TR" sz="2000" b="1" dirty="0" smtClean="0"/>
              <a:t>Denetimsiz </a:t>
            </a:r>
            <a:r>
              <a:rPr lang="tr-TR" sz="2000" b="1" dirty="0"/>
              <a:t>öğrenme </a:t>
            </a:r>
            <a:r>
              <a:rPr lang="tr-TR" sz="2000" b="1" dirty="0" smtClean="0"/>
              <a:t>(</a:t>
            </a:r>
            <a:r>
              <a:rPr lang="tr-TR" sz="2000" b="1" dirty="0" err="1" smtClean="0"/>
              <a:t>Unsupervised</a:t>
            </a:r>
            <a:r>
              <a:rPr lang="tr-TR" sz="2000" b="1" dirty="0" smtClean="0"/>
              <a:t> </a:t>
            </a:r>
            <a:r>
              <a:rPr lang="tr-TR" sz="2000" b="1" dirty="0" err="1"/>
              <a:t>learning</a:t>
            </a:r>
            <a:r>
              <a:rPr lang="tr-TR" sz="2000" b="1" dirty="0"/>
              <a:t>) </a:t>
            </a:r>
            <a:endParaRPr lang="tr-TR" sz="2000" b="1" dirty="0" smtClean="0"/>
          </a:p>
          <a:p>
            <a:pPr lvl="1"/>
            <a:r>
              <a:rPr lang="tr-TR" sz="1800" dirty="0"/>
              <a:t>Denetimsiz öğrenmede, sadece girişler sağlanır. </a:t>
            </a:r>
            <a:endParaRPr lang="tr-TR" sz="1800" dirty="0" smtClean="0"/>
          </a:p>
          <a:p>
            <a:pPr lvl="1"/>
            <a:r>
              <a:rPr lang="tr-TR" sz="1800" dirty="0" smtClean="0"/>
              <a:t>Giriş </a:t>
            </a:r>
            <a:r>
              <a:rPr lang="tr-TR" sz="1800" dirty="0"/>
              <a:t>değerlerine bağlı verilen ölçüt kullanılarak beklenen cevap oluşturulur. </a:t>
            </a:r>
            <a:endParaRPr lang="tr-TR" sz="1800" dirty="0" smtClean="0"/>
          </a:p>
          <a:p>
            <a:pPr lvl="1"/>
            <a:r>
              <a:rPr lang="tr-TR" sz="1800" dirty="0" smtClean="0"/>
              <a:t>YSA </a:t>
            </a:r>
            <a:r>
              <a:rPr lang="tr-TR" sz="1800" dirty="0"/>
              <a:t>parametreleri giriş değerlerine göre ayarlanır.</a:t>
            </a:r>
            <a:endParaRPr lang="tr-TR" sz="1800" dirty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3429000"/>
            <a:ext cx="4503810" cy="2385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017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ÖĞRENME İŞLEMİ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147248" cy="2764904"/>
          </a:xfrm>
        </p:spPr>
        <p:txBody>
          <a:bodyPr>
            <a:noAutofit/>
          </a:bodyPr>
          <a:lstStyle/>
          <a:p>
            <a:r>
              <a:rPr lang="tr-TR" sz="2000" b="1" dirty="0"/>
              <a:t>Takviyeli öğrenme (</a:t>
            </a:r>
            <a:r>
              <a:rPr lang="tr-TR" sz="2000" b="1" dirty="0" err="1"/>
              <a:t>reinforcement</a:t>
            </a:r>
            <a:r>
              <a:rPr lang="tr-TR" sz="2000" b="1" dirty="0"/>
              <a:t> </a:t>
            </a:r>
            <a:r>
              <a:rPr lang="tr-TR" sz="2000" b="1" dirty="0" err="1"/>
              <a:t>learning</a:t>
            </a:r>
            <a:r>
              <a:rPr lang="tr-TR" sz="2000" b="1" dirty="0"/>
              <a:t>) </a:t>
            </a:r>
            <a:endParaRPr lang="tr-TR" sz="2000" b="1" dirty="0" smtClean="0"/>
          </a:p>
          <a:p>
            <a:pPr lvl="1"/>
            <a:r>
              <a:rPr lang="tr-TR" sz="1800" dirty="0" smtClean="0"/>
              <a:t>Takviyeli </a:t>
            </a:r>
            <a:r>
              <a:rPr lang="tr-TR" sz="1800" dirty="0"/>
              <a:t>öğrenmede, öğrenen sisteme dışarıdan yönlendirme yapılır. </a:t>
            </a:r>
            <a:endParaRPr lang="tr-TR" sz="1800" dirty="0" smtClean="0"/>
          </a:p>
          <a:p>
            <a:pPr lvl="1"/>
            <a:r>
              <a:rPr lang="tr-TR" sz="1800" dirty="0" smtClean="0"/>
              <a:t>Çıkış </a:t>
            </a:r>
            <a:r>
              <a:rPr lang="tr-TR" sz="1800" dirty="0"/>
              <a:t>değerleri girmek yerine, verilen giriş değerlerine göre çıkışı değerlendirerek öğrenmeyi sağlar (genetik algoritma). </a:t>
            </a:r>
            <a:endParaRPr lang="tr-TR" sz="1800" dirty="0" smtClean="0"/>
          </a:p>
          <a:p>
            <a:pPr lvl="1"/>
            <a:r>
              <a:rPr lang="tr-TR" sz="1800" dirty="0" smtClean="0"/>
              <a:t>Amaç </a:t>
            </a:r>
            <a:r>
              <a:rPr lang="tr-TR" sz="1800" dirty="0"/>
              <a:t>fonksiyonunun değeri minimize/maksimize edilir.</a:t>
            </a:r>
            <a:endParaRPr lang="tr-TR" sz="1800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319" y="3610053"/>
            <a:ext cx="4160881" cy="2987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314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umba">
  <a:themeElements>
    <a:clrScheme name="Cumba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Cumba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umba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249</TotalTime>
  <Words>1144</Words>
  <Application>Microsoft Office PowerPoint</Application>
  <PresentationFormat>Ekran Gösterisi (4:3)</PresentationFormat>
  <Paragraphs>148</Paragraphs>
  <Slides>24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24</vt:i4>
      </vt:variant>
    </vt:vector>
  </HeadingPairs>
  <TitlesOfParts>
    <vt:vector size="29" baseType="lpstr">
      <vt:lpstr>ＭＳ Ｐゴシック</vt:lpstr>
      <vt:lpstr>Century Schoolbook</vt:lpstr>
      <vt:lpstr>Wingdings</vt:lpstr>
      <vt:lpstr>Wingdings 2</vt:lpstr>
      <vt:lpstr>Cumba</vt:lpstr>
      <vt:lpstr>Yapay sinir ağları</vt:lpstr>
      <vt:lpstr>YAPAY SİNİR AĞI NEDİR?</vt:lpstr>
      <vt:lpstr>YAPAY SİNİR AĞI NEDİR?</vt:lpstr>
      <vt:lpstr>YAPAY SİNİR AĞI NEDİR?</vt:lpstr>
      <vt:lpstr>YAPAY SİNİR AĞI NEDİR?</vt:lpstr>
      <vt:lpstr>YAPAY SİNİR AĞI ÖZELLİKLERİ</vt:lpstr>
      <vt:lpstr>YAPAY SİNİR AĞI ÖZELLİKLERİ</vt:lpstr>
      <vt:lpstr>YAPAY SİNİR AĞI ÖZELLİKLERİ</vt:lpstr>
      <vt:lpstr>İNSAN BEYNİ</vt:lpstr>
      <vt:lpstr>İNSAN BEYNİ</vt:lpstr>
      <vt:lpstr>Neuron Modeli</vt:lpstr>
      <vt:lpstr>Neuron Modeli</vt:lpstr>
      <vt:lpstr>Neuron Modeli</vt:lpstr>
      <vt:lpstr>YAPAY SİNİR AĞI MİMARİLERİ</vt:lpstr>
      <vt:lpstr>YAPAY SİNİR AĞI MİMARİLERİ</vt:lpstr>
      <vt:lpstr>YAPAY SİNİR AĞI MİMARİLERİ</vt:lpstr>
      <vt:lpstr>YAPAY SİNİR AĞI MİMARİLERİ</vt:lpstr>
      <vt:lpstr>YAPAY SİNİR AĞI MİMARİLERİ</vt:lpstr>
      <vt:lpstr>YAPAY SİNİR AĞI MİMARİLERİ</vt:lpstr>
      <vt:lpstr>YAPAY SİNİR AĞI MİMARİLERİ</vt:lpstr>
      <vt:lpstr>ÖĞRENME İŞLEMİ</vt:lpstr>
      <vt:lpstr>ÖĞRENME İŞLEMİ</vt:lpstr>
      <vt:lpstr>ÖĞRENME İŞLEMİ</vt:lpstr>
      <vt:lpstr>ÖĞRENME İŞLEMİ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İLERİ PROGRAMLAMA</dc:title>
  <dc:creator>SFuat</dc:creator>
  <cp:lastModifiedBy>Tuncay</cp:lastModifiedBy>
  <cp:revision>39</cp:revision>
  <dcterms:created xsi:type="dcterms:W3CDTF">2020-02-18T10:38:04Z</dcterms:created>
  <dcterms:modified xsi:type="dcterms:W3CDTF">2023-10-01T17:15:28Z</dcterms:modified>
</cp:coreProperties>
</file>
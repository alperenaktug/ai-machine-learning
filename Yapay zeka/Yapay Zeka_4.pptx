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0" r:id="rId3"/>
    <p:sldId id="346" r:id="rId4"/>
    <p:sldId id="288" r:id="rId5"/>
    <p:sldId id="309" r:id="rId6"/>
    <p:sldId id="347" r:id="rId7"/>
    <p:sldId id="348" r:id="rId8"/>
    <p:sldId id="349" r:id="rId9"/>
    <p:sldId id="350" r:id="rId10"/>
    <p:sldId id="372" r:id="rId11"/>
    <p:sldId id="373" r:id="rId12"/>
    <p:sldId id="376" r:id="rId13"/>
    <p:sldId id="377" r:id="rId14"/>
    <p:sldId id="378" r:id="rId15"/>
    <p:sldId id="351" r:id="rId16"/>
    <p:sldId id="353" r:id="rId17"/>
    <p:sldId id="354" r:id="rId18"/>
    <p:sldId id="352" r:id="rId19"/>
    <p:sldId id="355" r:id="rId20"/>
    <p:sldId id="356" r:id="rId21"/>
    <p:sldId id="357" r:id="rId22"/>
    <p:sldId id="358" r:id="rId23"/>
    <p:sldId id="311" r:id="rId24"/>
    <p:sldId id="359" r:id="rId25"/>
    <p:sldId id="360" r:id="rId26"/>
    <p:sldId id="362" r:id="rId27"/>
    <p:sldId id="363" r:id="rId28"/>
    <p:sldId id="364" r:id="rId29"/>
    <p:sldId id="365" r:id="rId30"/>
    <p:sldId id="366" r:id="rId31"/>
    <p:sldId id="367" r:id="rId32"/>
    <p:sldId id="370" r:id="rId33"/>
    <p:sldId id="371" r:id="rId34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 smtClean="0"/>
              <a:t>Asıl alt başlık stilini düzenlemek için tıklatın</a:t>
            </a:r>
            <a:endParaRPr kumimoji="0" lang="en-US"/>
          </a:p>
        </p:txBody>
      </p:sp>
      <p:sp>
        <p:nvSpPr>
          <p:cNvPr id="28" name="Veri Yer Tutucusu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23720DD-5B6D-40BF-8493-A6B52D484E6B}" type="datetimeFigureOut">
              <a:rPr lang="tr-TR" smtClean="0"/>
              <a:t>22.10.2023</a:t>
            </a:fld>
            <a:endParaRPr lang="tr-TR"/>
          </a:p>
        </p:txBody>
      </p:sp>
      <p:sp>
        <p:nvSpPr>
          <p:cNvPr id="17" name="Altbilgi Yer Tutucusu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Dikdörtgen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Dikdörtgen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Dikdörtgen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Düz Bağlayıcı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Düz Bağlayıcı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Dikdörtgen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8" name="İçerik Yer Tutucus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22.10.2023</a:t>
            </a:fld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Altbilgi Yer Tutucusu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23720DD-5B6D-40BF-8493-A6B52D484E6B}" type="datetimeFigureOut">
              <a:rPr lang="tr-TR" smtClean="0"/>
              <a:t>22.10.2023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9" name="Dikdörtgen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Dikdörtgen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ikdörtgen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Düz Bağlayıcı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Düz Bağlayıcı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Dikdörtgen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Düz Bağlayıcı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22.10.2023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9" name="İçerik Yer Tutucus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22.10.2023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3" name="İçerik Yer Tutucus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2" name="Metin Yer Tutucusu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14" name="Metin Yer Tutucusu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6" name="Veri Yer Tutucusu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22.10.2023</a:t>
            </a:fld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22.10.2023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8" name="Düz Bağlayıcı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İçerik Yer Tutucus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21" name="Veri Yer Tutucusu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22.10.2023</a:t>
            </a:fld>
            <a:endParaRPr lang="tr-TR"/>
          </a:p>
        </p:txBody>
      </p:sp>
      <p:sp>
        <p:nvSpPr>
          <p:cNvPr id="22" name="Slayt Numarası Yer Tutucusu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23" name="Altbilgi Yer Tutucusu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tr-TR" smtClean="0"/>
              <a:t>Resim eklemek için simgeyi tıklatın</a:t>
            </a:r>
            <a:endParaRPr kumimoji="0" lang="en-US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Dikdörtgen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üz Bağlayıcı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Düz Bağlayıcı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Veri Yer Tutucusu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22.10.2023</a:t>
            </a:fld>
            <a:endParaRPr lang="tr-TR"/>
          </a:p>
        </p:txBody>
      </p:sp>
      <p:sp>
        <p:nvSpPr>
          <p:cNvPr id="18" name="Slayt Numarası Yer Tutucusu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21" name="Altbilgi Yer Tutucusu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22.10.2023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22.10.2023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  <a:p>
            <a:pPr lvl="1" eaLnBrk="1" latinLnBrk="0" hangingPunct="1"/>
            <a:r>
              <a:rPr kumimoji="0" lang="tr-TR" smtClean="0"/>
              <a:t>İkinci düzey</a:t>
            </a:r>
          </a:p>
          <a:p>
            <a:pPr lvl="2" eaLnBrk="1" latinLnBrk="0" hangingPunct="1"/>
            <a:r>
              <a:rPr kumimoji="0" lang="tr-TR" smtClean="0"/>
              <a:t>Üçüncü düzey</a:t>
            </a:r>
          </a:p>
          <a:p>
            <a:pPr lvl="3" eaLnBrk="1" latinLnBrk="0" hangingPunct="1"/>
            <a:r>
              <a:rPr kumimoji="0" lang="tr-TR" smtClean="0"/>
              <a:t>Dördüncü düzey</a:t>
            </a:r>
          </a:p>
          <a:p>
            <a:pPr lvl="4" eaLnBrk="1" latinLnBrk="0" hangingPunct="1"/>
            <a:r>
              <a:rPr kumimoji="0" lang="tr-TR" smtClean="0"/>
              <a:t>Beşinci düzey</a:t>
            </a:r>
            <a:endParaRPr kumimoji="0" lang="en-US"/>
          </a:p>
        </p:txBody>
      </p:sp>
      <p:sp>
        <p:nvSpPr>
          <p:cNvPr id="14" name="Veri Yer Tutucusu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23720DD-5B6D-40BF-8493-A6B52D484E6B}" type="datetimeFigureOut">
              <a:rPr lang="tr-TR" smtClean="0"/>
              <a:t>22.10.2023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Düz Bağlayıcı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ikdörtgen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2411760" y="2564904"/>
            <a:ext cx="6172200" cy="1894362"/>
          </a:xfrm>
        </p:spPr>
        <p:txBody>
          <a:bodyPr/>
          <a:lstStyle/>
          <a:p>
            <a:r>
              <a:rPr lang="tr-TR" sz="2800" dirty="0" smtClean="0"/>
              <a:t>Derin Öğrenme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ctr"/>
            <a:r>
              <a:rPr lang="tr-TR" b="0" dirty="0"/>
              <a:t>Prof. Dr. Tuncay YİĞİT</a:t>
            </a:r>
          </a:p>
          <a:p>
            <a:pPr algn="ctr"/>
            <a:r>
              <a:rPr lang="tr-TR" b="0" dirty="0"/>
              <a:t>Süleyman Demirel Üniversitesi</a:t>
            </a:r>
          </a:p>
          <a:p>
            <a:pPr algn="ctr"/>
            <a:r>
              <a:rPr lang="tr-TR" b="0" dirty="0"/>
              <a:t>Bilgisayar Mühendisliği </a:t>
            </a:r>
            <a:r>
              <a:rPr lang="tr-TR" b="0" dirty="0" smtClean="0"/>
              <a:t>Bölümü</a:t>
            </a:r>
          </a:p>
          <a:p>
            <a:pPr algn="ctr"/>
            <a:endParaRPr lang="tr-TR" b="0" dirty="0"/>
          </a:p>
          <a:p>
            <a:pPr algn="ctr"/>
            <a:r>
              <a:rPr lang="tr-TR" b="0" dirty="0" smtClean="0"/>
              <a:t>ISPARTA 2023</a:t>
            </a:r>
            <a:endParaRPr lang="tr-TR" b="0" dirty="0"/>
          </a:p>
        </p:txBody>
      </p:sp>
    </p:spTree>
    <p:extLst>
      <p:ext uri="{BB962C8B-B14F-4D97-AF65-F5344CB8AC3E}">
        <p14:creationId xmlns:p14="http://schemas.microsoft.com/office/powerpoint/2010/main" val="1927419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Derin Öğrenme Nedir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r>
              <a:rPr lang="tr-TR" dirty="0"/>
              <a:t>Makine öğrenmesinde ve derin öğrenmede, makinelere geçmiş verileri kullanarak tahmin yapma ve öğrenme yeteneği kazandırılır </a:t>
            </a:r>
            <a:endParaRPr lang="tr-TR" dirty="0" smtClean="0"/>
          </a:p>
          <a:p>
            <a:r>
              <a:rPr lang="tr-TR" dirty="0" smtClean="0"/>
              <a:t>Makine </a:t>
            </a:r>
            <a:r>
              <a:rPr lang="tr-TR" dirty="0"/>
              <a:t>öğrenmesi, genellikle istatistiksel metotlar yaygın kullanılır; derin öğrenme ise çok katmanlı sinir ağları ile hesaplama yapar. 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897979"/>
            <a:ext cx="7094580" cy="295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545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Derin Öğrenme Nedir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r>
              <a:rPr lang="tr-TR" dirty="0"/>
              <a:t>Makine öğrenmesinde, genellikle öznitelik çıkarımı manuel yapılır, derin öğrenmede öznitelikler de otomatik olarak öğrenilebilir. 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708920"/>
            <a:ext cx="5472608" cy="418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96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Derin Öğrenme Modelleri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Yaygın kullanılan derin öğrenme modelleri: </a:t>
            </a:r>
            <a:endParaRPr lang="tr-TR" dirty="0" smtClean="0"/>
          </a:p>
          <a:p>
            <a:pPr lvl="1"/>
            <a:r>
              <a:rPr lang="tr-TR" dirty="0" err="1" smtClean="0"/>
              <a:t>Convolutional</a:t>
            </a:r>
            <a:r>
              <a:rPr lang="tr-TR" dirty="0" smtClean="0"/>
              <a:t> </a:t>
            </a:r>
            <a:r>
              <a:rPr lang="tr-TR" dirty="0" err="1"/>
              <a:t>neural</a:t>
            </a:r>
            <a:r>
              <a:rPr lang="tr-TR" dirty="0"/>
              <a:t> </a:t>
            </a:r>
            <a:r>
              <a:rPr lang="tr-TR" dirty="0" err="1" smtClean="0"/>
              <a:t>networks</a:t>
            </a:r>
            <a:r>
              <a:rPr lang="tr-TR" dirty="0" smtClean="0"/>
              <a:t>(CNN) </a:t>
            </a:r>
          </a:p>
          <a:p>
            <a:pPr lvl="1"/>
            <a:r>
              <a:rPr lang="tr-TR" dirty="0" err="1" smtClean="0"/>
              <a:t>Recurrent</a:t>
            </a:r>
            <a:r>
              <a:rPr lang="tr-TR" dirty="0" smtClean="0"/>
              <a:t> </a:t>
            </a:r>
            <a:r>
              <a:rPr lang="tr-TR" dirty="0" err="1"/>
              <a:t>neural</a:t>
            </a:r>
            <a:r>
              <a:rPr lang="tr-TR" dirty="0"/>
              <a:t> </a:t>
            </a:r>
            <a:r>
              <a:rPr lang="tr-TR" dirty="0" err="1" smtClean="0"/>
              <a:t>networks</a:t>
            </a:r>
            <a:r>
              <a:rPr lang="tr-TR" dirty="0" smtClean="0"/>
              <a:t>(RNN) </a:t>
            </a:r>
          </a:p>
          <a:p>
            <a:pPr lvl="1"/>
            <a:r>
              <a:rPr lang="tr-TR" dirty="0" err="1" smtClean="0"/>
              <a:t>Deep</a:t>
            </a:r>
            <a:r>
              <a:rPr lang="tr-TR" dirty="0" smtClean="0"/>
              <a:t> </a:t>
            </a:r>
            <a:r>
              <a:rPr lang="tr-TR" dirty="0" err="1" smtClean="0"/>
              <a:t>Autoencoders</a:t>
            </a:r>
            <a:r>
              <a:rPr lang="tr-TR" dirty="0" smtClean="0"/>
              <a:t>(DAN) </a:t>
            </a:r>
          </a:p>
          <a:p>
            <a:pPr lvl="1"/>
            <a:r>
              <a:rPr lang="tr-TR" dirty="0" err="1" smtClean="0"/>
              <a:t>Deep</a:t>
            </a:r>
            <a:r>
              <a:rPr lang="tr-TR" dirty="0" smtClean="0"/>
              <a:t> </a:t>
            </a:r>
            <a:r>
              <a:rPr lang="tr-TR" dirty="0" err="1"/>
              <a:t>belief</a:t>
            </a:r>
            <a:r>
              <a:rPr lang="tr-TR" dirty="0"/>
              <a:t> </a:t>
            </a:r>
            <a:r>
              <a:rPr lang="tr-TR" dirty="0" err="1" smtClean="0"/>
              <a:t>networks</a:t>
            </a:r>
            <a:r>
              <a:rPr lang="tr-TR" dirty="0" smtClean="0"/>
              <a:t>(DBF) </a:t>
            </a:r>
          </a:p>
          <a:p>
            <a:pPr lvl="1"/>
            <a:r>
              <a:rPr lang="tr-TR" dirty="0" err="1"/>
              <a:t>Generative</a:t>
            </a:r>
            <a:r>
              <a:rPr lang="tr-TR" dirty="0"/>
              <a:t> </a:t>
            </a:r>
            <a:r>
              <a:rPr lang="tr-TR" dirty="0" err="1"/>
              <a:t>adversarial</a:t>
            </a:r>
            <a:r>
              <a:rPr lang="tr-TR" dirty="0"/>
              <a:t> </a:t>
            </a:r>
            <a:r>
              <a:rPr lang="tr-TR" dirty="0" err="1" smtClean="0"/>
              <a:t>networks</a:t>
            </a:r>
            <a:r>
              <a:rPr lang="tr-TR" dirty="0" smtClean="0"/>
              <a:t>(GAN)</a:t>
            </a:r>
          </a:p>
        </p:txBody>
      </p:sp>
    </p:spTree>
    <p:extLst>
      <p:ext uri="{BB962C8B-B14F-4D97-AF65-F5344CB8AC3E}">
        <p14:creationId xmlns:p14="http://schemas.microsoft.com/office/powerpoint/2010/main" val="364857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err="1" smtClean="0"/>
              <a:t>Convolutional</a:t>
            </a:r>
            <a:r>
              <a:rPr lang="tr-TR" dirty="0" smtClean="0"/>
              <a:t> </a:t>
            </a:r>
            <a:r>
              <a:rPr lang="tr-TR" dirty="0" err="1"/>
              <a:t>neural</a:t>
            </a:r>
            <a:r>
              <a:rPr lang="tr-TR" dirty="0"/>
              <a:t> </a:t>
            </a:r>
            <a:r>
              <a:rPr lang="tr-TR" dirty="0" err="1" smtClean="0"/>
              <a:t>networks</a:t>
            </a:r>
            <a:r>
              <a:rPr lang="tr-TR" dirty="0" smtClean="0"/>
              <a:t> (CNN)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Convolutional</a:t>
            </a:r>
            <a:r>
              <a:rPr lang="tr-TR" dirty="0"/>
              <a:t> </a:t>
            </a:r>
            <a:r>
              <a:rPr lang="tr-TR" dirty="0" err="1"/>
              <a:t>neural</a:t>
            </a:r>
            <a:r>
              <a:rPr lang="tr-TR" dirty="0"/>
              <a:t> network (CNN), yapay sinir ağlarının özel bir türüdür</a:t>
            </a:r>
            <a:r>
              <a:rPr lang="tr-TR" dirty="0" smtClean="0"/>
              <a:t>.</a:t>
            </a:r>
          </a:p>
          <a:p>
            <a:r>
              <a:rPr lang="tr-TR" dirty="0" smtClean="0"/>
              <a:t>CNN’ler </a:t>
            </a:r>
            <a:r>
              <a:rPr lang="tr-TR" dirty="0"/>
              <a:t>özellikle görüntü problemlerinde yaygın kullanılan derin öğrenme mimarisidir. </a:t>
            </a:r>
            <a:endParaRPr lang="tr-TR" dirty="0" smtClean="0"/>
          </a:p>
          <a:p>
            <a:r>
              <a:rPr lang="tr-TR" dirty="0" smtClean="0"/>
              <a:t>Bir </a:t>
            </a:r>
            <a:r>
              <a:rPr lang="tr-TR" dirty="0"/>
              <a:t>CNN, klasik </a:t>
            </a:r>
            <a:r>
              <a:rPr lang="tr-TR" dirty="0" err="1"/>
              <a:t>neural</a:t>
            </a:r>
            <a:r>
              <a:rPr lang="tr-TR" dirty="0"/>
              <a:t> </a:t>
            </a:r>
            <a:r>
              <a:rPr lang="tr-TR" dirty="0" err="1"/>
              <a:t>networks</a:t>
            </a:r>
            <a:r>
              <a:rPr lang="tr-TR" dirty="0"/>
              <a:t> yapısına benzer şekilde </a:t>
            </a:r>
            <a:r>
              <a:rPr lang="tr-TR" dirty="0" err="1"/>
              <a:t>neuron’lardan</a:t>
            </a:r>
            <a:r>
              <a:rPr lang="tr-TR" dirty="0"/>
              <a:t> oluşur ve öğrenmek için ağırlıklar ile </a:t>
            </a:r>
            <a:r>
              <a:rPr lang="tr-TR" dirty="0" err="1"/>
              <a:t>bias</a:t>
            </a:r>
            <a:r>
              <a:rPr lang="tr-TR" dirty="0"/>
              <a:t> değerine sahiptir. </a:t>
            </a:r>
            <a:endParaRPr lang="tr-TR" dirty="0" smtClean="0"/>
          </a:p>
          <a:p>
            <a:r>
              <a:rPr lang="tr-TR" dirty="0" smtClean="0"/>
              <a:t>Her </a:t>
            </a:r>
            <a:r>
              <a:rPr lang="tr-TR" dirty="0" err="1"/>
              <a:t>neuron</a:t>
            </a:r>
            <a:r>
              <a:rPr lang="tr-TR" dirty="0"/>
              <a:t> girişleri alır, birleştirir ve genellikle </a:t>
            </a:r>
            <a:r>
              <a:rPr lang="tr-TR" dirty="0" err="1"/>
              <a:t>non</a:t>
            </a:r>
            <a:r>
              <a:rPr lang="tr-TR" dirty="0"/>
              <a:t>-lineer bir fonksiyon ile çıkış üretir. </a:t>
            </a:r>
            <a:endParaRPr lang="tr-TR" dirty="0" smtClean="0"/>
          </a:p>
          <a:p>
            <a:r>
              <a:rPr lang="tr-TR" dirty="0" smtClean="0"/>
              <a:t>CNN </a:t>
            </a:r>
            <a:r>
              <a:rPr lang="tr-TR" dirty="0"/>
              <a:t>uygulamaları girişleri görüntü olarak varsayar ve özellikleri mimariye kodlamamızı sağlar.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3592849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err="1" smtClean="0"/>
              <a:t>Convolutional</a:t>
            </a:r>
            <a:r>
              <a:rPr lang="tr-TR" dirty="0" smtClean="0"/>
              <a:t> </a:t>
            </a:r>
            <a:r>
              <a:rPr lang="tr-TR" dirty="0" err="1"/>
              <a:t>neural</a:t>
            </a:r>
            <a:r>
              <a:rPr lang="tr-TR" dirty="0"/>
              <a:t> </a:t>
            </a:r>
            <a:r>
              <a:rPr lang="tr-TR" dirty="0" err="1" smtClean="0"/>
              <a:t>networks</a:t>
            </a:r>
            <a:r>
              <a:rPr lang="tr-TR" dirty="0" smtClean="0"/>
              <a:t> (CNN)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r>
              <a:rPr lang="tr-TR" dirty="0"/>
              <a:t>CNN’lerde </a:t>
            </a:r>
            <a:r>
              <a:rPr lang="tr-TR" dirty="0" err="1"/>
              <a:t>neuron’lar</a:t>
            </a:r>
            <a:r>
              <a:rPr lang="tr-TR" dirty="0"/>
              <a:t> üç boyutlu olarak düzenlenir. </a:t>
            </a:r>
            <a:endParaRPr lang="tr-TR" dirty="0" smtClean="0"/>
          </a:p>
          <a:p>
            <a:r>
              <a:rPr lang="tr-TR" dirty="0" smtClean="0"/>
              <a:t>CNN’lerde </a:t>
            </a:r>
            <a:r>
              <a:rPr lang="tr-TR" dirty="0"/>
              <a:t>her katman 3D giriş alabilir ve 3D çıkış üretebilir. </a:t>
            </a:r>
            <a:endParaRPr lang="tr-TR" dirty="0" smtClean="0"/>
          </a:p>
          <a:p>
            <a:r>
              <a:rPr lang="tr-TR" dirty="0" smtClean="0"/>
              <a:t>Giriş </a:t>
            </a:r>
            <a:r>
              <a:rPr lang="tr-TR" dirty="0"/>
              <a:t>katmanı görüntüyü alır. </a:t>
            </a:r>
            <a:endParaRPr lang="tr-TR" dirty="0" smtClean="0"/>
          </a:p>
          <a:p>
            <a:r>
              <a:rPr lang="tr-TR" dirty="0" smtClean="0"/>
              <a:t>Giriş </a:t>
            </a:r>
            <a:r>
              <a:rPr lang="tr-TR" dirty="0"/>
              <a:t>katmanının genişlik ve yüksekliği, görüntünün genişlik ve yüksekliği kadardır. </a:t>
            </a:r>
            <a:endParaRPr lang="tr-TR" dirty="0" smtClean="0"/>
          </a:p>
          <a:p>
            <a:r>
              <a:rPr lang="tr-TR" dirty="0" smtClean="0"/>
              <a:t>Giriş </a:t>
            </a:r>
            <a:r>
              <a:rPr lang="tr-TR" dirty="0"/>
              <a:t>katmanının derinliği 3 olabilir (</a:t>
            </a:r>
            <a:r>
              <a:rPr lang="tr-TR" dirty="0" err="1"/>
              <a:t>red</a:t>
            </a:r>
            <a:r>
              <a:rPr lang="tr-TR" dirty="0"/>
              <a:t>, </a:t>
            </a:r>
            <a:r>
              <a:rPr lang="tr-TR" dirty="0" err="1"/>
              <a:t>green</a:t>
            </a:r>
            <a:r>
              <a:rPr lang="tr-TR" dirty="0"/>
              <a:t>, </a:t>
            </a:r>
            <a:r>
              <a:rPr lang="tr-TR" dirty="0" err="1"/>
              <a:t>blue</a:t>
            </a:r>
            <a:r>
              <a:rPr lang="tr-TR" dirty="0"/>
              <a:t>).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16" y="4530924"/>
            <a:ext cx="8244111" cy="229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919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err="1" smtClean="0"/>
              <a:t>Convolutional</a:t>
            </a:r>
            <a:r>
              <a:rPr lang="tr-TR" dirty="0" smtClean="0"/>
              <a:t> </a:t>
            </a:r>
            <a:r>
              <a:rPr lang="tr-TR" dirty="0" err="1" smtClean="0"/>
              <a:t>neural</a:t>
            </a:r>
            <a:r>
              <a:rPr lang="tr-TR" dirty="0" smtClean="0"/>
              <a:t> </a:t>
            </a:r>
            <a:r>
              <a:rPr lang="tr-TR" dirty="0" err="1" smtClean="0"/>
              <a:t>networks</a:t>
            </a:r>
            <a:r>
              <a:rPr lang="tr-TR" dirty="0" smtClean="0"/>
              <a:t> (CNN)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CNN, </a:t>
            </a:r>
            <a:r>
              <a:rPr lang="tr-TR" dirty="0" err="1"/>
              <a:t>convolution</a:t>
            </a:r>
            <a:r>
              <a:rPr lang="tr-TR" dirty="0"/>
              <a:t> ve </a:t>
            </a:r>
            <a:r>
              <a:rPr lang="tr-TR" dirty="0" err="1"/>
              <a:t>pooling</a:t>
            </a:r>
            <a:r>
              <a:rPr lang="tr-TR" dirty="0"/>
              <a:t> operatörlerini kullanır. </a:t>
            </a:r>
            <a:endParaRPr lang="tr-TR" dirty="0" smtClean="0"/>
          </a:p>
          <a:p>
            <a:r>
              <a:rPr lang="tr-TR" dirty="0" smtClean="0"/>
              <a:t>Bir </a:t>
            </a:r>
            <a:r>
              <a:rPr lang="tr-TR" dirty="0"/>
              <a:t>CNN üç temel katman türüne sahiptir: </a:t>
            </a:r>
            <a:endParaRPr lang="tr-TR" dirty="0" smtClean="0"/>
          </a:p>
          <a:p>
            <a:pPr lvl="1"/>
            <a:r>
              <a:rPr lang="tr-TR" dirty="0" err="1" smtClean="0"/>
              <a:t>Convolutional</a:t>
            </a:r>
            <a:r>
              <a:rPr lang="tr-TR" dirty="0" smtClean="0"/>
              <a:t> </a:t>
            </a:r>
            <a:r>
              <a:rPr lang="tr-TR" dirty="0" err="1"/>
              <a:t>layer</a:t>
            </a:r>
            <a:r>
              <a:rPr lang="tr-TR" dirty="0"/>
              <a:t> </a:t>
            </a:r>
            <a:endParaRPr lang="tr-TR" dirty="0" smtClean="0"/>
          </a:p>
          <a:p>
            <a:pPr lvl="1"/>
            <a:r>
              <a:rPr lang="tr-TR" dirty="0" err="1" smtClean="0"/>
              <a:t>Pooling</a:t>
            </a:r>
            <a:r>
              <a:rPr lang="tr-TR" dirty="0" smtClean="0"/>
              <a:t> </a:t>
            </a:r>
            <a:r>
              <a:rPr lang="tr-TR" dirty="0" err="1"/>
              <a:t>layer</a:t>
            </a:r>
            <a:r>
              <a:rPr lang="tr-TR" dirty="0"/>
              <a:t> </a:t>
            </a:r>
            <a:endParaRPr lang="tr-TR" dirty="0" smtClean="0"/>
          </a:p>
          <a:p>
            <a:pPr lvl="1"/>
            <a:r>
              <a:rPr lang="tr-TR" dirty="0" err="1" smtClean="0"/>
              <a:t>Fully-connected</a:t>
            </a:r>
            <a:r>
              <a:rPr lang="tr-TR" dirty="0" smtClean="0"/>
              <a:t> </a:t>
            </a:r>
            <a:r>
              <a:rPr lang="tr-TR" dirty="0" err="1"/>
              <a:t>layer</a:t>
            </a:r>
            <a:r>
              <a:rPr lang="tr-TR" dirty="0"/>
              <a:t> </a:t>
            </a:r>
            <a:endParaRPr lang="tr-TR" dirty="0" smtClean="0"/>
          </a:p>
          <a:p>
            <a:r>
              <a:rPr lang="tr-TR" dirty="0" smtClean="0"/>
              <a:t>Art </a:t>
            </a:r>
            <a:r>
              <a:rPr lang="tr-TR" dirty="0"/>
              <a:t>arda çok sayıda </a:t>
            </a:r>
            <a:r>
              <a:rPr lang="tr-TR" dirty="0" err="1"/>
              <a:t>convolution+pooling</a:t>
            </a:r>
            <a:r>
              <a:rPr lang="tr-TR" dirty="0"/>
              <a:t> yapılabilir. </a:t>
            </a:r>
            <a:endParaRPr lang="tr-TR" dirty="0" smtClean="0"/>
          </a:p>
          <a:p>
            <a:r>
              <a:rPr lang="tr-TR" dirty="0" smtClean="0"/>
              <a:t>Daha </a:t>
            </a:r>
            <a:r>
              <a:rPr lang="tr-TR" dirty="0"/>
              <a:t>sonra birkaç tane </a:t>
            </a:r>
            <a:r>
              <a:rPr lang="tr-TR" dirty="0" err="1"/>
              <a:t>fully</a:t>
            </a:r>
            <a:r>
              <a:rPr lang="tr-TR" dirty="0"/>
              <a:t> </a:t>
            </a:r>
            <a:r>
              <a:rPr lang="tr-TR" dirty="0" err="1"/>
              <a:t>connected</a:t>
            </a:r>
            <a:r>
              <a:rPr lang="tr-TR" dirty="0"/>
              <a:t> katmanı bulunur. </a:t>
            </a:r>
            <a:endParaRPr lang="tr-TR" dirty="0" smtClean="0"/>
          </a:p>
          <a:p>
            <a:r>
              <a:rPr lang="tr-TR" dirty="0" smtClean="0"/>
              <a:t>Çok </a:t>
            </a:r>
            <a:r>
              <a:rPr lang="tr-TR" dirty="0"/>
              <a:t>etiketli sınıflandırma problemlerinde, en sonda </a:t>
            </a:r>
            <a:r>
              <a:rPr lang="tr-TR" dirty="0" err="1"/>
              <a:t>softmax</a:t>
            </a:r>
            <a:r>
              <a:rPr lang="tr-TR" dirty="0"/>
              <a:t> katmanı bulunur. </a:t>
            </a:r>
            <a:endParaRPr lang="tr-TR" dirty="0" smtClean="0"/>
          </a:p>
          <a:p>
            <a:r>
              <a:rPr lang="tr-TR" dirty="0" err="1" smtClean="0"/>
              <a:t>Fully-connected</a:t>
            </a:r>
            <a:r>
              <a:rPr lang="tr-TR" dirty="0" smtClean="0"/>
              <a:t> </a:t>
            </a:r>
            <a:r>
              <a:rPr lang="tr-TR" dirty="0"/>
              <a:t>katmanı üç boyutlu girişi tek boyuta indirgeyerek alır ve bir sınıf etiketi elde eder. </a:t>
            </a:r>
            <a:endParaRPr lang="tr-TR" dirty="0" smtClean="0"/>
          </a:p>
          <a:p>
            <a:r>
              <a:rPr lang="tr-TR" dirty="0" err="1" smtClean="0"/>
              <a:t>Softmax</a:t>
            </a:r>
            <a:r>
              <a:rPr lang="tr-TR" dirty="0" smtClean="0"/>
              <a:t> </a:t>
            </a:r>
            <a:r>
              <a:rPr lang="tr-TR" dirty="0"/>
              <a:t>katmanı çıkış sınıflarının olasılık dağılımını hesaplar.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3515504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err="1" smtClean="0"/>
              <a:t>Convolutional</a:t>
            </a:r>
            <a:r>
              <a:rPr lang="tr-TR" dirty="0" smtClean="0"/>
              <a:t> </a:t>
            </a:r>
            <a:r>
              <a:rPr lang="tr-TR" dirty="0" err="1"/>
              <a:t>neural</a:t>
            </a:r>
            <a:r>
              <a:rPr lang="tr-TR" dirty="0"/>
              <a:t> </a:t>
            </a:r>
            <a:r>
              <a:rPr lang="tr-TR" dirty="0" err="1" smtClean="0"/>
              <a:t>networks</a:t>
            </a:r>
            <a:r>
              <a:rPr lang="tr-TR" dirty="0" smtClean="0"/>
              <a:t> (CNN)</a:t>
            </a:r>
            <a:endParaRPr lang="tr-TR" dirty="0">
              <a:ea typeface="ＭＳ Ｐゴシック" pitchFamily="34" charset="-128"/>
            </a:endParaRP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44824"/>
            <a:ext cx="7923693" cy="1977417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645024"/>
            <a:ext cx="7698142" cy="281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96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err="1" smtClean="0"/>
              <a:t>Convolutional</a:t>
            </a:r>
            <a:r>
              <a:rPr lang="tr-TR" dirty="0" smtClean="0"/>
              <a:t> </a:t>
            </a:r>
            <a:r>
              <a:rPr lang="tr-TR" dirty="0" err="1" smtClean="0"/>
              <a:t>neural</a:t>
            </a:r>
            <a:r>
              <a:rPr lang="tr-TR" dirty="0" smtClean="0"/>
              <a:t> </a:t>
            </a:r>
            <a:r>
              <a:rPr lang="tr-TR" dirty="0" err="1" smtClean="0"/>
              <a:t>networks</a:t>
            </a:r>
            <a:r>
              <a:rPr lang="tr-TR" dirty="0" smtClean="0"/>
              <a:t> (CNN)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Örnek </a:t>
            </a:r>
            <a:endParaRPr lang="tr-TR" dirty="0" smtClean="0"/>
          </a:p>
          <a:p>
            <a:pPr lvl="1"/>
            <a:r>
              <a:rPr lang="tr-TR" dirty="0" smtClean="0"/>
              <a:t>CIFAR-10</a:t>
            </a:r>
            <a:r>
              <a:rPr lang="tr-TR" dirty="0"/>
              <a:t>* </a:t>
            </a:r>
            <a:r>
              <a:rPr lang="tr-TR" dirty="0" err="1"/>
              <a:t>veriseti</a:t>
            </a:r>
            <a:r>
              <a:rPr lang="tr-TR" dirty="0"/>
              <a:t>, 10 sınıfa ait 60.000 tane 32x32 renkli görüntüye sahiptir (her sınıf için 6.000 görüntü). </a:t>
            </a:r>
            <a:endParaRPr lang="tr-TR" dirty="0" smtClean="0"/>
          </a:p>
          <a:p>
            <a:pPr lvl="1"/>
            <a:r>
              <a:rPr lang="tr-TR" dirty="0" smtClean="0"/>
              <a:t>50.000 </a:t>
            </a:r>
            <a:r>
              <a:rPr lang="tr-TR" dirty="0" err="1"/>
              <a:t>train</a:t>
            </a:r>
            <a:r>
              <a:rPr lang="tr-TR" dirty="0"/>
              <a:t> ve 10.000 test için ayrılabilir.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2" y="3177358"/>
            <a:ext cx="6779096" cy="356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59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err="1" smtClean="0"/>
              <a:t>Convolutional</a:t>
            </a:r>
            <a:r>
              <a:rPr lang="tr-TR" dirty="0" smtClean="0"/>
              <a:t> </a:t>
            </a:r>
            <a:r>
              <a:rPr lang="tr-TR" dirty="0" err="1" smtClean="0"/>
              <a:t>neural</a:t>
            </a:r>
            <a:r>
              <a:rPr lang="tr-TR" dirty="0" smtClean="0"/>
              <a:t> </a:t>
            </a:r>
            <a:r>
              <a:rPr lang="tr-TR" dirty="0" err="1" smtClean="0"/>
              <a:t>networks</a:t>
            </a:r>
            <a:r>
              <a:rPr lang="tr-TR" dirty="0" smtClean="0"/>
              <a:t> (CNN)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Yaygın kullanılan CNN mimarileri: </a:t>
            </a:r>
            <a:endParaRPr lang="tr-TR" dirty="0" smtClean="0"/>
          </a:p>
          <a:p>
            <a:r>
              <a:rPr lang="tr-TR" dirty="0" smtClean="0"/>
              <a:t>LeNet-5 </a:t>
            </a:r>
          </a:p>
          <a:p>
            <a:r>
              <a:rPr lang="tr-TR" dirty="0" err="1" smtClean="0"/>
              <a:t>AlexNet</a:t>
            </a:r>
            <a:r>
              <a:rPr lang="tr-TR" dirty="0" smtClean="0"/>
              <a:t> </a:t>
            </a:r>
          </a:p>
          <a:p>
            <a:r>
              <a:rPr lang="tr-TR" dirty="0" smtClean="0"/>
              <a:t>VGG-16 </a:t>
            </a:r>
          </a:p>
          <a:p>
            <a:r>
              <a:rPr lang="tr-TR" dirty="0" err="1" smtClean="0"/>
              <a:t>ResNet</a:t>
            </a:r>
            <a:r>
              <a:rPr lang="tr-TR" dirty="0" smtClean="0"/>
              <a:t> </a:t>
            </a:r>
          </a:p>
          <a:p>
            <a:r>
              <a:rPr lang="tr-TR" dirty="0" err="1" smtClean="0"/>
              <a:t>GoogLeNet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2890315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smtClean="0"/>
              <a:t>CNN</a:t>
            </a:r>
            <a:r>
              <a:rPr lang="tr-TR" dirty="0"/>
              <a:t> </a:t>
            </a:r>
            <a:r>
              <a:rPr lang="tr-TR" dirty="0" smtClean="0"/>
              <a:t>Uygulamaları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Nesne tanımlama</a:t>
            </a:r>
            <a:r>
              <a:rPr lang="tr-TR" dirty="0" smtClean="0"/>
              <a:t> </a:t>
            </a:r>
            <a:endParaRPr lang="tr-TR" dirty="0" smtClean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204864"/>
            <a:ext cx="5943827" cy="436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307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smtClean="0"/>
              <a:t>CNN</a:t>
            </a:r>
            <a:r>
              <a:rPr lang="tr-TR" dirty="0"/>
              <a:t> </a:t>
            </a:r>
            <a:r>
              <a:rPr lang="tr-TR" dirty="0" smtClean="0"/>
              <a:t>Uygulamaları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smtClean="0"/>
              <a:t>Görüntü renklendirme</a:t>
            </a:r>
            <a:endParaRPr lang="tr-TR" b="1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276872"/>
            <a:ext cx="6528655" cy="377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41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smtClean="0"/>
              <a:t>CNN</a:t>
            </a:r>
            <a:r>
              <a:rPr lang="tr-TR" dirty="0"/>
              <a:t> </a:t>
            </a:r>
            <a:r>
              <a:rPr lang="tr-TR" dirty="0" smtClean="0"/>
              <a:t>Uygulamaları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smtClean="0"/>
              <a:t>Sürücüsüz Otomobil</a:t>
            </a:r>
            <a:endParaRPr lang="tr-TR" b="1" dirty="0" smtClean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276872"/>
            <a:ext cx="6053781" cy="375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65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smtClean="0"/>
              <a:t>CNN</a:t>
            </a:r>
            <a:r>
              <a:rPr lang="tr-TR" dirty="0"/>
              <a:t> </a:t>
            </a:r>
            <a:r>
              <a:rPr lang="tr-TR" dirty="0" smtClean="0"/>
              <a:t>Uygulamaları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smtClean="0"/>
              <a:t>Robotik</a:t>
            </a:r>
            <a:endParaRPr lang="tr-TR" b="1" dirty="0" smtClean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044" y="2420888"/>
            <a:ext cx="5765592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10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err="1"/>
              <a:t>Recurrent</a:t>
            </a:r>
            <a:r>
              <a:rPr lang="tr-TR" dirty="0"/>
              <a:t> </a:t>
            </a:r>
            <a:r>
              <a:rPr lang="tr-TR" dirty="0" err="1"/>
              <a:t>neural</a:t>
            </a:r>
            <a:r>
              <a:rPr lang="tr-TR" dirty="0"/>
              <a:t> </a:t>
            </a:r>
            <a:r>
              <a:rPr lang="tr-TR" dirty="0" err="1"/>
              <a:t>networks</a:t>
            </a:r>
            <a:r>
              <a:rPr lang="tr-TR" dirty="0"/>
              <a:t> </a:t>
            </a:r>
            <a:r>
              <a:rPr lang="tr-TR" dirty="0" smtClean="0"/>
              <a:t>(RNN)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 fontScale="92500" lnSpcReduction="10000"/>
          </a:bodyPr>
          <a:lstStyle/>
          <a:p>
            <a:r>
              <a:rPr lang="tr-TR" dirty="0" smtClean="0"/>
              <a:t>Tüm </a:t>
            </a:r>
            <a:r>
              <a:rPr lang="tr-TR" dirty="0"/>
              <a:t>problemler sabit uzunlukta girişler ve çıkışlar ile ifade edilemez. </a:t>
            </a:r>
            <a:endParaRPr lang="tr-TR" dirty="0" smtClean="0"/>
          </a:p>
          <a:p>
            <a:r>
              <a:rPr lang="tr-TR" dirty="0" smtClean="0"/>
              <a:t>Konuşma </a:t>
            </a:r>
            <a:r>
              <a:rPr lang="tr-TR" dirty="0"/>
              <a:t>tanıma, zaman serileri ve tahmin gibi problemler bilgiyi saklama ve kullanmayı gerektirir. </a:t>
            </a:r>
            <a:endParaRPr lang="tr-TR" dirty="0" smtClean="0"/>
          </a:p>
          <a:p>
            <a:r>
              <a:rPr lang="tr-TR" dirty="0" smtClean="0"/>
              <a:t>Örneğin</a:t>
            </a:r>
            <a:r>
              <a:rPr lang="tr-TR" dirty="0"/>
              <a:t>, girişteki bit dizisinde 1 sayısı çift ise EVET, tek ise HAYIR çıkışı üreten sistemde önceki bilgiyi saklamak gerekir (1000010101 -&gt; YES, 100011 -&gt; NO). </a:t>
            </a:r>
            <a:endParaRPr lang="tr-TR" dirty="0" smtClean="0"/>
          </a:p>
          <a:p>
            <a:r>
              <a:rPr lang="tr-TR" dirty="0" smtClean="0"/>
              <a:t>Bazı </a:t>
            </a:r>
            <a:r>
              <a:rPr lang="tr-TR" dirty="0"/>
              <a:t>problemlerde sabit uzunlukta giriş her zaman mümkün olmayabilir ve giriş boyutu öncekilerden farklı olabilir. </a:t>
            </a:r>
            <a:endParaRPr lang="tr-TR" dirty="0" smtClean="0"/>
          </a:p>
          <a:p>
            <a:r>
              <a:rPr lang="tr-TR" dirty="0" smtClean="0"/>
              <a:t>Tekrarlayan </a:t>
            </a:r>
            <a:r>
              <a:rPr lang="tr-TR" dirty="0"/>
              <a:t>sinir ağları (</a:t>
            </a:r>
            <a:r>
              <a:rPr lang="tr-TR" dirty="0" err="1"/>
              <a:t>recurrent</a:t>
            </a:r>
            <a:r>
              <a:rPr lang="tr-TR" dirty="0"/>
              <a:t> </a:t>
            </a:r>
            <a:r>
              <a:rPr lang="tr-TR" dirty="0" err="1"/>
              <a:t>neural</a:t>
            </a:r>
            <a:r>
              <a:rPr lang="tr-TR" dirty="0"/>
              <a:t> </a:t>
            </a:r>
            <a:r>
              <a:rPr lang="tr-TR" dirty="0" err="1"/>
              <a:t>networks</a:t>
            </a:r>
            <a:r>
              <a:rPr lang="tr-TR" dirty="0"/>
              <a:t>) önceki çıkışı veya gizli katmanın önceki durumlarını da giriş olarak alır. </a:t>
            </a:r>
            <a:endParaRPr lang="tr-TR" dirty="0" smtClean="0"/>
          </a:p>
          <a:p>
            <a:r>
              <a:rPr lang="tr-TR" dirty="0" smtClean="0"/>
              <a:t>Herhangi </a:t>
            </a:r>
            <a:r>
              <a:rPr lang="tr-TR" dirty="0"/>
              <a:t>bir t zamanındaki giriş, geçmiş bilgisi ile anlık girişin birleşimidir.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3398230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err="1"/>
              <a:t>Recurrent</a:t>
            </a:r>
            <a:r>
              <a:rPr lang="tr-TR" dirty="0"/>
              <a:t> </a:t>
            </a:r>
            <a:r>
              <a:rPr lang="tr-TR" dirty="0" err="1"/>
              <a:t>neural</a:t>
            </a:r>
            <a:r>
              <a:rPr lang="tr-TR" dirty="0"/>
              <a:t> </a:t>
            </a:r>
            <a:r>
              <a:rPr lang="tr-TR" dirty="0" err="1"/>
              <a:t>networks</a:t>
            </a:r>
            <a:r>
              <a:rPr lang="tr-TR" dirty="0"/>
              <a:t> </a:t>
            </a:r>
            <a:r>
              <a:rPr lang="tr-TR" dirty="0" smtClean="0"/>
              <a:t>(RNN)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r>
              <a:rPr lang="tr-TR" dirty="0"/>
              <a:t>Klasik yapay sinir ağlarında önceki durumlar veya girişler arasında ilişkilendirme yapılmaz. </a:t>
            </a:r>
            <a:endParaRPr lang="tr-TR" dirty="0" smtClean="0"/>
          </a:p>
          <a:p>
            <a:r>
              <a:rPr lang="tr-TR" dirty="0" err="1" smtClean="0"/>
              <a:t>RNN’lerde</a:t>
            </a:r>
            <a:r>
              <a:rPr lang="tr-TR" dirty="0" smtClean="0"/>
              <a:t> </a:t>
            </a:r>
            <a:r>
              <a:rPr lang="tr-TR" dirty="0"/>
              <a:t>önceki girişler veya durumlar ile ilişkilendirme yapılır.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388526"/>
            <a:ext cx="7434458" cy="307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374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err="1"/>
              <a:t>Recurrent</a:t>
            </a:r>
            <a:r>
              <a:rPr lang="tr-TR" dirty="0"/>
              <a:t> </a:t>
            </a:r>
            <a:r>
              <a:rPr lang="tr-TR" dirty="0" err="1"/>
              <a:t>neural</a:t>
            </a:r>
            <a:r>
              <a:rPr lang="tr-TR" dirty="0"/>
              <a:t> </a:t>
            </a:r>
            <a:r>
              <a:rPr lang="tr-TR" dirty="0" err="1"/>
              <a:t>networks</a:t>
            </a:r>
            <a:r>
              <a:rPr lang="tr-TR" dirty="0"/>
              <a:t> </a:t>
            </a:r>
            <a:r>
              <a:rPr lang="tr-TR" dirty="0" smtClean="0"/>
              <a:t>(RNN)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 fontScale="92500" lnSpcReduction="10000"/>
          </a:bodyPr>
          <a:lstStyle/>
          <a:p>
            <a:r>
              <a:rPr lang="tr-TR" dirty="0" smtClean="0"/>
              <a:t>Tüm </a:t>
            </a:r>
            <a:r>
              <a:rPr lang="tr-TR" dirty="0"/>
              <a:t>problemler sabit uzunlukta girişler ve çıkışlar ile ifade edilemez. </a:t>
            </a:r>
            <a:endParaRPr lang="tr-TR" dirty="0" smtClean="0"/>
          </a:p>
          <a:p>
            <a:r>
              <a:rPr lang="tr-TR" dirty="0" smtClean="0"/>
              <a:t>Konuşma </a:t>
            </a:r>
            <a:r>
              <a:rPr lang="tr-TR" dirty="0"/>
              <a:t>tanıma, zaman serileri ve tahmin gibi problemler bilgiyi saklama ve kullanmayı gerektirir. </a:t>
            </a:r>
            <a:endParaRPr lang="tr-TR" dirty="0" smtClean="0"/>
          </a:p>
          <a:p>
            <a:r>
              <a:rPr lang="tr-TR" dirty="0" smtClean="0"/>
              <a:t>Örneğin</a:t>
            </a:r>
            <a:r>
              <a:rPr lang="tr-TR" dirty="0"/>
              <a:t>, girişteki bit dizisinde 1 sayısı çift ise EVET, tek ise HAYIR çıkışı üreten sistemde önceki bilgiyi saklamak gerekir (1000010101 -&gt; YES, 100011 -&gt; NO). </a:t>
            </a:r>
            <a:endParaRPr lang="tr-TR" dirty="0" smtClean="0"/>
          </a:p>
          <a:p>
            <a:r>
              <a:rPr lang="tr-TR" dirty="0" smtClean="0"/>
              <a:t>Bazı </a:t>
            </a:r>
            <a:r>
              <a:rPr lang="tr-TR" dirty="0"/>
              <a:t>problemlerde sabit uzunlukta giriş her zaman mümkün olmayabilir ve giriş boyutu öncekilerden farklı olabilir. </a:t>
            </a:r>
            <a:endParaRPr lang="tr-TR" dirty="0" smtClean="0"/>
          </a:p>
          <a:p>
            <a:r>
              <a:rPr lang="tr-TR" dirty="0" smtClean="0"/>
              <a:t>Tekrarlayan </a:t>
            </a:r>
            <a:r>
              <a:rPr lang="tr-TR" dirty="0"/>
              <a:t>sinir ağları (</a:t>
            </a:r>
            <a:r>
              <a:rPr lang="tr-TR" dirty="0" err="1"/>
              <a:t>recurrent</a:t>
            </a:r>
            <a:r>
              <a:rPr lang="tr-TR" dirty="0"/>
              <a:t> </a:t>
            </a:r>
            <a:r>
              <a:rPr lang="tr-TR" dirty="0" err="1"/>
              <a:t>neural</a:t>
            </a:r>
            <a:r>
              <a:rPr lang="tr-TR" dirty="0"/>
              <a:t> </a:t>
            </a:r>
            <a:r>
              <a:rPr lang="tr-TR" dirty="0" err="1"/>
              <a:t>networks</a:t>
            </a:r>
            <a:r>
              <a:rPr lang="tr-TR" dirty="0"/>
              <a:t>) önceki çıkışı veya gizli katmanın önceki durumlarını da giriş olarak alır. </a:t>
            </a:r>
            <a:endParaRPr lang="tr-TR" dirty="0" smtClean="0"/>
          </a:p>
          <a:p>
            <a:r>
              <a:rPr lang="tr-TR" dirty="0" smtClean="0"/>
              <a:t>Herhangi </a:t>
            </a:r>
            <a:r>
              <a:rPr lang="tr-TR" dirty="0"/>
              <a:t>bir t zamanındaki giriş, geçmiş bilgisi ile anlık girişin birleşimidir.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2185243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err="1" smtClean="0"/>
              <a:t>Deep</a:t>
            </a:r>
            <a:r>
              <a:rPr lang="tr-TR" dirty="0" smtClean="0"/>
              <a:t> (Derin) </a:t>
            </a:r>
            <a:r>
              <a:rPr lang="tr-TR" dirty="0" err="1" smtClean="0"/>
              <a:t>Autoencoder</a:t>
            </a:r>
            <a:r>
              <a:rPr lang="tr-TR" dirty="0" smtClean="0"/>
              <a:t> (DAN)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r>
              <a:rPr lang="tr-TR" dirty="0"/>
              <a:t>Çok sayıda gizli katman kullanılarak derin </a:t>
            </a:r>
            <a:r>
              <a:rPr lang="tr-TR" dirty="0" err="1"/>
              <a:t>autoencoder</a:t>
            </a:r>
            <a:r>
              <a:rPr lang="tr-TR" dirty="0"/>
              <a:t> geliştirilebilir.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708920"/>
            <a:ext cx="4173543" cy="360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95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err="1" smtClean="0"/>
              <a:t>Deep</a:t>
            </a:r>
            <a:r>
              <a:rPr lang="tr-TR" dirty="0" smtClean="0"/>
              <a:t>(Derin) </a:t>
            </a:r>
            <a:r>
              <a:rPr lang="tr-TR" dirty="0" err="1" smtClean="0"/>
              <a:t>Autoencoder</a:t>
            </a:r>
            <a:r>
              <a:rPr lang="tr-TR" dirty="0" smtClean="0"/>
              <a:t> </a:t>
            </a:r>
            <a:r>
              <a:rPr lang="tr-TR" dirty="0"/>
              <a:t>(DAN)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r>
              <a:rPr lang="tr-TR" dirty="0" smtClean="0"/>
              <a:t>Eğer </a:t>
            </a:r>
            <a:r>
              <a:rPr lang="tr-TR" dirty="0"/>
              <a:t>bir AE başarılı tasarlanmış ise, g(f(x)) = x kümesini öğrenir. </a:t>
            </a:r>
            <a:endParaRPr lang="tr-TR" dirty="0" smtClean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453042"/>
            <a:ext cx="5432219" cy="422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00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err="1"/>
              <a:t>Deep</a:t>
            </a:r>
            <a:r>
              <a:rPr lang="tr-TR" dirty="0"/>
              <a:t>(Derin) </a:t>
            </a:r>
            <a:r>
              <a:rPr lang="tr-TR" dirty="0" err="1" smtClean="0"/>
              <a:t>Autoencoder</a:t>
            </a:r>
            <a:r>
              <a:rPr lang="tr-TR" dirty="0" smtClean="0"/>
              <a:t> </a:t>
            </a:r>
            <a:r>
              <a:rPr lang="tr-TR" dirty="0"/>
              <a:t>(DAN)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r>
              <a:rPr lang="tr-TR" dirty="0"/>
              <a:t>Gizli katmanda elde edilen </a:t>
            </a:r>
            <a:r>
              <a:rPr lang="tr-TR" dirty="0" err="1"/>
              <a:t>code</a:t>
            </a:r>
            <a:r>
              <a:rPr lang="tr-TR" dirty="0"/>
              <a:t>, girişin özeti veya sıkıştırılmış halidir. </a:t>
            </a:r>
            <a:endParaRPr lang="tr-TR" dirty="0" smtClean="0"/>
          </a:p>
          <a:p>
            <a:r>
              <a:rPr lang="tr-TR" dirty="0" smtClean="0"/>
              <a:t>Encoder</a:t>
            </a:r>
            <a:r>
              <a:rPr lang="tr-TR" dirty="0"/>
              <a:t>, girişi sıkıştırır ve </a:t>
            </a:r>
            <a:r>
              <a:rPr lang="tr-TR" dirty="0" err="1"/>
              <a:t>code</a:t>
            </a:r>
            <a:r>
              <a:rPr lang="tr-TR" dirty="0"/>
              <a:t> üretir. </a:t>
            </a:r>
            <a:endParaRPr lang="tr-TR" dirty="0" smtClean="0"/>
          </a:p>
          <a:p>
            <a:r>
              <a:rPr lang="tr-TR" dirty="0" err="1" smtClean="0"/>
              <a:t>Decoder</a:t>
            </a:r>
            <a:r>
              <a:rPr lang="tr-TR" dirty="0" smtClean="0"/>
              <a:t> </a:t>
            </a:r>
            <a:r>
              <a:rPr lang="tr-TR" dirty="0"/>
              <a:t>ise, aldığı </a:t>
            </a:r>
            <a:r>
              <a:rPr lang="tr-TR" dirty="0" err="1"/>
              <a:t>code</a:t>
            </a:r>
            <a:r>
              <a:rPr lang="tr-TR" dirty="0"/>
              <a:t> ile girişi yeniden elde etmeye çalışır. </a:t>
            </a:r>
            <a:endParaRPr lang="tr-TR" dirty="0" smtClean="0"/>
          </a:p>
          <a:p>
            <a:r>
              <a:rPr lang="tr-TR" dirty="0" smtClean="0"/>
              <a:t>Bir </a:t>
            </a:r>
            <a:r>
              <a:rPr lang="tr-TR" dirty="0"/>
              <a:t>AE oluşturmak için, </a:t>
            </a:r>
            <a:r>
              <a:rPr lang="tr-TR" dirty="0" err="1"/>
              <a:t>encoding</a:t>
            </a:r>
            <a:r>
              <a:rPr lang="tr-TR" dirty="0"/>
              <a:t> metodu, </a:t>
            </a:r>
            <a:r>
              <a:rPr lang="tr-TR" dirty="0" err="1"/>
              <a:t>decoding</a:t>
            </a:r>
            <a:r>
              <a:rPr lang="tr-TR" dirty="0"/>
              <a:t> metodu ve kayıp fonksiyonu gereklidir. 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4652425"/>
            <a:ext cx="7122638" cy="200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098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smtClean="0"/>
              <a:t>DAN Uygulamaları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r>
              <a:rPr lang="tr-TR" dirty="0" smtClean="0"/>
              <a:t>Veriyi </a:t>
            </a:r>
            <a:r>
              <a:rPr lang="tr-TR" dirty="0"/>
              <a:t>gürültüden temizlemek amacıyla kullanılır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236366"/>
            <a:ext cx="6525610" cy="423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36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tr-TR" dirty="0" smtClean="0"/>
              <a:t>DAN Uygulamaları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r>
              <a:rPr lang="tr-TR" dirty="0"/>
              <a:t>Görüntüyü renklendirme amacıyla kullanılmaktadır</a:t>
            </a:r>
            <a:endParaRPr lang="tr-TR" dirty="0" smtClean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45065"/>
            <a:ext cx="6120680" cy="481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21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ea typeface="ＭＳ Ｐゴシック" pitchFamily="34" charset="-128"/>
              </a:rPr>
              <a:t>Deep</a:t>
            </a:r>
            <a:r>
              <a:rPr lang="tr-TR" dirty="0" smtClean="0">
                <a:ea typeface="ＭＳ Ｐゴシック" pitchFamily="34" charset="-128"/>
              </a:rPr>
              <a:t> </a:t>
            </a:r>
            <a:r>
              <a:rPr lang="tr-TR" dirty="0" err="1" smtClean="0">
                <a:ea typeface="ＭＳ Ｐゴシック" pitchFamily="34" charset="-128"/>
              </a:rPr>
              <a:t>Belıef</a:t>
            </a:r>
            <a:r>
              <a:rPr lang="tr-TR" dirty="0" smtClean="0">
                <a:ea typeface="ＭＳ Ｐゴシック" pitchFamily="34" charset="-128"/>
              </a:rPr>
              <a:t> Networks (DBF)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Derin mimariler çok seviyeli </a:t>
            </a:r>
            <a:r>
              <a:rPr lang="tr-TR" dirty="0" err="1"/>
              <a:t>non-linear</a:t>
            </a:r>
            <a:r>
              <a:rPr lang="tr-TR" dirty="0"/>
              <a:t> işlem biriminden oluşur. </a:t>
            </a:r>
            <a:endParaRPr lang="tr-TR" dirty="0" smtClean="0"/>
          </a:p>
          <a:p>
            <a:r>
              <a:rPr lang="tr-TR" dirty="0" smtClean="0"/>
              <a:t>Çok </a:t>
            </a:r>
            <a:r>
              <a:rPr lang="tr-TR" dirty="0"/>
              <a:t>sayıda gizli katmana sahip yapay sinir ağları derin mimariye sahiptir. 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65640"/>
            <a:ext cx="7549505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40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ea typeface="ＭＳ Ｐゴシック" pitchFamily="34" charset="-128"/>
              </a:rPr>
              <a:t>Deep</a:t>
            </a:r>
            <a:r>
              <a:rPr lang="tr-TR" dirty="0" smtClean="0">
                <a:ea typeface="ＭＳ Ｐゴシック" pitchFamily="34" charset="-128"/>
              </a:rPr>
              <a:t> </a:t>
            </a:r>
            <a:r>
              <a:rPr lang="tr-TR" dirty="0" err="1" smtClean="0">
                <a:ea typeface="ＭＳ Ｐゴシック" pitchFamily="34" charset="-128"/>
              </a:rPr>
              <a:t>Belıef</a:t>
            </a:r>
            <a:r>
              <a:rPr lang="tr-TR" dirty="0">
                <a:ea typeface="ＭＳ Ｐゴシック" pitchFamily="34" charset="-128"/>
              </a:rPr>
              <a:t> Networks (DBF)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Bazı karmaşık problemler </a:t>
            </a:r>
            <a:r>
              <a:rPr lang="tr-TR" dirty="0" err="1"/>
              <a:t>shallow</a:t>
            </a:r>
            <a:r>
              <a:rPr lang="tr-TR" dirty="0"/>
              <a:t> </a:t>
            </a:r>
            <a:r>
              <a:rPr lang="tr-TR" dirty="0" err="1"/>
              <a:t>neural</a:t>
            </a:r>
            <a:r>
              <a:rPr lang="tr-TR" dirty="0"/>
              <a:t> network yapısıyla istenen düzeyde çözülememektedir. </a:t>
            </a:r>
            <a:endParaRPr lang="tr-TR" dirty="0" smtClean="0"/>
          </a:p>
          <a:p>
            <a:r>
              <a:rPr lang="tr-TR" dirty="0" err="1" smtClean="0"/>
              <a:t>Backpropagation</a:t>
            </a:r>
            <a:r>
              <a:rPr lang="tr-TR" dirty="0" smtClean="0"/>
              <a:t> </a:t>
            </a:r>
            <a:r>
              <a:rPr lang="tr-TR" dirty="0"/>
              <a:t>ile eğitim için etiketlenmiş veriye ihtiyaç duyulur. </a:t>
            </a:r>
            <a:endParaRPr lang="tr-TR" dirty="0" smtClean="0"/>
          </a:p>
          <a:p>
            <a:r>
              <a:rPr lang="tr-TR" dirty="0" smtClean="0"/>
              <a:t>Günümüzdeki </a:t>
            </a:r>
            <a:r>
              <a:rPr lang="tr-TR" dirty="0"/>
              <a:t>verilerin büyük bölümü etiketlenmiş değildir. </a:t>
            </a:r>
            <a:endParaRPr lang="tr-TR" dirty="0" smtClean="0"/>
          </a:p>
          <a:p>
            <a:r>
              <a:rPr lang="tr-TR" dirty="0" smtClean="0"/>
              <a:t>Çok </a:t>
            </a:r>
            <a:r>
              <a:rPr lang="tr-TR" dirty="0"/>
              <a:t>katmanlı ağlarda </a:t>
            </a:r>
            <a:r>
              <a:rPr lang="tr-TR" dirty="0" err="1"/>
              <a:t>backpropagation</a:t>
            </a:r>
            <a:r>
              <a:rPr lang="tr-TR" dirty="0"/>
              <a:t> ile öğrenme süresi genellikle çok uzundur.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2950617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ea typeface="ＭＳ Ｐゴシック" pitchFamily="34" charset="-128"/>
              </a:rPr>
              <a:t>Deep</a:t>
            </a:r>
            <a:r>
              <a:rPr lang="tr-TR" dirty="0" smtClean="0">
                <a:ea typeface="ＭＳ Ｐゴシック" pitchFamily="34" charset="-128"/>
              </a:rPr>
              <a:t> </a:t>
            </a:r>
            <a:r>
              <a:rPr lang="tr-TR" dirty="0" err="1" smtClean="0">
                <a:ea typeface="ＭＳ Ｐゴシック" pitchFamily="34" charset="-128"/>
              </a:rPr>
              <a:t>Belıef</a:t>
            </a:r>
            <a:r>
              <a:rPr lang="tr-TR" dirty="0">
                <a:ea typeface="ＭＳ Ｐゴシック" pitchFamily="34" charset="-128"/>
              </a:rPr>
              <a:t> Networks (DBF)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4873752"/>
          </a:xfrm>
        </p:spPr>
        <p:txBody>
          <a:bodyPr>
            <a:normAutofit fontScale="92500" lnSpcReduction="10000"/>
          </a:bodyPr>
          <a:lstStyle/>
          <a:p>
            <a:r>
              <a:rPr lang="tr-TR" dirty="0" err="1"/>
              <a:t>DBN’lerde</a:t>
            </a:r>
            <a:r>
              <a:rPr lang="tr-TR" dirty="0"/>
              <a:t> temel problemlerden birisi parametrelerin başlangıç değerlerini belirlemektir. </a:t>
            </a:r>
            <a:endParaRPr lang="tr-TR" dirty="0" smtClean="0"/>
          </a:p>
          <a:p>
            <a:r>
              <a:rPr lang="tr-TR" dirty="0" smtClean="0"/>
              <a:t>Başlangıç </a:t>
            </a:r>
            <a:r>
              <a:rPr lang="tr-TR" dirty="0"/>
              <a:t>ağırlık değeri uygun olmazsa </a:t>
            </a:r>
            <a:r>
              <a:rPr lang="tr-TR" dirty="0" err="1"/>
              <a:t>gradient</a:t>
            </a:r>
            <a:r>
              <a:rPr lang="tr-TR" dirty="0"/>
              <a:t> </a:t>
            </a:r>
            <a:r>
              <a:rPr lang="tr-TR" dirty="0" err="1"/>
              <a:t>descent</a:t>
            </a:r>
            <a:r>
              <a:rPr lang="tr-TR" dirty="0"/>
              <a:t> ile iyi öğrenme yapılamaz. </a:t>
            </a:r>
            <a:endParaRPr lang="tr-TR" dirty="0" smtClean="0"/>
          </a:p>
          <a:p>
            <a:r>
              <a:rPr lang="tr-TR" dirty="0" err="1" smtClean="0"/>
              <a:t>DBN’lerde</a:t>
            </a:r>
            <a:r>
              <a:rPr lang="tr-TR" dirty="0"/>
              <a:t>, </a:t>
            </a:r>
            <a:r>
              <a:rPr lang="tr-TR" dirty="0" err="1"/>
              <a:t>greedy-layer</a:t>
            </a:r>
            <a:r>
              <a:rPr lang="tr-TR" dirty="0"/>
              <a:t> </a:t>
            </a:r>
            <a:r>
              <a:rPr lang="tr-TR" dirty="0" err="1"/>
              <a:t>wise</a:t>
            </a:r>
            <a:r>
              <a:rPr lang="tr-TR" dirty="0"/>
              <a:t> </a:t>
            </a:r>
            <a:r>
              <a:rPr lang="tr-TR" dirty="0" err="1"/>
              <a:t>unsupervised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 kullanılır. </a:t>
            </a:r>
            <a:endParaRPr lang="tr-TR" dirty="0" smtClean="0"/>
          </a:p>
          <a:p>
            <a:r>
              <a:rPr lang="tr-TR" dirty="0" smtClean="0"/>
              <a:t>Daha </a:t>
            </a:r>
            <a:r>
              <a:rPr lang="tr-TR" dirty="0"/>
              <a:t>iyi sonuç alabilmek için her katmana </a:t>
            </a:r>
            <a:r>
              <a:rPr lang="tr-TR" dirty="0" err="1"/>
              <a:t>unsupervised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 yöntemleri ile </a:t>
            </a:r>
            <a:r>
              <a:rPr lang="tr-TR" dirty="0" err="1"/>
              <a:t>pre-train</a:t>
            </a:r>
            <a:r>
              <a:rPr lang="tr-TR" dirty="0"/>
              <a:t> yapılır. </a:t>
            </a:r>
            <a:endParaRPr lang="tr-TR" dirty="0" smtClean="0"/>
          </a:p>
          <a:p>
            <a:r>
              <a:rPr lang="tr-TR" dirty="0" smtClean="0"/>
              <a:t>İlk </a:t>
            </a:r>
            <a:r>
              <a:rPr lang="tr-TR" dirty="0"/>
              <a:t>katmandan başlanarak tüm katmanlar </a:t>
            </a:r>
            <a:r>
              <a:rPr lang="tr-TR" dirty="0" err="1"/>
              <a:t>pre-train</a:t>
            </a:r>
            <a:r>
              <a:rPr lang="tr-TR" dirty="0"/>
              <a:t> yapılır. </a:t>
            </a:r>
            <a:endParaRPr lang="tr-TR" dirty="0" smtClean="0"/>
          </a:p>
          <a:p>
            <a:r>
              <a:rPr lang="tr-TR" dirty="0" smtClean="0"/>
              <a:t>Tüm </a:t>
            </a:r>
            <a:r>
              <a:rPr lang="tr-TR" dirty="0"/>
              <a:t>katmanlar </a:t>
            </a:r>
            <a:r>
              <a:rPr lang="tr-TR" dirty="0" err="1"/>
              <a:t>pre-train</a:t>
            </a:r>
            <a:r>
              <a:rPr lang="tr-TR" dirty="0"/>
              <a:t> ile </a:t>
            </a:r>
            <a:r>
              <a:rPr lang="tr-TR" dirty="0" err="1"/>
              <a:t>initiliaze</a:t>
            </a:r>
            <a:r>
              <a:rPr lang="tr-TR" dirty="0"/>
              <a:t> edilir. </a:t>
            </a:r>
            <a:endParaRPr lang="tr-TR" dirty="0" smtClean="0"/>
          </a:p>
          <a:p>
            <a:r>
              <a:rPr lang="tr-TR" dirty="0" smtClean="0"/>
              <a:t>Ardından </a:t>
            </a:r>
            <a:r>
              <a:rPr lang="tr-TR" dirty="0"/>
              <a:t>tüm katmanlar </a:t>
            </a:r>
            <a:r>
              <a:rPr lang="tr-TR" dirty="0" err="1"/>
              <a:t>supervised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 yöntemleri kullanılarak </a:t>
            </a:r>
            <a:r>
              <a:rPr lang="tr-TR" dirty="0" err="1"/>
              <a:t>fine-tuning</a:t>
            </a:r>
            <a:r>
              <a:rPr lang="tr-TR" dirty="0"/>
              <a:t> yapılır.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311704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/>
          <a:lstStyle/>
          <a:p>
            <a:r>
              <a:rPr lang="tr-TR" dirty="0" err="1" smtClean="0">
                <a:ea typeface="ＭＳ Ｐゴシック" pitchFamily="34" charset="-128"/>
              </a:rPr>
              <a:t>Generative</a:t>
            </a:r>
            <a:r>
              <a:rPr lang="tr-TR" dirty="0" smtClean="0">
                <a:ea typeface="ＭＳ Ｐゴシック" pitchFamily="34" charset="-128"/>
              </a:rPr>
              <a:t> </a:t>
            </a:r>
            <a:r>
              <a:rPr lang="tr-TR" dirty="0" err="1" smtClean="0">
                <a:ea typeface="ＭＳ Ｐゴシック" pitchFamily="34" charset="-128"/>
              </a:rPr>
              <a:t>Adversarial</a:t>
            </a:r>
            <a:r>
              <a:rPr lang="tr-TR" dirty="0" smtClean="0">
                <a:ea typeface="ＭＳ Ｐゴシック" pitchFamily="34" charset="-128"/>
              </a:rPr>
              <a:t> Networks(GAN)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r>
              <a:rPr lang="tr-TR" dirty="0" err="1"/>
              <a:t>Generative</a:t>
            </a:r>
            <a:r>
              <a:rPr lang="tr-TR" dirty="0"/>
              <a:t> </a:t>
            </a:r>
            <a:r>
              <a:rPr lang="tr-TR" dirty="0" err="1"/>
              <a:t>adversarial</a:t>
            </a:r>
            <a:r>
              <a:rPr lang="tr-TR" dirty="0"/>
              <a:t> network (üretici çekişmeli ağ) makine öğrenmesinde güncel bir araştırma konusudur. </a:t>
            </a:r>
            <a:endParaRPr lang="tr-TR" dirty="0" smtClean="0"/>
          </a:p>
          <a:p>
            <a:r>
              <a:rPr lang="tr-TR" dirty="0" err="1" smtClean="0"/>
              <a:t>GAN’ler</a:t>
            </a:r>
            <a:r>
              <a:rPr lang="tr-TR" dirty="0" smtClean="0"/>
              <a:t> </a:t>
            </a:r>
            <a:r>
              <a:rPr lang="tr-TR" dirty="0"/>
              <a:t>üretici modeldir ve eğitildikten sonra yeni veriler üretebilirler. </a:t>
            </a:r>
            <a:endParaRPr lang="tr-TR" dirty="0" smtClean="0"/>
          </a:p>
          <a:p>
            <a:r>
              <a:rPr lang="tr-TR" dirty="0" err="1" smtClean="0"/>
              <a:t>GAN’ler</a:t>
            </a:r>
            <a:r>
              <a:rPr lang="tr-TR" dirty="0" smtClean="0"/>
              <a:t> </a:t>
            </a:r>
            <a:r>
              <a:rPr lang="tr-TR" dirty="0"/>
              <a:t>gerçek fotoğraflar gibi fotoğraf üretebilir (insan yüzlerine ait fotoğraflar üretebilir). </a:t>
            </a:r>
            <a:endParaRPr lang="tr-TR" dirty="0" smtClean="0"/>
          </a:p>
          <a:p>
            <a:r>
              <a:rPr lang="tr-TR" dirty="0" smtClean="0"/>
              <a:t>Aşağıdaki </a:t>
            </a:r>
            <a:r>
              <a:rPr lang="tr-TR" dirty="0"/>
              <a:t>fotoğrafların hiçbirisi gerçek değildir (</a:t>
            </a:r>
            <a:r>
              <a:rPr lang="tr-TR" dirty="0" err="1"/>
              <a:t>fake</a:t>
            </a:r>
            <a:r>
              <a:rPr lang="tr-TR" dirty="0"/>
              <a:t>).</a:t>
            </a:r>
            <a:endParaRPr lang="tr-TR" dirty="0" smtClean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567378"/>
            <a:ext cx="7173724" cy="190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007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/>
          <a:lstStyle/>
          <a:p>
            <a:r>
              <a:rPr lang="tr-TR" dirty="0" err="1" smtClean="0">
                <a:ea typeface="ＭＳ Ｐゴシック" pitchFamily="34" charset="-128"/>
              </a:rPr>
              <a:t>Generative</a:t>
            </a:r>
            <a:r>
              <a:rPr lang="tr-TR" dirty="0" smtClean="0">
                <a:ea typeface="ＭＳ Ｐゴシック" pitchFamily="34" charset="-128"/>
              </a:rPr>
              <a:t> </a:t>
            </a:r>
            <a:r>
              <a:rPr lang="tr-TR" dirty="0" err="1" smtClean="0">
                <a:ea typeface="ＭＳ Ｐゴシック" pitchFamily="34" charset="-128"/>
              </a:rPr>
              <a:t>Adversarial</a:t>
            </a:r>
            <a:r>
              <a:rPr lang="tr-TR" dirty="0" smtClean="0">
                <a:ea typeface="ＭＳ Ｐゴシック" pitchFamily="34" charset="-128"/>
              </a:rPr>
              <a:t> Networks(GAN)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Makine öğrenme algoritmaları mevcut veride örüntü algılama çalışmalarında oldukça başarılıdır. </a:t>
            </a:r>
            <a:endParaRPr lang="tr-TR" dirty="0" smtClean="0"/>
          </a:p>
          <a:p>
            <a:r>
              <a:rPr lang="tr-TR" dirty="0" smtClean="0"/>
              <a:t>Makine </a:t>
            </a:r>
            <a:r>
              <a:rPr lang="tr-TR" dirty="0"/>
              <a:t>öğrenme algoritmaları sınıflandırma, kümeleme veya regresyon uygulamalarında başarılıdır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Yeni </a:t>
            </a:r>
            <a:r>
              <a:rPr lang="tr-TR" dirty="0"/>
              <a:t>bir veri üretme çalışmalarında bu algoritmalar yeterli düzeyde başarılı değildir. </a:t>
            </a:r>
            <a:endParaRPr lang="tr-TR" dirty="0" smtClean="0"/>
          </a:p>
          <a:p>
            <a:r>
              <a:rPr lang="tr-TR" dirty="0" smtClean="0"/>
              <a:t>2014 </a:t>
            </a:r>
            <a:r>
              <a:rPr lang="tr-TR" dirty="0"/>
              <a:t>yılında </a:t>
            </a:r>
            <a:r>
              <a:rPr lang="tr-TR" dirty="0" err="1"/>
              <a:t>Ian</a:t>
            </a:r>
            <a:r>
              <a:rPr lang="tr-TR" dirty="0"/>
              <a:t> </a:t>
            </a:r>
            <a:r>
              <a:rPr lang="tr-TR" dirty="0" err="1"/>
              <a:t>Goodfellow</a:t>
            </a:r>
            <a:r>
              <a:rPr lang="tr-TR" dirty="0"/>
              <a:t> tarafından </a:t>
            </a:r>
            <a:r>
              <a:rPr lang="tr-TR" dirty="0" err="1"/>
              <a:t>Generative</a:t>
            </a:r>
            <a:r>
              <a:rPr lang="tr-TR" dirty="0"/>
              <a:t> </a:t>
            </a:r>
            <a:r>
              <a:rPr lang="tr-TR" dirty="0" err="1"/>
              <a:t>Adversarial</a:t>
            </a:r>
            <a:r>
              <a:rPr lang="tr-TR" dirty="0"/>
              <a:t> Network (GAN) geliştirildi. </a:t>
            </a:r>
            <a:endParaRPr lang="tr-TR" dirty="0" smtClean="0"/>
          </a:p>
          <a:p>
            <a:r>
              <a:rPr lang="tr-TR" dirty="0" err="1" smtClean="0"/>
              <a:t>GAN’ler</a:t>
            </a:r>
            <a:r>
              <a:rPr lang="tr-TR" dirty="0" smtClean="0"/>
              <a:t> </a:t>
            </a:r>
            <a:r>
              <a:rPr lang="tr-TR" dirty="0"/>
              <a:t>gerçekçi veri üretebilmektedir. </a:t>
            </a:r>
            <a:endParaRPr lang="tr-TR" dirty="0" smtClean="0"/>
          </a:p>
          <a:p>
            <a:r>
              <a:rPr lang="tr-TR" dirty="0" err="1" smtClean="0"/>
              <a:t>GAN’ler</a:t>
            </a:r>
            <a:r>
              <a:rPr lang="tr-TR" dirty="0" smtClean="0"/>
              <a:t> </a:t>
            </a:r>
            <a:r>
              <a:rPr lang="tr-TR" dirty="0"/>
              <a:t>makine öğrenmesi tekniklerinin bir türüdür ve aynı anda eğitilen iki modelden oluşur: </a:t>
            </a:r>
            <a:endParaRPr lang="tr-TR" dirty="0" smtClean="0"/>
          </a:p>
          <a:p>
            <a:pPr lvl="1"/>
            <a:r>
              <a:rPr lang="tr-TR" dirty="0" err="1" smtClean="0"/>
              <a:t>Generator</a:t>
            </a:r>
            <a:r>
              <a:rPr lang="tr-TR" dirty="0" smtClean="0"/>
              <a:t> </a:t>
            </a:r>
            <a:r>
              <a:rPr lang="tr-TR" dirty="0"/>
              <a:t>(üretici): gerçek dışı veri üretmek için eğitilir. </a:t>
            </a:r>
            <a:endParaRPr lang="tr-TR" dirty="0" smtClean="0"/>
          </a:p>
          <a:p>
            <a:pPr lvl="1"/>
            <a:r>
              <a:rPr lang="tr-TR" dirty="0" err="1" smtClean="0"/>
              <a:t>Discriminatior</a:t>
            </a:r>
            <a:r>
              <a:rPr lang="tr-TR" dirty="0" smtClean="0"/>
              <a:t> </a:t>
            </a:r>
            <a:r>
              <a:rPr lang="tr-TR" dirty="0"/>
              <a:t>(ayrıştırıcı): gerçek dışı veriyi gerçek veriden ayırt etmek için eğitilir.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9628156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/>
          <a:lstStyle/>
          <a:p>
            <a:r>
              <a:rPr lang="tr-TR" dirty="0" err="1" smtClean="0">
                <a:ea typeface="ＭＳ Ｐゴシック" pitchFamily="34" charset="-128"/>
              </a:rPr>
              <a:t>Generative</a:t>
            </a:r>
            <a:r>
              <a:rPr lang="tr-TR" dirty="0" smtClean="0">
                <a:ea typeface="ＭＳ Ｐゴシック" pitchFamily="34" charset="-128"/>
              </a:rPr>
              <a:t> </a:t>
            </a:r>
            <a:r>
              <a:rPr lang="tr-TR" dirty="0" err="1" smtClean="0">
                <a:ea typeface="ＭＳ Ｐゴシック" pitchFamily="34" charset="-128"/>
              </a:rPr>
              <a:t>Adversarial</a:t>
            </a:r>
            <a:r>
              <a:rPr lang="tr-TR" dirty="0" smtClean="0">
                <a:ea typeface="ＭＳ Ｐゴシック" pitchFamily="34" charset="-128"/>
              </a:rPr>
              <a:t> Networks(GAN)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r>
              <a:rPr lang="tr-TR" dirty="0" err="1"/>
              <a:t>Generator</a:t>
            </a:r>
            <a:r>
              <a:rPr lang="tr-TR" dirty="0"/>
              <a:t> uygun veriler üretmeyi öğrenir. </a:t>
            </a:r>
            <a:endParaRPr lang="tr-TR" dirty="0" smtClean="0"/>
          </a:p>
          <a:p>
            <a:r>
              <a:rPr lang="tr-TR" dirty="0" smtClean="0"/>
              <a:t>Üretilen </a:t>
            </a:r>
            <a:r>
              <a:rPr lang="tr-TR" dirty="0"/>
              <a:t>örnekler </a:t>
            </a:r>
            <a:r>
              <a:rPr lang="tr-TR" dirty="0" err="1"/>
              <a:t>discriminator</a:t>
            </a:r>
            <a:r>
              <a:rPr lang="tr-TR" dirty="0"/>
              <a:t> için üreticinin ürettiği negatif verilerdir. </a:t>
            </a:r>
            <a:endParaRPr lang="tr-TR" dirty="0" smtClean="0"/>
          </a:p>
          <a:p>
            <a:r>
              <a:rPr lang="tr-TR" dirty="0" err="1" smtClean="0"/>
              <a:t>Discriminator</a:t>
            </a:r>
            <a:r>
              <a:rPr lang="tr-TR" dirty="0" smtClean="0"/>
              <a:t> </a:t>
            </a:r>
            <a:r>
              <a:rPr lang="tr-TR" dirty="0"/>
              <a:t>gerçek verilerle üreticinin ürettiği gerçek dışı verileri ayırt eder. </a:t>
            </a:r>
            <a:endParaRPr lang="tr-TR" dirty="0" smtClean="0"/>
          </a:p>
          <a:p>
            <a:r>
              <a:rPr lang="tr-TR" dirty="0" smtClean="0"/>
              <a:t>Eğitim </a:t>
            </a:r>
            <a:r>
              <a:rPr lang="tr-TR" dirty="0"/>
              <a:t>başladığında </a:t>
            </a:r>
            <a:r>
              <a:rPr lang="tr-TR" dirty="0" err="1"/>
              <a:t>discriminator</a:t>
            </a:r>
            <a:r>
              <a:rPr lang="tr-TR" dirty="0"/>
              <a:t> üreticinin ürettiği </a:t>
            </a:r>
            <a:r>
              <a:rPr lang="tr-TR" dirty="0" err="1"/>
              <a:t>fake</a:t>
            </a:r>
            <a:r>
              <a:rPr lang="tr-TR" dirty="0"/>
              <a:t> veriyi kolayca ayırt edebilir. </a:t>
            </a:r>
            <a:endParaRPr lang="tr-TR" dirty="0" smtClean="0"/>
          </a:p>
          <a:p>
            <a:r>
              <a:rPr lang="tr-TR" dirty="0" smtClean="0"/>
              <a:t>Eğitim </a:t>
            </a:r>
            <a:r>
              <a:rPr lang="tr-TR" dirty="0"/>
              <a:t>devam ederken üretici gerçeğe çok benzeyen veriler üretmeye başlar. </a:t>
            </a:r>
            <a:endParaRPr lang="tr-TR" dirty="0" smtClean="0"/>
          </a:p>
          <a:p>
            <a:r>
              <a:rPr lang="tr-TR" dirty="0" smtClean="0"/>
              <a:t>Eğitim </a:t>
            </a:r>
            <a:r>
              <a:rPr lang="tr-TR" dirty="0"/>
              <a:t>sürecinde hem </a:t>
            </a:r>
            <a:r>
              <a:rPr lang="tr-TR" dirty="0" err="1"/>
              <a:t>generator</a:t>
            </a:r>
            <a:r>
              <a:rPr lang="tr-TR" dirty="0"/>
              <a:t> hem de </a:t>
            </a:r>
            <a:r>
              <a:rPr lang="tr-TR" dirty="0" err="1"/>
              <a:t>discriminator</a:t>
            </a:r>
            <a:r>
              <a:rPr lang="tr-TR" dirty="0"/>
              <a:t> parametreleri optimize edilir.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11586660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/>
          <a:lstStyle/>
          <a:p>
            <a:r>
              <a:rPr lang="tr-TR" dirty="0" err="1" smtClean="0">
                <a:ea typeface="ＭＳ Ｐゴシック" pitchFamily="34" charset="-128"/>
              </a:rPr>
              <a:t>Generative</a:t>
            </a:r>
            <a:r>
              <a:rPr lang="tr-TR" dirty="0" smtClean="0">
                <a:ea typeface="ＭＳ Ｐゴシック" pitchFamily="34" charset="-128"/>
              </a:rPr>
              <a:t> </a:t>
            </a:r>
            <a:r>
              <a:rPr lang="tr-TR" dirty="0" err="1" smtClean="0">
                <a:ea typeface="ＭＳ Ｐゴシック" pitchFamily="34" charset="-128"/>
              </a:rPr>
              <a:t>Adversarial</a:t>
            </a:r>
            <a:r>
              <a:rPr lang="tr-TR" dirty="0" smtClean="0">
                <a:ea typeface="ＭＳ Ｐゴシック" pitchFamily="34" charset="-128"/>
              </a:rPr>
              <a:t> Networks(GAN)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r>
              <a:rPr lang="tr-TR" dirty="0"/>
              <a:t>Hem </a:t>
            </a:r>
            <a:r>
              <a:rPr lang="tr-TR" dirty="0" err="1"/>
              <a:t>generator</a:t>
            </a:r>
            <a:r>
              <a:rPr lang="tr-TR" dirty="0"/>
              <a:t> hem de </a:t>
            </a:r>
            <a:r>
              <a:rPr lang="tr-TR" dirty="0" err="1"/>
              <a:t>discriminator</a:t>
            </a:r>
            <a:r>
              <a:rPr lang="tr-TR" dirty="0"/>
              <a:t> yapay sinir ağıdır</a:t>
            </a:r>
            <a:r>
              <a:rPr lang="tr-TR" dirty="0" smtClean="0"/>
              <a:t>.</a:t>
            </a:r>
          </a:p>
          <a:p>
            <a:r>
              <a:rPr lang="tr-TR" dirty="0" err="1" smtClean="0"/>
              <a:t>Generator</a:t>
            </a:r>
            <a:r>
              <a:rPr lang="tr-TR" dirty="0" smtClean="0"/>
              <a:t> </a:t>
            </a:r>
            <a:r>
              <a:rPr lang="tr-TR" dirty="0"/>
              <a:t>çıkışı doğrudan </a:t>
            </a:r>
            <a:r>
              <a:rPr lang="tr-TR" dirty="0" err="1"/>
              <a:t>discriminator</a:t>
            </a:r>
            <a:r>
              <a:rPr lang="tr-TR" dirty="0"/>
              <a:t> girişine bağlıdır. </a:t>
            </a:r>
            <a:endParaRPr lang="tr-TR" dirty="0" smtClean="0"/>
          </a:p>
          <a:p>
            <a:r>
              <a:rPr lang="tr-TR" dirty="0" err="1" smtClean="0"/>
              <a:t>Backpropagation</a:t>
            </a:r>
            <a:r>
              <a:rPr lang="tr-TR" dirty="0" smtClean="0"/>
              <a:t> </a:t>
            </a:r>
            <a:r>
              <a:rPr lang="tr-TR" dirty="0"/>
              <a:t>ile öğrenme sürecinde </a:t>
            </a:r>
            <a:r>
              <a:rPr lang="tr-TR" dirty="0" err="1"/>
              <a:t>discriminator</a:t>
            </a:r>
            <a:r>
              <a:rPr lang="tr-TR" dirty="0"/>
              <a:t> hata değeri hesaplar. </a:t>
            </a:r>
            <a:endParaRPr lang="tr-TR" dirty="0" smtClean="0"/>
          </a:p>
          <a:p>
            <a:r>
              <a:rPr lang="tr-TR" dirty="0" smtClean="0"/>
              <a:t>Hesaplanan </a:t>
            </a:r>
            <a:r>
              <a:rPr lang="tr-TR" dirty="0"/>
              <a:t>hata değerine göre </a:t>
            </a:r>
            <a:r>
              <a:rPr lang="tr-TR" dirty="0" err="1"/>
              <a:t>generator’ın</a:t>
            </a:r>
            <a:r>
              <a:rPr lang="tr-TR" dirty="0"/>
              <a:t> ağırlıkları güncellenir. 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537" y="4365104"/>
            <a:ext cx="5974598" cy="24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50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/>
          <a:lstStyle/>
          <a:p>
            <a:r>
              <a:rPr lang="tr-TR" dirty="0" err="1" smtClean="0">
                <a:ea typeface="ＭＳ Ｐゴシック" pitchFamily="34" charset="-128"/>
              </a:rPr>
              <a:t>Generative</a:t>
            </a:r>
            <a:r>
              <a:rPr lang="tr-TR" dirty="0" smtClean="0">
                <a:ea typeface="ＭＳ Ｐゴシック" pitchFamily="34" charset="-128"/>
              </a:rPr>
              <a:t> </a:t>
            </a:r>
            <a:r>
              <a:rPr lang="tr-TR" dirty="0" err="1" smtClean="0">
                <a:ea typeface="ＭＳ Ｐゴシック" pitchFamily="34" charset="-128"/>
              </a:rPr>
              <a:t>Adversarial</a:t>
            </a:r>
            <a:r>
              <a:rPr lang="tr-TR" dirty="0" smtClean="0">
                <a:ea typeface="ＭＳ Ｐゴシック" pitchFamily="34" charset="-128"/>
              </a:rPr>
              <a:t> Networks(GAN)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r>
              <a:rPr lang="tr-TR" dirty="0"/>
              <a:t>Eğitim başarılı bir şekilde tamamlandığında </a:t>
            </a:r>
            <a:r>
              <a:rPr lang="tr-TR" dirty="0" err="1"/>
              <a:t>discriminator</a:t>
            </a:r>
            <a:r>
              <a:rPr lang="tr-TR" dirty="0"/>
              <a:t> üreticinin ürettiği ile gerçek veriyi ayırt edemez hale gelir.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857001"/>
            <a:ext cx="6204018" cy="361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1404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GAN Uygulamaları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Görüntü-görüntü dönüşümü </a:t>
            </a:r>
            <a:endParaRPr lang="tr-TR" b="1" dirty="0" smtClean="0"/>
          </a:p>
          <a:p>
            <a:r>
              <a:rPr lang="tr-TR" dirty="0" err="1" smtClean="0"/>
              <a:t>GAN’ler</a:t>
            </a:r>
            <a:r>
              <a:rPr lang="tr-TR" dirty="0" smtClean="0"/>
              <a:t> </a:t>
            </a:r>
            <a:r>
              <a:rPr lang="tr-TR" dirty="0"/>
              <a:t>boyama resimden gerçek fotoğraf üretebilir. </a:t>
            </a:r>
            <a:endParaRPr lang="tr-TR" dirty="0" smtClean="0"/>
          </a:p>
          <a:p>
            <a:r>
              <a:rPr lang="tr-TR" dirty="0" err="1" smtClean="0"/>
              <a:t>GAN’ler</a:t>
            </a:r>
            <a:r>
              <a:rPr lang="tr-TR" dirty="0" smtClean="0"/>
              <a:t> </a:t>
            </a:r>
            <a:r>
              <a:rPr lang="tr-TR" dirty="0"/>
              <a:t>zebra görüntüsünü ata dönüştürebilir veya tersini gerçekleştirebilir.</a:t>
            </a:r>
            <a:endParaRPr lang="tr-TR" dirty="0" smtClean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356992"/>
            <a:ext cx="7012383" cy="337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8102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GAN Uygulamaları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Görüntü-görüntü dönüşümü </a:t>
            </a:r>
            <a:endParaRPr lang="tr-TR" b="1" dirty="0" smtClean="0"/>
          </a:p>
          <a:p>
            <a:r>
              <a:rPr lang="tr-TR" dirty="0" err="1" smtClean="0"/>
              <a:t>GAN’ler</a:t>
            </a:r>
            <a:r>
              <a:rPr lang="tr-TR" dirty="0" smtClean="0"/>
              <a:t> </a:t>
            </a:r>
            <a:r>
              <a:rPr lang="tr-TR" dirty="0"/>
              <a:t>eskizlerden gerçek fotoğraf görüntüsü üretebilir.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2630309"/>
            <a:ext cx="3888432" cy="422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790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GAN Uygulamaları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Metinden görüntü sentezleme </a:t>
            </a:r>
            <a:endParaRPr lang="tr-TR" b="1" dirty="0" smtClean="0"/>
          </a:p>
          <a:p>
            <a:r>
              <a:rPr lang="tr-TR" dirty="0" err="1" smtClean="0"/>
              <a:t>GAN’ler</a:t>
            </a:r>
            <a:r>
              <a:rPr lang="tr-TR" dirty="0" smtClean="0"/>
              <a:t> </a:t>
            </a:r>
            <a:r>
              <a:rPr lang="tr-TR" dirty="0"/>
              <a:t>girilen bir metin için görüntü üretebilir.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807" y="2493520"/>
            <a:ext cx="4662057" cy="436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706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mba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Cumba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umba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454</TotalTime>
  <Words>1189</Words>
  <Application>Microsoft Office PowerPoint</Application>
  <PresentationFormat>Ekran Gösterisi (4:3)</PresentationFormat>
  <Paragraphs>145</Paragraphs>
  <Slides>33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33</vt:i4>
      </vt:variant>
    </vt:vector>
  </HeadingPairs>
  <TitlesOfParts>
    <vt:vector size="38" baseType="lpstr">
      <vt:lpstr>ＭＳ Ｐゴシック</vt:lpstr>
      <vt:lpstr>Century Schoolbook</vt:lpstr>
      <vt:lpstr>Wingdings</vt:lpstr>
      <vt:lpstr>Wingdings 2</vt:lpstr>
      <vt:lpstr>Cumba</vt:lpstr>
      <vt:lpstr>Derin Öğrenme</vt:lpstr>
      <vt:lpstr>Derin Öğrenme Nedir</vt:lpstr>
      <vt:lpstr>Derin Öğrenme Nedir</vt:lpstr>
      <vt:lpstr>Derin Öğrenme Modelleri</vt:lpstr>
      <vt:lpstr>Convolutional neural networks (CNN)</vt:lpstr>
      <vt:lpstr>Convolutional neural networks (CNN)</vt:lpstr>
      <vt:lpstr>Convolutional neural networks (CNN)</vt:lpstr>
      <vt:lpstr>Convolutional neural networks (CNN)</vt:lpstr>
      <vt:lpstr>Convolutional neural networks (CNN)</vt:lpstr>
      <vt:lpstr>Convolutional neural networks (CNN)</vt:lpstr>
      <vt:lpstr>CNN Uygulamaları</vt:lpstr>
      <vt:lpstr>CNN Uygulamaları</vt:lpstr>
      <vt:lpstr>CNN Uygulamaları</vt:lpstr>
      <vt:lpstr>CNN Uygulamaları</vt:lpstr>
      <vt:lpstr>Recurrent neural networks (RNN)</vt:lpstr>
      <vt:lpstr>Recurrent neural networks (RNN)</vt:lpstr>
      <vt:lpstr>Recurrent neural networks (RNN)</vt:lpstr>
      <vt:lpstr>Deep (Derin) Autoencoder (DAN)</vt:lpstr>
      <vt:lpstr>Deep(Derin) Autoencoder (DAN)</vt:lpstr>
      <vt:lpstr>Deep(Derin) Autoencoder (DAN)</vt:lpstr>
      <vt:lpstr>DAN Uygulamaları</vt:lpstr>
      <vt:lpstr>DAN Uygulamaları</vt:lpstr>
      <vt:lpstr>Deep Belıef Networks (DBF)</vt:lpstr>
      <vt:lpstr>Deep Belıef Networks (DBF)</vt:lpstr>
      <vt:lpstr>Deep Belıef Networks (DBF)</vt:lpstr>
      <vt:lpstr>Generative Adversarial Networks(GAN)</vt:lpstr>
      <vt:lpstr>Generative Adversarial Networks(GAN)</vt:lpstr>
      <vt:lpstr>Generative Adversarial Networks(GAN)</vt:lpstr>
      <vt:lpstr>Generative Adversarial Networks(GAN)</vt:lpstr>
      <vt:lpstr>Generative Adversarial Networks(GAN)</vt:lpstr>
      <vt:lpstr>GAN Uygulamaları</vt:lpstr>
      <vt:lpstr>GAN Uygulamaları</vt:lpstr>
      <vt:lpstr>GAN Uygulamaları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İLERİ PROGRAMLAMA</dc:title>
  <dc:creator>SFuat</dc:creator>
  <cp:lastModifiedBy>Tuncay</cp:lastModifiedBy>
  <cp:revision>67</cp:revision>
  <dcterms:created xsi:type="dcterms:W3CDTF">2020-02-18T10:38:04Z</dcterms:created>
  <dcterms:modified xsi:type="dcterms:W3CDTF">2023-10-22T06:21:06Z</dcterms:modified>
</cp:coreProperties>
</file>
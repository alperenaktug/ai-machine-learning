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7" r:id="rId28"/>
    <p:sldId id="288" r:id="rId29"/>
    <p:sldId id="289" r:id="rId3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13.11.2023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dirty="0" smtClean="0"/>
              <a:t>Sürü Algoritmaları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Sürü Algoritmaları 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r>
              <a:rPr lang="tr-TR" dirty="0"/>
              <a:t>Sürü algoritmaları, kolektif zekadan esinlenerek geliştirilmiştir. </a:t>
            </a:r>
            <a:endParaRPr lang="tr-TR" dirty="0" smtClean="0"/>
          </a:p>
          <a:p>
            <a:r>
              <a:rPr lang="tr-TR" dirty="0" smtClean="0"/>
              <a:t>Kolektif </a:t>
            </a:r>
            <a:r>
              <a:rPr lang="tr-TR" dirty="0"/>
              <a:t>zeka, bir ortamdaki çok sayıda bireyin işbirliğine dayanır. </a:t>
            </a:r>
            <a:endParaRPr lang="tr-TR" dirty="0" smtClean="0"/>
          </a:p>
          <a:p>
            <a:r>
              <a:rPr lang="tr-TR" dirty="0" smtClean="0"/>
              <a:t>Balık </a:t>
            </a:r>
            <a:r>
              <a:rPr lang="tr-TR" dirty="0"/>
              <a:t>kümeleri, kuş sürüleri ve karınca kolonileri kolektif zeka kullanır. </a:t>
            </a:r>
            <a:endParaRPr lang="tr-TR" dirty="0" smtClean="0"/>
          </a:p>
          <a:p>
            <a:r>
              <a:rPr lang="tr-TR" dirty="0" smtClean="0"/>
              <a:t>Kolektif </a:t>
            </a:r>
            <a:r>
              <a:rPr lang="tr-TR" dirty="0"/>
              <a:t>zeka, tek noktada merkezi değildir, kendi kendisine organize olabilir ve bulunduğu ortamın tamamında dağıtıktır.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tr-TR" dirty="0" smtClean="0"/>
          </a:p>
          <a:p>
            <a:r>
              <a:rPr lang="tr-TR" dirty="0" smtClean="0"/>
              <a:t>Karınca koloni algoritması, 1991 yılında Marco Dorigo tarafından tasarlanmıştır.</a:t>
            </a:r>
          </a:p>
          <a:p>
            <a:endParaRPr lang="tr-TR" dirty="0" smtClean="0"/>
          </a:p>
          <a:p>
            <a:r>
              <a:rPr lang="tr-TR" dirty="0" smtClean="0"/>
              <a:t>Bu algoritma, sürü zekası tabanlı optimizasyon algoritmalarından biridir.</a:t>
            </a:r>
          </a:p>
          <a:p>
            <a:endParaRPr lang="tr-TR" dirty="0" smtClean="0"/>
          </a:p>
          <a:p>
            <a:r>
              <a:rPr lang="tr-TR" dirty="0" smtClean="0"/>
              <a:t>Temel olarak karıncaların yiyecek madde ve yuvaları arasındaki en kısa yolu bulmalarından esinlenmiştir. 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197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Çeşitli çevre şartlarıyla bulunan en kısa yol artık en kısa yol olmaktan çıkarsa, karıncalar yeni en kısa yolu bulabilmektedirler. </a:t>
            </a:r>
          </a:p>
          <a:p>
            <a:endParaRPr lang="tr-TR" dirty="0"/>
          </a:p>
        </p:txBody>
      </p:sp>
      <p:pic>
        <p:nvPicPr>
          <p:cNvPr id="4" name="3 Resim" descr="karın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3214686"/>
            <a:ext cx="6643734" cy="3143272"/>
          </a:xfrm>
          <a:prstGeom prst="rect">
            <a:avLst/>
          </a:prstGeom>
        </p:spPr>
      </p:pic>
      <p:sp>
        <p:nvSpPr>
          <p:cNvPr id="7" name="Slayt Numarası Yer Tutucusu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859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Karıncalar birbirleriyle haberleşmede feromon adı verilen bir kimyasal madde kullanmaktadır.</a:t>
            </a:r>
          </a:p>
          <a:p>
            <a:endParaRPr lang="tr-TR" dirty="0" smtClean="0"/>
          </a:p>
          <a:p>
            <a:r>
              <a:rPr lang="tr-TR" dirty="0" smtClean="0"/>
              <a:t>Karıncalar yürürken yolları üzerine bir miktar feromon maddesi bırakır ve her bir karınca yuva veya yiyecek madde bulmak için bu doğrultuyu izler.</a:t>
            </a:r>
          </a:p>
          <a:p>
            <a:endParaRPr lang="tr-TR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293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Karıncalar yönlerini seçerken feromon sıvısının miktarına önem verirler. </a:t>
            </a:r>
          </a:p>
          <a:p>
            <a:endParaRPr lang="tr-TR" dirty="0" smtClean="0"/>
          </a:p>
          <a:p>
            <a:r>
              <a:rPr lang="tr-TR" dirty="0" smtClean="0"/>
              <a:t>Tüm karıncaların hızlarının ve yollara bıraktıkları feromon miktarının aynı olduğu kabul edildiğinde, daha kısa yollar birim zamanda daha çok feromon maddesi alacaktır.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771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tr-TR" u="sng" dirty="0" smtClean="0"/>
              <a:t>Karınca Koloni Algoritmasının Adımları;</a:t>
            </a:r>
          </a:p>
          <a:p>
            <a:pPr>
              <a:buNone/>
            </a:pPr>
            <a:endParaRPr lang="tr-TR" u="sng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Başlangıç feromon değerleri belirlenir.</a:t>
            </a:r>
            <a:endParaRPr lang="tr-TR" b="1" dirty="0" smtClean="0"/>
          </a:p>
          <a:p>
            <a:pPr marL="457200" indent="-457200">
              <a:buSzPct val="100000"/>
              <a:buFont typeface="+mj-lt"/>
              <a:buAutoNum type="arabicPeriod"/>
            </a:pPr>
            <a:endParaRPr lang="tr-TR" u="sng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Karıncalar her farklı noktaya rastgele yerleştirilir.</a:t>
            </a:r>
            <a:endParaRPr lang="tr-TR" b="1" dirty="0" smtClean="0"/>
          </a:p>
          <a:p>
            <a:pPr marL="457200" indent="-457200">
              <a:buSzPct val="100000"/>
              <a:buFont typeface="+mj-lt"/>
              <a:buAutoNum type="arabicPeriod"/>
            </a:pPr>
            <a:endParaRPr lang="tr-TR" u="sng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Karıncalar, sonraki hedeflerine olasılık denklemlerine bağlı olacak şekilde turlarını tamamlarlar.</a:t>
            </a:r>
            <a:endParaRPr lang="tr-TR" b="1" dirty="0" smtClean="0"/>
          </a:p>
          <a:p>
            <a:pPr marL="457200" indent="-457200">
              <a:buFont typeface="+mj-lt"/>
              <a:buAutoNum type="arabicPeriod"/>
            </a:pPr>
            <a:endParaRPr lang="tr-TR" u="sng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718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Her karınca tarafından katedilen yolların uzunluğu hesaplanır ve lokal feromon güncellemesi yapılır.</a:t>
            </a:r>
            <a:endParaRPr lang="tr-TR" b="1" dirty="0" smtClean="0"/>
          </a:p>
          <a:p>
            <a:pPr marL="457200" indent="-457200">
              <a:buSzPct val="100000"/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En iyi çözüm hesaplanır ve global feromon güncellenmesinde kullanılır.</a:t>
            </a:r>
            <a:endParaRPr lang="tr-TR" b="1" dirty="0" smtClean="0"/>
          </a:p>
          <a:p>
            <a:pPr marL="457200" indent="-457200">
              <a:buSzPct val="100000"/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Maksimum iterasyon sayısı veya yeterlilik kriteri sağlanana kadar Adım 2' ye gidilir.</a:t>
            </a:r>
            <a:endParaRPr lang="tr-TR" b="1" dirty="0" smtClean="0"/>
          </a:p>
          <a:p>
            <a:pPr marL="457200" indent="-457200">
              <a:buFont typeface="+mj-lt"/>
              <a:buAutoNum type="arabicPeriod" startAt="4"/>
            </a:pP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287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Karınca koloni algoritmasında her karıncanın bir şehirden diğer şehire geçmesinde olasılığa dayalı bir kural uygulanır. Bu olasılık formülü ;</a:t>
            </a:r>
          </a:p>
          <a:p>
            <a:endParaRPr lang="tr-TR" b="1" dirty="0" smtClean="0"/>
          </a:p>
          <a:p>
            <a:endParaRPr lang="tr-TR" b="1" dirty="0" smtClean="0"/>
          </a:p>
          <a:p>
            <a:pPr>
              <a:buNone/>
            </a:pPr>
            <a:r>
              <a:rPr lang="tr-TR" dirty="0" smtClean="0"/>
              <a:t>	       P</a:t>
            </a:r>
            <a:r>
              <a:rPr lang="tr-TR" baseline="30000" dirty="0" smtClean="0"/>
              <a:t>k</a:t>
            </a:r>
            <a:r>
              <a:rPr lang="tr-TR" baseline="-25000" dirty="0" smtClean="0"/>
              <a:t>ij</a:t>
            </a:r>
            <a:r>
              <a:rPr lang="tr-TR" dirty="0" smtClean="0"/>
              <a:t>(t) =[ F</a:t>
            </a:r>
            <a:r>
              <a:rPr lang="tr-TR" baseline="-25000" dirty="0" smtClean="0"/>
              <a:t>ij</a:t>
            </a:r>
            <a:r>
              <a:rPr lang="tr-TR" dirty="0" smtClean="0"/>
              <a:t>(t)]</a:t>
            </a:r>
            <a:r>
              <a:rPr lang="tr-TR" baseline="30000" dirty="0" smtClean="0"/>
              <a:t>α</a:t>
            </a:r>
            <a:r>
              <a:rPr lang="tr-TR" dirty="0" smtClean="0"/>
              <a:t> . [N</a:t>
            </a:r>
            <a:r>
              <a:rPr lang="tr-TR" baseline="-25000" dirty="0" smtClean="0"/>
              <a:t>ij</a:t>
            </a:r>
            <a:r>
              <a:rPr lang="tr-TR" dirty="0" smtClean="0"/>
              <a:t>]</a:t>
            </a:r>
            <a:r>
              <a:rPr lang="tr-TR" baseline="30000" dirty="0" smtClean="0"/>
              <a:t>β</a:t>
            </a:r>
            <a:r>
              <a:rPr lang="tr-TR" dirty="0" smtClean="0"/>
              <a:t> / Σ </a:t>
            </a:r>
            <a:r>
              <a:rPr lang="tr-TR" baseline="-25000" dirty="0" smtClean="0"/>
              <a:t>l ϵ Jk(i)</a:t>
            </a:r>
            <a:r>
              <a:rPr lang="tr-TR" dirty="0" smtClean="0"/>
              <a:t> [F</a:t>
            </a:r>
            <a:r>
              <a:rPr lang="tr-TR" baseline="-25000" dirty="0" smtClean="0"/>
              <a:t>il</a:t>
            </a:r>
            <a:r>
              <a:rPr lang="tr-TR" dirty="0" smtClean="0"/>
              <a:t>(t)]</a:t>
            </a:r>
            <a:r>
              <a:rPr lang="tr-TR" baseline="30000" dirty="0" smtClean="0"/>
              <a:t>α</a:t>
            </a:r>
            <a:r>
              <a:rPr lang="tr-TR" dirty="0" smtClean="0"/>
              <a:t> .  [N</a:t>
            </a:r>
            <a:r>
              <a:rPr lang="tr-TR" baseline="-25000" dirty="0" smtClean="0"/>
              <a:t>il</a:t>
            </a:r>
            <a:r>
              <a:rPr lang="tr-TR" dirty="0" smtClean="0"/>
              <a:t>]</a:t>
            </a:r>
            <a:r>
              <a:rPr lang="tr-TR" baseline="30000" dirty="0" smtClean="0"/>
              <a:t>β</a:t>
            </a:r>
            <a:endParaRPr lang="tr-TR" b="1" dirty="0" smtClean="0"/>
          </a:p>
          <a:p>
            <a:pPr>
              <a:buNone/>
            </a:pP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355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Tüm karıncalar turlarını tamamladıktan sonra feromon miktarları güncellenmektedir.</a:t>
            </a:r>
          </a:p>
          <a:p>
            <a:endParaRPr lang="tr-TR" dirty="0" smtClean="0"/>
          </a:p>
          <a:p>
            <a:r>
              <a:rPr lang="tr-TR" dirty="0" smtClean="0"/>
              <a:t> Feromon güncellemeleri iki şekilde yapılır. Bunlar, local ve global feromon güncellemeleridir.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192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endParaRPr lang="tr-TR" dirty="0" smtClean="0"/>
          </a:p>
          <a:p>
            <a:pPr lvl="0"/>
            <a:r>
              <a:rPr lang="tr-TR" dirty="0" smtClean="0"/>
              <a:t>Local Feromon Güncellemesi :</a:t>
            </a:r>
          </a:p>
          <a:p>
            <a:pPr lvl="0"/>
            <a:endParaRPr lang="tr-TR" b="1" dirty="0" smtClean="0"/>
          </a:p>
          <a:p>
            <a:pPr lvl="0">
              <a:buNone/>
            </a:pPr>
            <a:endParaRPr lang="tr-TR" b="1" dirty="0" smtClean="0"/>
          </a:p>
          <a:p>
            <a:pPr>
              <a:buNone/>
            </a:pPr>
            <a:r>
              <a:rPr lang="tr-TR" dirty="0" smtClean="0"/>
              <a:t>		F</a:t>
            </a:r>
            <a:r>
              <a:rPr lang="tr-TR" baseline="-25000" dirty="0" smtClean="0"/>
              <a:t>ij</a:t>
            </a:r>
            <a:r>
              <a:rPr lang="tr-TR" dirty="0" smtClean="0"/>
              <a:t>(t+1) = (1-p) . F</a:t>
            </a:r>
            <a:r>
              <a:rPr lang="tr-TR" baseline="-25000" dirty="0" smtClean="0"/>
              <a:t>ij</a:t>
            </a:r>
            <a:r>
              <a:rPr lang="tr-TR" dirty="0" smtClean="0"/>
              <a:t>(t) +∑  ∆F</a:t>
            </a:r>
            <a:r>
              <a:rPr lang="tr-TR" baseline="30000" dirty="0" smtClean="0"/>
              <a:t>k</a:t>
            </a:r>
            <a:r>
              <a:rPr lang="tr-TR" baseline="-25000" dirty="0" smtClean="0"/>
              <a:t>ij</a:t>
            </a:r>
            <a:r>
              <a:rPr lang="tr-TR" dirty="0" smtClean="0"/>
              <a:t>(t+1)</a:t>
            </a:r>
          </a:p>
          <a:p>
            <a:pPr>
              <a:buNone/>
            </a:pPr>
            <a:endParaRPr lang="tr-TR" dirty="0" smtClean="0"/>
          </a:p>
          <a:p>
            <a:pPr>
              <a:buNone/>
            </a:pPr>
            <a:r>
              <a:rPr lang="tr-TR" dirty="0" smtClean="0"/>
              <a:t>		∆F</a:t>
            </a:r>
            <a:r>
              <a:rPr lang="tr-TR" baseline="30000" dirty="0" smtClean="0"/>
              <a:t>k</a:t>
            </a:r>
            <a:r>
              <a:rPr lang="tr-TR" baseline="-25000" dirty="0" smtClean="0"/>
              <a:t>ij</a:t>
            </a:r>
            <a:r>
              <a:rPr lang="tr-TR" dirty="0" smtClean="0"/>
              <a:t>(t+1) = 1 / L</a:t>
            </a:r>
            <a:r>
              <a:rPr lang="tr-TR" baseline="30000" dirty="0" smtClean="0"/>
              <a:t>k</a:t>
            </a:r>
            <a:r>
              <a:rPr lang="tr-TR" dirty="0" smtClean="0"/>
              <a:t>(t+1) 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035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KARINCA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endParaRPr lang="tr-TR" dirty="0" smtClean="0"/>
          </a:p>
          <a:p>
            <a:pPr lvl="0"/>
            <a:r>
              <a:rPr lang="tr-TR" dirty="0" smtClean="0"/>
              <a:t>Global Feromon Güncellemesi : </a:t>
            </a:r>
          </a:p>
          <a:p>
            <a:pPr lvl="0"/>
            <a:endParaRPr lang="tr-TR" b="1" dirty="0" smtClean="0"/>
          </a:p>
          <a:p>
            <a:pPr lvl="0"/>
            <a:endParaRPr lang="tr-TR" b="1" dirty="0" smtClean="0"/>
          </a:p>
          <a:p>
            <a:pPr>
              <a:buNone/>
            </a:pPr>
            <a:r>
              <a:rPr lang="tr-TR" dirty="0" smtClean="0"/>
              <a:t>		F</a:t>
            </a:r>
            <a:r>
              <a:rPr lang="tr-TR" baseline="-25000" dirty="0" smtClean="0"/>
              <a:t>ij</a:t>
            </a:r>
            <a:r>
              <a:rPr lang="tr-TR" dirty="0" smtClean="0"/>
              <a:t>(t+1) = (1-p) . F</a:t>
            </a:r>
            <a:r>
              <a:rPr lang="tr-TR" baseline="-25000" dirty="0" smtClean="0"/>
              <a:t>ij</a:t>
            </a:r>
            <a:r>
              <a:rPr lang="tr-TR" dirty="0" smtClean="0"/>
              <a:t>(t) + ∆F</a:t>
            </a:r>
            <a:r>
              <a:rPr lang="tr-TR" baseline="30000" dirty="0" smtClean="0"/>
              <a:t>k</a:t>
            </a:r>
            <a:r>
              <a:rPr lang="tr-TR" baseline="-25000" dirty="0" smtClean="0"/>
              <a:t>ij</a:t>
            </a:r>
            <a:r>
              <a:rPr lang="tr-TR" dirty="0" smtClean="0"/>
              <a:t>(t+1)       </a:t>
            </a:r>
          </a:p>
          <a:p>
            <a:pPr>
              <a:buNone/>
            </a:pPr>
            <a:r>
              <a:rPr lang="tr-TR" dirty="0" smtClean="0"/>
              <a:t>                                                              </a:t>
            </a:r>
            <a:endParaRPr lang="tr-TR" b="1" dirty="0" smtClean="0"/>
          </a:p>
          <a:p>
            <a:pPr>
              <a:buNone/>
            </a:pPr>
            <a:r>
              <a:rPr lang="tr-TR" dirty="0" smtClean="0"/>
              <a:t>		∆F</a:t>
            </a:r>
            <a:r>
              <a:rPr lang="tr-TR" baseline="30000" dirty="0" smtClean="0"/>
              <a:t>k</a:t>
            </a:r>
            <a:r>
              <a:rPr lang="tr-TR" baseline="-25000" dirty="0" smtClean="0"/>
              <a:t>ij</a:t>
            </a:r>
            <a:r>
              <a:rPr lang="tr-TR" dirty="0" smtClean="0"/>
              <a:t>(t+1) = 1 / L</a:t>
            </a:r>
            <a:r>
              <a:rPr lang="tr-TR" baseline="-25000" dirty="0" smtClean="0"/>
              <a:t>best</a:t>
            </a:r>
            <a:r>
              <a:rPr lang="tr-TR" dirty="0" smtClean="0"/>
              <a:t>(t+1)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541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PARÇACIK SÜRÜ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Parçacık sürü optimizasyonu, 1995 yılında Dr. Eberhart ve Dr. Kennedy tarafından geliştirilmiştir. </a:t>
            </a:r>
          </a:p>
          <a:p>
            <a:endParaRPr lang="tr-TR" dirty="0" smtClean="0"/>
          </a:p>
          <a:p>
            <a:r>
              <a:rPr lang="tr-TR" dirty="0" smtClean="0"/>
              <a:t>Bu algoritma, sürü zekası tabanlı optimizasyon algoritmalarından biridir. </a:t>
            </a:r>
          </a:p>
          <a:p>
            <a:endParaRPr lang="tr-TR" dirty="0" smtClean="0"/>
          </a:p>
          <a:p>
            <a:r>
              <a:rPr lang="tr-TR" dirty="0" smtClean="0"/>
              <a:t>Popülasyon temelli sezgisel bir optimizasyon olup, sürü halinde hareket eden kuş ve balıkların davranışlarından esinlenerek geliştirilmiştir.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018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PARÇACIK SÜRÜ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Parçacık sürü optimizasyonunda, arama işlemi genetik algoritmalarda olduğu gibi jenerasyon sayısınca yapılır.</a:t>
            </a:r>
          </a:p>
          <a:p>
            <a:endParaRPr lang="tr-TR" dirty="0" smtClean="0"/>
          </a:p>
          <a:p>
            <a:r>
              <a:rPr lang="tr-TR" dirty="0" smtClean="0"/>
              <a:t> Her bireye parçacık, parçacıklardan oluşan popülasyona da sürü denir. </a:t>
            </a:r>
          </a:p>
          <a:p>
            <a:endParaRPr lang="tr-TR" dirty="0" smtClean="0"/>
          </a:p>
          <a:p>
            <a:r>
              <a:rPr lang="tr-TR" dirty="0" smtClean="0"/>
              <a:t>Parçacık sürü optimizasyonu temel olarak, sürüde bulunan bireylerin pozisyonunun, sürünün en iyi pozisyona sahip olan bireyine yaklaştırılmasına dayanır. 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125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PARÇACIK SÜRÜ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tr-TR" u="sng" dirty="0" smtClean="0"/>
              <a:t>Parçacık sürü algoritması adımları;</a:t>
            </a:r>
          </a:p>
          <a:p>
            <a:pPr>
              <a:buNone/>
            </a:pPr>
            <a:endParaRPr lang="tr-TR" u="sng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Rastgele üretilen başlangıç pozisyonları ve hızları ile başlangıç sürüsü oluştururlur.</a:t>
            </a:r>
          </a:p>
          <a:p>
            <a:pPr marL="457200" lvl="0" indent="-457200">
              <a:buSzPct val="100000"/>
              <a:buFont typeface="+mj-lt"/>
              <a:buAutoNum type="arabicPeriod"/>
            </a:pPr>
            <a:endParaRPr lang="tr-TR" b="1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Sürü içerisindeki tüm parçacıkların uygunluk değerleri hesaplanır.</a:t>
            </a:r>
          </a:p>
          <a:p>
            <a:pPr marL="457200" lvl="0" indent="-457200">
              <a:buSzPct val="100000"/>
              <a:buFont typeface="+mj-lt"/>
              <a:buAutoNum type="arabicPeriod"/>
            </a:pPr>
            <a:endParaRPr lang="tr-TR" b="1" dirty="0" smtClean="0"/>
          </a:p>
          <a:p>
            <a:pPr marL="457200" lvl="0" indent="-457200">
              <a:buSzPct val="100000"/>
              <a:buFont typeface="+mj-lt"/>
              <a:buAutoNum type="arabicPeriod"/>
            </a:pPr>
            <a:r>
              <a:rPr lang="tr-TR" dirty="0" smtClean="0"/>
              <a:t>Her bir parçacık için mevcut jenerasyondan yerel en iyi (pbest) bulunur. Sürü içerisindeki en iyilerin sayısı parçacık sayısı kadardır.</a:t>
            </a:r>
            <a:endParaRPr lang="tr-TR" b="1" dirty="0" smtClean="0"/>
          </a:p>
          <a:p>
            <a:pPr marL="457200" indent="-457200">
              <a:buFont typeface="+mj-lt"/>
              <a:buAutoNum type="arabicPeriod"/>
            </a:pPr>
            <a:endParaRPr lang="tr-TR" u="sng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688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PARÇACIK SÜRÜ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Mevcut jenerasyondaki yerel en iyiler içerisinden küresel en iyi (gbest) seçilir.</a:t>
            </a:r>
            <a:endParaRPr lang="tr-TR" b="1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Pozisyon ve hızlar yenilenir.</a:t>
            </a:r>
            <a:endParaRPr lang="tr-TR" b="1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Durdurma kriteri sağlanıncaya kadar 2., 3., 4. ve 5. adımlar tekrar edilir.</a:t>
            </a:r>
            <a:endParaRPr lang="tr-TR" b="1" dirty="0" smtClean="0"/>
          </a:p>
          <a:p>
            <a:pPr marL="457200" indent="-457200">
              <a:buFont typeface="+mj-lt"/>
              <a:buAutoNum type="arabicPeriod" startAt="4"/>
            </a:pP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056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PARÇACIK SÜRÜ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Parçacık hızı ve konumu güncellemenmesi</a:t>
            </a:r>
          </a:p>
          <a:p>
            <a:endParaRPr lang="tr-TR" dirty="0" smtClean="0"/>
          </a:p>
          <a:p>
            <a:endParaRPr lang="tr-TR" dirty="0" smtClean="0"/>
          </a:p>
          <a:p>
            <a:pPr>
              <a:buNone/>
            </a:pPr>
            <a:r>
              <a:rPr lang="tr-TR" sz="2000" dirty="0" smtClean="0"/>
              <a:t>V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k+1</a:t>
            </a:r>
            <a:r>
              <a:rPr lang="tr-TR" sz="2000" dirty="0" smtClean="0"/>
              <a:t> = V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+ c</a:t>
            </a:r>
            <a:r>
              <a:rPr lang="tr-TR" sz="2000" baseline="-25000" dirty="0" smtClean="0"/>
              <a:t>1</a:t>
            </a:r>
            <a:r>
              <a:rPr lang="tr-TR" sz="2000" dirty="0" smtClean="0"/>
              <a:t> * rand</a:t>
            </a:r>
            <a:r>
              <a:rPr lang="tr-TR" sz="2000" baseline="-25000" dirty="0" smtClean="0"/>
              <a:t>1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* (pbest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- X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) + c</a:t>
            </a:r>
            <a:r>
              <a:rPr lang="tr-TR" sz="2000" baseline="-25000" dirty="0" smtClean="0"/>
              <a:t>2</a:t>
            </a:r>
            <a:r>
              <a:rPr lang="tr-TR" sz="2000" dirty="0" smtClean="0"/>
              <a:t> * rand</a:t>
            </a:r>
            <a:r>
              <a:rPr lang="tr-TR" sz="2000" baseline="-25000" dirty="0" smtClean="0"/>
              <a:t>2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* (gbest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- X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)                     </a:t>
            </a:r>
            <a:endParaRPr lang="tr-TR" sz="2000" b="1" dirty="0" smtClean="0"/>
          </a:p>
          <a:p>
            <a:pPr>
              <a:buNone/>
            </a:pPr>
            <a:endParaRPr lang="tr-TR" sz="2000" b="1" dirty="0" smtClean="0"/>
          </a:p>
          <a:p>
            <a:pPr>
              <a:buNone/>
            </a:pPr>
            <a:r>
              <a:rPr lang="tr-TR" sz="2000" dirty="0" smtClean="0"/>
              <a:t>X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k+1</a:t>
            </a:r>
            <a:r>
              <a:rPr lang="tr-TR" sz="2000" dirty="0" smtClean="0"/>
              <a:t> = X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</a:t>
            </a:r>
            <a:r>
              <a:rPr lang="tr-TR" sz="2000" dirty="0" smtClean="0"/>
              <a:t> + V</a:t>
            </a:r>
            <a:r>
              <a:rPr lang="tr-TR" sz="2000" baseline="-25000" dirty="0" smtClean="0"/>
              <a:t>i</a:t>
            </a:r>
            <a:r>
              <a:rPr lang="tr-TR" sz="2000" baseline="30000" dirty="0" smtClean="0"/>
              <a:t>k+1 </a:t>
            </a:r>
            <a:endParaRPr lang="tr-TR" sz="200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491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Yapay arı kolonisi algoritması, Derviş Karaboğa tarafından geliştirilmiştir.</a:t>
            </a:r>
          </a:p>
          <a:p>
            <a:endParaRPr lang="tr-TR" dirty="0" smtClean="0"/>
          </a:p>
          <a:p>
            <a:r>
              <a:rPr lang="tr-TR" dirty="0" smtClean="0"/>
              <a:t>Arıların topluluk olarak yiyecek arama davranışlarını ele alan sürü zekası temelli bir optimizasyon algoritmasıdır.</a:t>
            </a:r>
          </a:p>
          <a:p>
            <a:endParaRPr lang="tr-TR" dirty="0" smtClean="0"/>
          </a:p>
          <a:p>
            <a:r>
              <a:rPr lang="tr-TR" dirty="0" smtClean="0"/>
              <a:t>Kolonide arılar üç grube ayrılır; İşçi Arılar, Gözcü Arılar, Kaşif Arılar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090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 smtClean="0"/>
              <a:t>İşçi Arılar</a:t>
            </a:r>
          </a:p>
          <a:p>
            <a:pPr lvl="1">
              <a:buFont typeface="Wingdings" pitchFamily="2" charset="2"/>
              <a:buChar char="Ø"/>
            </a:pPr>
            <a:r>
              <a:rPr lang="tr-TR" dirty="0" smtClean="0"/>
              <a:t>İşçi arılar görevli oldukları yiyecek kaynaklarını araştırırlar. </a:t>
            </a:r>
          </a:p>
          <a:p>
            <a:endParaRPr lang="tr-TR" dirty="0" smtClean="0"/>
          </a:p>
          <a:p>
            <a:r>
              <a:rPr lang="tr-TR" dirty="0" smtClean="0"/>
              <a:t>Gözcü Arılar</a:t>
            </a:r>
          </a:p>
          <a:p>
            <a:pPr lvl="1">
              <a:buFont typeface="Wingdings" pitchFamily="2" charset="2"/>
              <a:buChar char="Ø"/>
            </a:pPr>
            <a:r>
              <a:rPr lang="tr-TR" dirty="0" smtClean="0"/>
              <a:t>İşçi arılardan aldıkları bilgiler doğrultusunda yiyecek kaynaklarının fazla olduğu besin kaynağına yönelirler.</a:t>
            </a:r>
            <a:endParaRPr lang="tr-TR" b="1" dirty="0" smtClean="0"/>
          </a:p>
          <a:p>
            <a:pPr>
              <a:buNone/>
            </a:pPr>
            <a:endParaRPr lang="tr-TR" dirty="0" smtClean="0"/>
          </a:p>
          <a:p>
            <a:r>
              <a:rPr lang="tr-TR" dirty="0" smtClean="0"/>
              <a:t>Kaşif Arılar</a:t>
            </a:r>
          </a:p>
          <a:p>
            <a:pPr lvl="1">
              <a:buFont typeface="Wingdings" pitchFamily="2" charset="2"/>
              <a:buChar char="Ø"/>
            </a:pPr>
            <a:r>
              <a:rPr lang="tr-TR" dirty="0" smtClean="0"/>
              <a:t>Kaynakların tükenmesi durumunda işçi arılar kaşif arılara dönüşmekte ve ardından kaşif arılar yeni kaynak aramaya başlamaktadır.</a:t>
            </a:r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2702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tr-TR" u="sng" dirty="0" smtClean="0"/>
              <a:t>Yapay arı kolonisi algoritması adımları :</a:t>
            </a:r>
          </a:p>
          <a:p>
            <a:pPr>
              <a:buNone/>
            </a:pPr>
            <a:endParaRPr lang="tr-TR" u="sng" dirty="0" smtClean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tr-TR" dirty="0" smtClean="0"/>
              <a:t>Denklem (1) ile x</a:t>
            </a:r>
            <a:r>
              <a:rPr lang="tr-TR" baseline="-25000" dirty="0" smtClean="0"/>
              <a:t>ij</a:t>
            </a:r>
            <a:r>
              <a:rPr lang="tr-TR" dirty="0" smtClean="0"/>
              <a:t>, i=1...N,  j=1...M, çözümlerine başlangıç değerleri atanır ve geliştirilememe sayaçlarını (hata</a:t>
            </a:r>
            <a:r>
              <a:rPr lang="tr-TR" baseline="-25000" dirty="0" smtClean="0"/>
              <a:t>i</a:t>
            </a:r>
            <a:r>
              <a:rPr lang="tr-TR" dirty="0" smtClean="0"/>
              <a:t>) sıfırlanır. Uygunluk değerleri hesaplanır. </a:t>
            </a:r>
          </a:p>
          <a:p>
            <a:pPr marL="457200" indent="-457200">
              <a:buFont typeface="+mj-lt"/>
              <a:buAutoNum type="arabicPeriod"/>
            </a:pPr>
            <a:endParaRPr lang="tr-TR" u="sng" dirty="0" smtClean="0"/>
          </a:p>
          <a:p>
            <a:pPr marL="457200" indent="-457200">
              <a:buNone/>
            </a:pPr>
            <a:r>
              <a:rPr lang="tr-TR" dirty="0" smtClean="0"/>
              <a:t>	x</a:t>
            </a:r>
            <a:r>
              <a:rPr lang="tr-TR" baseline="-25000" dirty="0" smtClean="0"/>
              <a:t>ij</a:t>
            </a:r>
            <a:r>
              <a:rPr lang="tr-TR" dirty="0" smtClean="0"/>
              <a:t> = x</a:t>
            </a:r>
            <a:r>
              <a:rPr lang="tr-TR" baseline="-25000" dirty="0" smtClean="0"/>
              <a:t>j</a:t>
            </a:r>
            <a:r>
              <a:rPr lang="tr-TR" baseline="30000" dirty="0" smtClean="0"/>
              <a:t>min</a:t>
            </a:r>
            <a:r>
              <a:rPr lang="tr-TR" dirty="0" smtClean="0"/>
              <a:t> + rand(0,1)(x</a:t>
            </a:r>
            <a:r>
              <a:rPr lang="tr-TR" baseline="-25000" dirty="0" smtClean="0"/>
              <a:t>j</a:t>
            </a:r>
            <a:r>
              <a:rPr lang="tr-TR" baseline="30000" dirty="0" smtClean="0"/>
              <a:t>max</a:t>
            </a:r>
            <a:r>
              <a:rPr lang="tr-TR" dirty="0" smtClean="0"/>
              <a:t> - x</a:t>
            </a:r>
            <a:r>
              <a:rPr lang="tr-TR" baseline="-25000" dirty="0" smtClean="0"/>
              <a:t>j</a:t>
            </a:r>
            <a:r>
              <a:rPr lang="tr-TR" baseline="30000" dirty="0" smtClean="0"/>
              <a:t>min</a:t>
            </a:r>
            <a:r>
              <a:rPr lang="tr-TR" dirty="0" smtClean="0"/>
              <a:t>)                    (1)</a:t>
            </a:r>
            <a:endParaRPr lang="tr-TR" u="sng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091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lvl="0" indent="-457200">
              <a:buSzPct val="100000"/>
              <a:buFont typeface="+mj-lt"/>
              <a:buAutoNum type="arabicPeriod" startAt="2"/>
            </a:pPr>
            <a:r>
              <a:rPr lang="tr-TR" dirty="0" smtClean="0"/>
              <a:t>i=1'den N'ye kadar Denklem (2) kullanılarak x</a:t>
            </a:r>
            <a:r>
              <a:rPr lang="tr-TR" baseline="-25000" dirty="0" smtClean="0"/>
              <a:t>i</a:t>
            </a:r>
            <a:r>
              <a:rPr lang="tr-TR" dirty="0" smtClean="0"/>
              <a:t> çözümünün işçi arısı için yeni bir kaynak üretilir. </a:t>
            </a:r>
            <a:endParaRPr lang="tr-TR" b="1" dirty="0" smtClean="0"/>
          </a:p>
          <a:p>
            <a:pPr>
              <a:buNone/>
            </a:pPr>
            <a:r>
              <a:rPr lang="tr-TR" dirty="0" smtClean="0"/>
              <a:t> </a:t>
            </a:r>
            <a:endParaRPr lang="tr-TR" b="1" dirty="0" smtClean="0"/>
          </a:p>
          <a:p>
            <a:pPr>
              <a:buNone/>
            </a:pPr>
            <a:r>
              <a:rPr lang="tr-TR" dirty="0" smtClean="0"/>
              <a:t>	   v</a:t>
            </a:r>
            <a:r>
              <a:rPr lang="tr-TR" baseline="-25000" dirty="0" smtClean="0"/>
              <a:t>ij </a:t>
            </a:r>
            <a:r>
              <a:rPr lang="tr-TR" dirty="0" smtClean="0"/>
              <a:t>= x</a:t>
            </a:r>
            <a:r>
              <a:rPr lang="tr-TR" baseline="-25000" dirty="0" smtClean="0"/>
              <a:t>ij</a:t>
            </a:r>
            <a:r>
              <a:rPr lang="tr-TR" dirty="0" smtClean="0"/>
              <a:t> + Ø</a:t>
            </a:r>
            <a:r>
              <a:rPr lang="tr-TR" baseline="-25000" dirty="0" smtClean="0"/>
              <a:t>ij</a:t>
            </a:r>
            <a:r>
              <a:rPr lang="tr-TR" dirty="0" smtClean="0"/>
              <a:t>(x</a:t>
            </a:r>
            <a:r>
              <a:rPr lang="tr-TR" baseline="-25000" dirty="0" smtClean="0"/>
              <a:t>ij</a:t>
            </a:r>
            <a:r>
              <a:rPr lang="tr-TR" dirty="0" smtClean="0"/>
              <a:t> - x</a:t>
            </a:r>
            <a:r>
              <a:rPr lang="tr-TR" baseline="-25000" dirty="0" smtClean="0"/>
              <a:t>kj</a:t>
            </a:r>
            <a:r>
              <a:rPr lang="tr-TR" dirty="0" smtClean="0"/>
              <a:t>)                                       (2)</a:t>
            </a:r>
          </a:p>
          <a:p>
            <a:pPr>
              <a:buNone/>
            </a:pPr>
            <a:endParaRPr lang="tr-TR" dirty="0" smtClean="0"/>
          </a:p>
          <a:p>
            <a:pPr lvl="1"/>
            <a:r>
              <a:rPr lang="tr-TR" dirty="0" smtClean="0"/>
              <a:t>Bu kaynağın maliyet değerini f(v</a:t>
            </a:r>
            <a:r>
              <a:rPr lang="tr-TR" baseline="-25000" dirty="0" smtClean="0"/>
              <a:t>i</a:t>
            </a:r>
            <a:r>
              <a:rPr lang="tr-TR" dirty="0" smtClean="0"/>
              <a:t>) Denklem (3)'de yerine koyarak bu çözümün uygunluk değeri hesaplanır. v</a:t>
            </a:r>
            <a:r>
              <a:rPr lang="tr-TR" baseline="-25000" dirty="0" smtClean="0"/>
              <a:t>i</a:t>
            </a:r>
            <a:r>
              <a:rPr lang="tr-TR" dirty="0" smtClean="0"/>
              <a:t> ve x</a:t>
            </a:r>
            <a:r>
              <a:rPr lang="tr-TR" baseline="-25000" dirty="0" smtClean="0"/>
              <a:t>i</a:t>
            </a:r>
            <a:r>
              <a:rPr lang="tr-TR" dirty="0" smtClean="0"/>
              <a:t> arasında seçim işlemi uygulanır ve daha iyi olanı seçilir. x</a:t>
            </a:r>
            <a:r>
              <a:rPr lang="tr-TR" baseline="-25000" dirty="0" smtClean="0"/>
              <a:t>i</a:t>
            </a:r>
            <a:r>
              <a:rPr lang="tr-TR" dirty="0" smtClean="0"/>
              <a:t> çözümü gelişememiş ise hata</a:t>
            </a:r>
            <a:r>
              <a:rPr lang="tr-TR" baseline="-25000" dirty="0" smtClean="0"/>
              <a:t>i</a:t>
            </a:r>
            <a:r>
              <a:rPr lang="tr-TR" dirty="0" smtClean="0"/>
              <a:t> bir arttırılır.</a:t>
            </a:r>
          </a:p>
          <a:p>
            <a:pPr lvl="1">
              <a:buNone/>
            </a:pPr>
            <a:endParaRPr lang="tr-TR" b="1" dirty="0" smtClean="0"/>
          </a:p>
          <a:p>
            <a:pPr lvl="1">
              <a:buNone/>
            </a:pPr>
            <a:r>
              <a:rPr lang="tr-TR" b="1" dirty="0" smtClean="0"/>
              <a:t>		</a:t>
            </a:r>
            <a:r>
              <a:rPr lang="tr-TR" dirty="0" smtClean="0"/>
              <a:t> </a:t>
            </a:r>
            <a:r>
              <a:rPr lang="tr-TR" b="1" dirty="0" smtClean="0"/>
              <a:t>						</a:t>
            </a:r>
            <a:r>
              <a:rPr lang="tr-TR" sz="2400" dirty="0" smtClean="0"/>
              <a:t>(3)</a:t>
            </a:r>
          </a:p>
          <a:p>
            <a:endParaRPr lang="tr-TR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2976" y="5429264"/>
            <a:ext cx="3714776" cy="857256"/>
          </a:xfrm>
          <a:prstGeom prst="rect">
            <a:avLst/>
          </a:prstGeom>
          <a:noFill/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804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SzPct val="100000"/>
              <a:buFont typeface="+mj-lt"/>
              <a:buAutoNum type="arabicPeriod" startAt="3"/>
            </a:pPr>
            <a:r>
              <a:rPr lang="tr-TR" dirty="0" smtClean="0"/>
              <a:t>İşçi arıların seçim işlemi yaparken kullanacakları uygunluk değerine dayalı olasılık değerleri Denklem (4) kullanılarak hesaplanır.</a:t>
            </a:r>
          </a:p>
          <a:p>
            <a:pPr marL="457200" indent="-457200">
              <a:buFont typeface="+mj-lt"/>
              <a:buAutoNum type="arabicPeriod" startAt="3"/>
            </a:pPr>
            <a:endParaRPr lang="tr-TR" dirty="0" smtClean="0"/>
          </a:p>
          <a:p>
            <a:pPr marL="1371600" lvl="3" indent="-457200">
              <a:buFont typeface="+mj-lt"/>
              <a:buAutoNum type="arabicPeriod" startAt="4"/>
            </a:pPr>
            <a:endParaRPr lang="tr-TR" dirty="0" smtClean="0"/>
          </a:p>
          <a:p>
            <a:pPr marL="1371600" lvl="3" indent="-457200">
              <a:buFont typeface="+mj-lt"/>
              <a:buAutoNum type="arabicPeriod" startAt="4"/>
            </a:pPr>
            <a:endParaRPr lang="tr-TR" dirty="0" smtClean="0"/>
          </a:p>
          <a:p>
            <a:pPr marL="2743200" lvl="8" indent="-457200">
              <a:buNone/>
            </a:pPr>
            <a:r>
              <a:rPr lang="tr-TR" dirty="0" smtClean="0"/>
              <a:t>					</a:t>
            </a:r>
            <a:r>
              <a:rPr lang="tr-TR" sz="2400" dirty="0" smtClean="0">
                <a:solidFill>
                  <a:schemeClr val="tx1"/>
                </a:solidFill>
              </a:rPr>
              <a:t>(4)</a:t>
            </a:r>
            <a:endParaRPr lang="tr-TR" sz="2400" dirty="0">
              <a:solidFill>
                <a:schemeClr val="tx1"/>
              </a:solidFill>
            </a:endParaRP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00100" y="3571876"/>
            <a:ext cx="3214710" cy="1143008"/>
          </a:xfrm>
          <a:prstGeom prst="rect">
            <a:avLst/>
          </a:prstGeom>
          <a:noFill/>
        </p:spPr>
      </p:pic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817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4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4"/>
            </a:pPr>
            <a:r>
              <a:rPr lang="tr-TR" dirty="0" smtClean="0"/>
              <a:t>Seçim işleminde her bir kaynak için üretilen P</a:t>
            </a:r>
            <a:r>
              <a:rPr lang="tr-TR" baseline="-25000" dirty="0" smtClean="0"/>
              <a:t>i</a:t>
            </a:r>
            <a:r>
              <a:rPr lang="tr-TR" dirty="0" smtClean="0"/>
              <a:t> değeri rastgele üretilen bir değerden büyük ise işçi arı için Denklem (2) kullanılarak yeni bir kaynak üretilir. Üretilen v</a:t>
            </a:r>
            <a:r>
              <a:rPr lang="tr-TR" baseline="-25000" dirty="0" smtClean="0"/>
              <a:t>i</a:t>
            </a:r>
            <a:r>
              <a:rPr lang="tr-TR" dirty="0" smtClean="0"/>
              <a:t> ve x</a:t>
            </a:r>
            <a:r>
              <a:rPr lang="tr-TR" baseline="-25000" dirty="0" smtClean="0"/>
              <a:t>i</a:t>
            </a:r>
            <a:r>
              <a:rPr lang="tr-TR" dirty="0" smtClean="0"/>
              <a:t> arasında seçim işlemi uygulanır ve daha iyi olanı seçilir. x</a:t>
            </a:r>
            <a:r>
              <a:rPr lang="tr-TR" baseline="-25000" dirty="0" smtClean="0"/>
              <a:t>i</a:t>
            </a:r>
            <a:r>
              <a:rPr lang="tr-TR" dirty="0" smtClean="0"/>
              <a:t> çözümü gelişememiş ise hata</a:t>
            </a:r>
            <a:r>
              <a:rPr lang="tr-TR" baseline="-25000" dirty="0" smtClean="0"/>
              <a:t>i</a:t>
            </a:r>
            <a:r>
              <a:rPr lang="tr-TR" dirty="0" smtClean="0"/>
              <a:t> bir arttırılır, gelişmiş ise hata</a:t>
            </a:r>
            <a:r>
              <a:rPr lang="tr-TR" baseline="-25000" dirty="0" smtClean="0"/>
              <a:t>i</a:t>
            </a:r>
            <a:r>
              <a:rPr lang="tr-TR" dirty="0" smtClean="0"/>
              <a:t> sıfırlanır. Bu adım tüm işçi arılar yiyecek kaynağı bölgelerine dağılıncaya kadar devam eder.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586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YAPAY ARI KOLONİ ALGORİTMASI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 startAt="5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tr-TR" dirty="0" smtClean="0"/>
              <a:t>Kaynağın nektarının tükenip tükenmediği kontrol edilir. Eğer tükenmiş ise Denklem (1)'i kullanarak rastgele üretilen yeni bir çözümle değiştirilir.</a:t>
            </a:r>
            <a:endParaRPr lang="tr-TR" b="1" dirty="0" smtClean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endParaRPr lang="tr-TR" dirty="0" smtClean="0"/>
          </a:p>
          <a:p>
            <a:pPr marL="457200" lvl="0" indent="-457200">
              <a:buSzPct val="100000"/>
              <a:buFont typeface="+mj-lt"/>
              <a:buAutoNum type="arabicPeriod" startAt="5"/>
            </a:pPr>
            <a:r>
              <a:rPr lang="tr-TR" dirty="0" smtClean="0"/>
              <a:t>En iyi çözüm hafızada tutulur.</a:t>
            </a:r>
            <a:endParaRPr lang="tr-TR" b="1" dirty="0" smtClean="0"/>
          </a:p>
          <a:p>
            <a:pPr marL="457200" indent="-457200">
              <a:buSzPct val="100000"/>
              <a:buFont typeface="+mj-lt"/>
              <a:buAutoNum type="arabicPeriod" startAt="5"/>
            </a:pPr>
            <a:endParaRPr lang="tr-TR" dirty="0" smtClean="0"/>
          </a:p>
          <a:p>
            <a:pPr marL="457200" indent="-457200">
              <a:buSzPct val="100000"/>
              <a:buFont typeface="+mj-lt"/>
              <a:buAutoNum type="arabicPeriod" startAt="5"/>
            </a:pPr>
            <a:r>
              <a:rPr lang="tr-TR" dirty="0" smtClean="0"/>
              <a:t>Durma kriterleri kontrol edilir. Eğer kriterler sağlanmıyorsa Adım 2'den Adım 6'ya kadar tekrar edilir.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114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Genetik algoritma, arama uzayının büyük ve doğrusal olmadığı, deterministik en iyileme metotlarının başarısız olduğu problemlerin çözümünde kullanılabilir. </a:t>
            </a:r>
          </a:p>
          <a:p>
            <a:endParaRPr lang="tr-TR" dirty="0" smtClean="0"/>
          </a:p>
          <a:p>
            <a:r>
              <a:rPr lang="tr-TR" dirty="0" smtClean="0"/>
              <a:t>Genetik algoritmaların; fonksiyon optimizasyonu, çizelgeleme, mekanik öğrenme, tasarım, hücresel üretim, finans ve pazarlama gibi alanlarda başarılı uygulamaları vardır.</a:t>
            </a:r>
            <a:endParaRPr lang="tr-TR" b="1" dirty="0" smtClean="0"/>
          </a:p>
          <a:p>
            <a:endParaRPr lang="tr-TR" dirty="0" smtClean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977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r-TR" dirty="0" smtClean="0"/>
              <a:t>Çözüm uzayının tamamını değil yalnızca belirli bir kısmını taradığından diğer yöntemlere göre daha hızlı sonuçlar vermektedir. </a:t>
            </a:r>
          </a:p>
          <a:p>
            <a:endParaRPr lang="tr-TR" dirty="0" smtClean="0"/>
          </a:p>
          <a:p>
            <a:r>
              <a:rPr lang="tr-TR" dirty="0" smtClean="0"/>
              <a:t>Genetik algoritmada parametreler, algoritmanın performansı üzerinde önemli bir etkiye sahiptir. </a:t>
            </a:r>
          </a:p>
          <a:p>
            <a:endParaRPr lang="tr-TR" dirty="0" smtClean="0"/>
          </a:p>
          <a:p>
            <a:r>
              <a:rPr lang="tr-TR" dirty="0" smtClean="0"/>
              <a:t>Popülasyonun çok küçük olması, yerel en iyiye takılmasına sebep olabilir. Popülasyonun çok büyük olması ise çözüme ulaşma süresini artırmaktadır. 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29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Karınca koloni algoritmasının kullanım alanları sadece en kısa yolu bulmakla sınırlı değildir. Aynı zamanda en kısa zaman ve en hızlı sonuçlar gibi çözüm yolları için de kullanılabilir.</a:t>
            </a:r>
            <a:endParaRPr lang="tr-TR" b="1" dirty="0" smtClean="0"/>
          </a:p>
          <a:p>
            <a:endParaRPr lang="tr-TR" dirty="0" smtClean="0"/>
          </a:p>
          <a:p>
            <a:r>
              <a:rPr lang="tr-TR" dirty="0" smtClean="0"/>
              <a:t>Karınca koloni algoritması; gezgin satıcı problemi, karesel atama, araç rotalama, kesikli optimizasyon ve çizelgeleme problemlerinin çözümünde kullanılmaktadır. 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398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Parçacık sürü algoritmasının genetik algoritmaya göre gerçekleştirilmesi daha kolaydır çünkü ayarlanması gereken parametre sayısı daha azdır. Bu algoritmada, genetik algoritmada bulunan çaprazlama ve mutasyon operatörleri yoktur.</a:t>
            </a:r>
          </a:p>
          <a:p>
            <a:endParaRPr lang="tr-TR" dirty="0" smtClean="0"/>
          </a:p>
          <a:p>
            <a:r>
              <a:rPr lang="tr-TR" dirty="0" smtClean="0"/>
              <a:t>Parçacık sürü algoritması; çizelgeleme, yapay sinir ağlarının eğitimi, bulanık mantık sistemleri, görüntü işleme vb. alanlarda yaygın olarak kullanılmaktadır.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9007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 dirty="0" smtClean="0"/>
          </a:p>
          <a:p>
            <a:r>
              <a:rPr lang="tr-TR" dirty="0" smtClean="0"/>
              <a:t>Yapay arı koloni algoritması, ayarlanması gereken parametre sayısı az olduğundan esnek ve basit bir algoritmadır.</a:t>
            </a:r>
          </a:p>
          <a:p>
            <a:endParaRPr lang="tr-TR" dirty="0" smtClean="0"/>
          </a:p>
          <a:p>
            <a:r>
              <a:rPr lang="tr-TR" dirty="0" smtClean="0"/>
              <a:t> Bu algoritma, ilk olarak nümerik problemler için geliştirilmiş olsa da gerçek tasarım problemleri içinde kullanılmaktadır.</a:t>
            </a:r>
            <a:endParaRPr lang="tr-TR" b="1" dirty="0" smtClean="0"/>
          </a:p>
          <a:p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345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624</TotalTime>
  <Words>1288</Words>
  <Application>Microsoft Office PowerPoint</Application>
  <PresentationFormat>Ekran Gösterisi (4:3)</PresentationFormat>
  <Paragraphs>207</Paragraphs>
  <Slides>29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4" baseType="lpstr">
      <vt:lpstr>ＭＳ Ｐゴシック</vt:lpstr>
      <vt:lpstr>Century Schoolbook</vt:lpstr>
      <vt:lpstr>Wingdings</vt:lpstr>
      <vt:lpstr>Wingdings 2</vt:lpstr>
      <vt:lpstr>Cumba</vt:lpstr>
      <vt:lpstr>Sürü Algoritmaları</vt:lpstr>
      <vt:lpstr>Sürü Algoritmaları 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KARINCA KOLONİ ALGORİTMASI</vt:lpstr>
      <vt:lpstr>PARÇACIK SÜRÜ ALGORİTMASI</vt:lpstr>
      <vt:lpstr>PARÇACIK SÜRÜ ALGORİTMASI</vt:lpstr>
      <vt:lpstr>PARÇACIK SÜRÜ ALGORİTMASI</vt:lpstr>
      <vt:lpstr>PARÇACIK SÜRÜ ALGORİTMASI</vt:lpstr>
      <vt:lpstr>PARÇACIK SÜRÜ ALGORİTMASI</vt:lpstr>
      <vt:lpstr>YAPAY ARI KOLONİ ALGORİTMASI</vt:lpstr>
      <vt:lpstr>YAPAY ARI KOLONİ ALGORİTMASI</vt:lpstr>
      <vt:lpstr>YAPAY ARI KOLONİ ALGORİTMASI</vt:lpstr>
      <vt:lpstr>YAPAY ARI KOLONİ ALGORİTMASI</vt:lpstr>
      <vt:lpstr>YAPAY ARI KOLONİ ALGORİTMASI</vt:lpstr>
      <vt:lpstr>YAPAY ARI KOLONİ ALGORİTMASI</vt:lpstr>
      <vt:lpstr>YAPAY ARI KOLONİ ALGORİTMASI</vt:lpstr>
      <vt:lpstr>SONUÇ</vt:lpstr>
      <vt:lpstr>SONUÇ</vt:lpstr>
      <vt:lpstr>SONUÇ</vt:lpstr>
      <vt:lpstr>SONUÇ</vt:lpstr>
      <vt:lpstr>SONUÇ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Windows Kullanıcısı</cp:lastModifiedBy>
  <cp:revision>89</cp:revision>
  <dcterms:created xsi:type="dcterms:W3CDTF">2020-02-18T10:38:04Z</dcterms:created>
  <dcterms:modified xsi:type="dcterms:W3CDTF">2023-11-13T11:53:56Z</dcterms:modified>
</cp:coreProperties>
</file>
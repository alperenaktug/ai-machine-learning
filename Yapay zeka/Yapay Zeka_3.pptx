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0" r:id="rId3"/>
    <p:sldId id="288" r:id="rId4"/>
    <p:sldId id="309" r:id="rId5"/>
    <p:sldId id="310" r:id="rId6"/>
    <p:sldId id="318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9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8" r:id="rId26"/>
    <p:sldId id="339" r:id="rId27"/>
    <p:sldId id="337" r:id="rId28"/>
    <p:sldId id="340" r:id="rId29"/>
    <p:sldId id="336" r:id="rId30"/>
    <p:sldId id="341" r:id="rId31"/>
    <p:sldId id="321" r:id="rId32"/>
    <p:sldId id="322" r:id="rId33"/>
    <p:sldId id="342" r:id="rId34"/>
    <p:sldId id="343" r:id="rId35"/>
    <p:sldId id="323" r:id="rId36"/>
    <p:sldId id="344" r:id="rId37"/>
    <p:sldId id="345" r:id="rId38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 smtClean="0"/>
              <a:t>Asıl alt başlık stilini düzenlemek için tıklatın</a:t>
            </a:r>
            <a:endParaRPr kumimoji="0" lang="en-US"/>
          </a:p>
        </p:txBody>
      </p:sp>
      <p:sp>
        <p:nvSpPr>
          <p:cNvPr id="28" name="Veri Yer Tutucusu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A23720DD-5B6D-40BF-8493-A6B52D484E6B}" type="datetimeFigureOut">
              <a:rPr lang="tr-TR" smtClean="0"/>
              <a:t>15.10.2023</a:t>
            </a:fld>
            <a:endParaRPr lang="tr-TR"/>
          </a:p>
        </p:txBody>
      </p:sp>
      <p:sp>
        <p:nvSpPr>
          <p:cNvPr id="17" name="Altbilgi Yer Tutucusu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10" name="Dikdörtgen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Dikdörtgen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Dikdörtgen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Düz Bağlayıcı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Düz Bağlayıcı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Düz Bağlayıcı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Düz Bağlayıcı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Dikdörtgen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8" name="İçerik Yer Tutucus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15.10.2023</a:t>
            </a:fld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Altbilgi Yer Tutucusu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A23720DD-5B6D-40BF-8493-A6B52D484E6B}" type="datetimeFigureOut">
              <a:rPr lang="tr-TR" smtClean="0"/>
              <a:t>15.10.2023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9" name="Dikdörtgen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Dikdörtgen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ikdörtgen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Düz Bağlayıcı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Düz Bağlayıcı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Düz Bağlayıcı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Düz Bağlayıcı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Dikdörtgen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Düz Bağlayıcı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15.10.2023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9" name="İçerik Yer Tutucus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15.10.2023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3" name="İçerik Yer Tutucus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2" name="Metin Yer Tutucusu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14" name="Metin Yer Tutucusu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6" name="Veri Yer Tutucusu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15.10.2023</a:t>
            </a:fld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15.10.2023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üz Bağlayıcı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8" name="Düz Bağlayıcı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Düz Bağlayıcı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İçerik Yer Tutucus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21" name="Veri Yer Tutucusu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15.10.2023</a:t>
            </a:fld>
            <a:endParaRPr lang="tr-TR"/>
          </a:p>
        </p:txBody>
      </p:sp>
      <p:sp>
        <p:nvSpPr>
          <p:cNvPr id="22" name="Slayt Numarası Yer Tutucusu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23" name="Altbilgi Yer Tutucusu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tr-TR" smtClean="0"/>
              <a:t>Resim eklemek için simgeyi tıklatın</a:t>
            </a:r>
            <a:endParaRPr kumimoji="0" lang="en-US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10" name="Düz Bağlayıcı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Dikdörtgen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üz Bağlayıcı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Düz Bağlayıcı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Düz Bağlayıcı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Veri Yer Tutucusu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15.10.2023</a:t>
            </a:fld>
            <a:endParaRPr lang="tr-TR"/>
          </a:p>
        </p:txBody>
      </p:sp>
      <p:sp>
        <p:nvSpPr>
          <p:cNvPr id="18" name="Slayt Numarası Yer Tutucusu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21" name="Altbilgi Yer Tutucusu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15.10.2023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15.10.2023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  <a:p>
            <a:pPr lvl="1" eaLnBrk="1" latinLnBrk="0" hangingPunct="1"/>
            <a:r>
              <a:rPr kumimoji="0" lang="tr-TR" smtClean="0"/>
              <a:t>İkinci düzey</a:t>
            </a:r>
          </a:p>
          <a:p>
            <a:pPr lvl="2" eaLnBrk="1" latinLnBrk="0" hangingPunct="1"/>
            <a:r>
              <a:rPr kumimoji="0" lang="tr-TR" smtClean="0"/>
              <a:t>Üçüncü düzey</a:t>
            </a:r>
          </a:p>
          <a:p>
            <a:pPr lvl="3" eaLnBrk="1" latinLnBrk="0" hangingPunct="1"/>
            <a:r>
              <a:rPr kumimoji="0" lang="tr-TR" smtClean="0"/>
              <a:t>Dördüncü düzey</a:t>
            </a:r>
          </a:p>
          <a:p>
            <a:pPr lvl="4" eaLnBrk="1" latinLnBrk="0" hangingPunct="1"/>
            <a:r>
              <a:rPr kumimoji="0" lang="tr-TR" smtClean="0"/>
              <a:t>Beşinci düzey</a:t>
            </a:r>
            <a:endParaRPr kumimoji="0" lang="en-US"/>
          </a:p>
        </p:txBody>
      </p:sp>
      <p:sp>
        <p:nvSpPr>
          <p:cNvPr id="14" name="Veri Yer Tutucusu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23720DD-5B6D-40BF-8493-A6B52D484E6B}" type="datetimeFigureOut">
              <a:rPr lang="tr-TR" smtClean="0"/>
              <a:t>15.10.2023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Düz Bağlayıcı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Dikdörtgen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2411760" y="2564904"/>
            <a:ext cx="6172200" cy="1894362"/>
          </a:xfrm>
        </p:spPr>
        <p:txBody>
          <a:bodyPr/>
          <a:lstStyle/>
          <a:p>
            <a:r>
              <a:rPr lang="tr-TR" sz="2800" dirty="0" smtClean="0"/>
              <a:t>Makine Öğrenmesi Algoritmaları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ctr"/>
            <a:r>
              <a:rPr lang="tr-TR" b="0" dirty="0"/>
              <a:t>Prof. Dr. Tuncay YİĞİT</a:t>
            </a:r>
          </a:p>
          <a:p>
            <a:pPr algn="ctr"/>
            <a:r>
              <a:rPr lang="tr-TR" b="0" dirty="0"/>
              <a:t>Süleyman Demirel Üniversitesi</a:t>
            </a:r>
          </a:p>
          <a:p>
            <a:pPr algn="ctr"/>
            <a:r>
              <a:rPr lang="tr-TR" b="0" dirty="0"/>
              <a:t>Bilgisayar Mühendisliği </a:t>
            </a:r>
            <a:r>
              <a:rPr lang="tr-TR" b="0" dirty="0" smtClean="0"/>
              <a:t>Bölümü</a:t>
            </a:r>
          </a:p>
          <a:p>
            <a:pPr algn="ctr"/>
            <a:endParaRPr lang="tr-TR" b="0" dirty="0"/>
          </a:p>
          <a:p>
            <a:pPr algn="ctr"/>
            <a:r>
              <a:rPr lang="tr-TR" b="0" dirty="0" smtClean="0"/>
              <a:t>ISPARTA 2023</a:t>
            </a:r>
            <a:endParaRPr lang="tr-TR" b="0" dirty="0"/>
          </a:p>
        </p:txBody>
      </p:sp>
    </p:spTree>
    <p:extLst>
      <p:ext uri="{BB962C8B-B14F-4D97-AF65-F5344CB8AC3E}">
        <p14:creationId xmlns:p14="http://schemas.microsoft.com/office/powerpoint/2010/main" val="1927419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Makine Öğrenmesi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Makine öğrenmesi algoritmalarının çoğu iki kategoriden birisinde yer alır: </a:t>
            </a:r>
            <a:endParaRPr lang="tr-TR" dirty="0" smtClean="0"/>
          </a:p>
          <a:p>
            <a:pPr lvl="1"/>
            <a:r>
              <a:rPr lang="tr-TR" dirty="0" smtClean="0"/>
              <a:t>Denetimli </a:t>
            </a:r>
            <a:r>
              <a:rPr lang="tr-TR" dirty="0"/>
              <a:t>öğrenme (</a:t>
            </a:r>
            <a:r>
              <a:rPr lang="tr-TR" dirty="0" err="1"/>
              <a:t>supervised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) </a:t>
            </a:r>
            <a:endParaRPr lang="tr-TR" dirty="0" smtClean="0"/>
          </a:p>
          <a:p>
            <a:pPr lvl="1"/>
            <a:r>
              <a:rPr lang="tr-TR" dirty="0" smtClean="0"/>
              <a:t>Denetimsiz </a:t>
            </a:r>
            <a:r>
              <a:rPr lang="tr-TR" dirty="0"/>
              <a:t>öğrenme (</a:t>
            </a:r>
            <a:r>
              <a:rPr lang="tr-TR" dirty="0" err="1"/>
              <a:t>unsupervised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) </a:t>
            </a:r>
            <a:endParaRPr lang="tr-TR" dirty="0" smtClean="0"/>
          </a:p>
          <a:p>
            <a:r>
              <a:rPr lang="tr-TR" dirty="0" smtClean="0"/>
              <a:t>Bir </a:t>
            </a:r>
            <a:r>
              <a:rPr lang="tr-TR" dirty="0"/>
              <a:t>makine öğrenmesi algoritması oluşturulurken, bir maliyet fonksiyonu (</a:t>
            </a:r>
            <a:r>
              <a:rPr lang="tr-TR" dirty="0" err="1"/>
              <a:t>cost</a:t>
            </a:r>
            <a:r>
              <a:rPr lang="tr-TR" dirty="0"/>
              <a:t> </a:t>
            </a:r>
            <a:r>
              <a:rPr lang="tr-TR" dirty="0" err="1"/>
              <a:t>function</a:t>
            </a:r>
            <a:r>
              <a:rPr lang="tr-TR" dirty="0"/>
              <a:t>), bir model ve bir </a:t>
            </a:r>
            <a:r>
              <a:rPr lang="tr-TR" dirty="0" smtClean="0"/>
              <a:t>veri seti </a:t>
            </a:r>
            <a:r>
              <a:rPr lang="tr-TR" dirty="0"/>
              <a:t>kullanılır.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83545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Öğrenme Algoritmaları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Makine öğrenmesi algoritmaları veriden öğrenebilen algoritmalardır. </a:t>
            </a:r>
            <a:endParaRPr lang="tr-TR" dirty="0" smtClean="0"/>
          </a:p>
          <a:p>
            <a:r>
              <a:rPr lang="tr-TR" dirty="0" smtClean="0"/>
              <a:t>Makine </a:t>
            </a:r>
            <a:r>
              <a:rPr lang="tr-TR" dirty="0"/>
              <a:t>öğrenmesi, klasik programlarla çözülmesi çok zor problemlerle ilgilenir. </a:t>
            </a:r>
            <a:endParaRPr lang="tr-TR" dirty="0" smtClean="0"/>
          </a:p>
          <a:p>
            <a:r>
              <a:rPr lang="tr-TR" dirty="0" smtClean="0"/>
              <a:t>Makine </a:t>
            </a:r>
            <a:r>
              <a:rPr lang="tr-TR" dirty="0"/>
              <a:t>öğrenmesi algoritmaları ile bir örnek üzerinde nasıl işlem yapılacağı tanımlanır. </a:t>
            </a:r>
            <a:endParaRPr lang="tr-TR" dirty="0" smtClean="0"/>
          </a:p>
          <a:p>
            <a:r>
              <a:rPr lang="tr-TR" dirty="0" smtClean="0"/>
              <a:t>Bir </a:t>
            </a:r>
            <a:r>
              <a:rPr lang="tr-TR" dirty="0"/>
              <a:t>örnek, nesneler, olaylar veya sistemlerden ölçülen nitelikler (</a:t>
            </a:r>
            <a:r>
              <a:rPr lang="tr-TR" dirty="0" err="1"/>
              <a:t>features</a:t>
            </a:r>
            <a:r>
              <a:rPr lang="tr-TR" dirty="0"/>
              <a:t>) topluluğudur. 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364857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ML uygulama Alanları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Makine öğrenmesi çok farklı alanlarda birlikte kullanılan disiplinler arası bir alandır.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2569946"/>
            <a:ext cx="4176464" cy="431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849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uygulama Alanları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tr-TR" dirty="0"/>
              <a:t>Makine öğrenmesi ile çok sayıda farklı türdeki problem çözülebilir: </a:t>
            </a:r>
            <a:endParaRPr lang="tr-TR" dirty="0" smtClean="0"/>
          </a:p>
          <a:p>
            <a:pPr lvl="1"/>
            <a:r>
              <a:rPr lang="tr-TR" dirty="0" smtClean="0"/>
              <a:t>Sınıflandırma </a:t>
            </a:r>
          </a:p>
          <a:p>
            <a:pPr lvl="1"/>
            <a:r>
              <a:rPr lang="tr-TR" dirty="0" smtClean="0"/>
              <a:t>Eksik </a:t>
            </a:r>
            <a:r>
              <a:rPr lang="tr-TR" dirty="0"/>
              <a:t>giriş ile sınıflandırma </a:t>
            </a:r>
            <a:endParaRPr lang="tr-TR" dirty="0" smtClean="0"/>
          </a:p>
          <a:p>
            <a:pPr lvl="1"/>
            <a:r>
              <a:rPr lang="tr-TR" dirty="0" smtClean="0"/>
              <a:t>Regresyon </a:t>
            </a:r>
          </a:p>
          <a:p>
            <a:pPr lvl="1"/>
            <a:r>
              <a:rPr lang="tr-TR" dirty="0" err="1" smtClean="0"/>
              <a:t>Transcription</a:t>
            </a:r>
            <a:r>
              <a:rPr lang="tr-TR" dirty="0" smtClean="0"/>
              <a:t> </a:t>
            </a:r>
          </a:p>
          <a:p>
            <a:pPr lvl="1"/>
            <a:r>
              <a:rPr lang="tr-TR" dirty="0" smtClean="0"/>
              <a:t>Makine </a:t>
            </a:r>
            <a:r>
              <a:rPr lang="tr-TR" dirty="0"/>
              <a:t>çevirisi </a:t>
            </a:r>
          </a:p>
          <a:p>
            <a:pPr lvl="1"/>
            <a:r>
              <a:rPr lang="tr-TR" dirty="0" smtClean="0"/>
              <a:t>Yapılandırılmış </a:t>
            </a:r>
            <a:r>
              <a:rPr lang="tr-TR" dirty="0"/>
              <a:t>çıkış </a:t>
            </a:r>
            <a:endParaRPr lang="tr-TR" dirty="0" smtClean="0"/>
          </a:p>
          <a:p>
            <a:pPr lvl="1"/>
            <a:r>
              <a:rPr lang="tr-TR" dirty="0" smtClean="0"/>
              <a:t>Anormallik </a:t>
            </a:r>
            <a:r>
              <a:rPr lang="tr-TR" dirty="0"/>
              <a:t>tespiti </a:t>
            </a:r>
            <a:endParaRPr lang="tr-TR" dirty="0" smtClean="0"/>
          </a:p>
          <a:p>
            <a:pPr lvl="1"/>
            <a:r>
              <a:rPr lang="tr-TR" dirty="0" smtClean="0"/>
              <a:t>Sentezleme </a:t>
            </a:r>
            <a:r>
              <a:rPr lang="tr-TR" dirty="0"/>
              <a:t>ve örnekleme </a:t>
            </a:r>
            <a:endParaRPr lang="tr-TR" dirty="0" smtClean="0"/>
          </a:p>
          <a:p>
            <a:pPr lvl="1"/>
            <a:r>
              <a:rPr lang="tr-TR" dirty="0" smtClean="0"/>
              <a:t>Eksik </a:t>
            </a:r>
            <a:r>
              <a:rPr lang="tr-TR" dirty="0"/>
              <a:t>değerleri tahmin etme </a:t>
            </a:r>
            <a:endParaRPr lang="tr-TR" dirty="0" smtClean="0"/>
          </a:p>
          <a:p>
            <a:pPr lvl="1"/>
            <a:r>
              <a:rPr lang="tr-TR" dirty="0" smtClean="0"/>
              <a:t>Gürültüyü </a:t>
            </a:r>
            <a:r>
              <a:rPr lang="tr-TR" dirty="0"/>
              <a:t>yok etme </a:t>
            </a:r>
            <a:endParaRPr lang="tr-TR" dirty="0" smtClean="0"/>
          </a:p>
          <a:p>
            <a:pPr lvl="1"/>
            <a:r>
              <a:rPr lang="tr-TR" dirty="0" smtClean="0"/>
              <a:t>Yoğunluk </a:t>
            </a:r>
            <a:r>
              <a:rPr lang="tr-TR" dirty="0"/>
              <a:t>tahmini veya olasılık yoğunluk/kütle fonksiyonu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609722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uygulama Alanları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smtClean="0"/>
              <a:t>Sınıflandırma</a:t>
            </a:r>
            <a:r>
              <a:rPr lang="tr-TR" dirty="0" smtClean="0"/>
              <a:t>	</a:t>
            </a:r>
          </a:p>
          <a:p>
            <a:pPr lvl="1"/>
            <a:r>
              <a:rPr lang="tr-TR" dirty="0" smtClean="0"/>
              <a:t>Giriş </a:t>
            </a:r>
            <a:r>
              <a:rPr lang="tr-TR" dirty="0"/>
              <a:t>değerlerine göre ait olduğu k kategorisi atanır. </a:t>
            </a:r>
            <a:endParaRPr lang="tr-TR" dirty="0" smtClean="0"/>
          </a:p>
          <a:p>
            <a:pPr lvl="1"/>
            <a:r>
              <a:rPr lang="tr-TR" dirty="0" smtClean="0"/>
              <a:t>Öğrenen </a:t>
            </a:r>
            <a:r>
              <a:rPr lang="tr-TR" dirty="0"/>
              <a:t>algoritma bir fonksiyon üretir</a:t>
            </a:r>
            <a:r>
              <a:rPr lang="tr-TR" dirty="0" smtClean="0"/>
              <a:t>.</a:t>
            </a:r>
          </a:p>
          <a:p>
            <a:pPr lvl="1"/>
            <a:endParaRPr lang="tr-TR" dirty="0" smtClean="0"/>
          </a:p>
          <a:p>
            <a:pPr marL="365760" lvl="1" indent="0">
              <a:buNone/>
            </a:pPr>
            <a:endParaRPr lang="tr-TR" dirty="0"/>
          </a:p>
          <a:p>
            <a:pPr lvl="1"/>
            <a:r>
              <a:rPr lang="tr-TR" dirty="0" smtClean="0"/>
              <a:t>Model</a:t>
            </a:r>
            <a:r>
              <a:rPr lang="tr-TR" dirty="0"/>
              <a:t>, x giriş vektörü için y çıkışını elde eder</a:t>
            </a:r>
            <a:r>
              <a:rPr lang="tr-TR" dirty="0" smtClean="0"/>
              <a:t>.</a:t>
            </a:r>
          </a:p>
          <a:p>
            <a:pPr lvl="1"/>
            <a:endParaRPr lang="tr-TR" dirty="0"/>
          </a:p>
          <a:p>
            <a:pPr lvl="1"/>
            <a:endParaRPr lang="tr-TR" dirty="0" smtClean="0"/>
          </a:p>
          <a:p>
            <a:pPr lvl="1"/>
            <a:r>
              <a:rPr lang="tr-TR" dirty="0"/>
              <a:t>Görüntü içerisinden nesne tanımlama/sınıflandırma, fotoğraf koleksiyonundan insanların tespit edilmesi gibi nesne tanıma uygulamaları derin öğrenme ile gerçekleştirilebilir.</a:t>
            </a:r>
            <a:endParaRPr lang="tr-TR" dirty="0" smtClean="0"/>
          </a:p>
          <a:p>
            <a:pPr lvl="1"/>
            <a:endParaRPr lang="tr-TR" dirty="0"/>
          </a:p>
          <a:p>
            <a:pPr lvl="1"/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3140968"/>
            <a:ext cx="2545301" cy="426757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856" y="4221088"/>
            <a:ext cx="1196444" cy="4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077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uygulama Alanları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Eksik giriş ile sınıflandırma</a:t>
            </a:r>
            <a:r>
              <a:rPr lang="tr-TR" dirty="0"/>
              <a:t> </a:t>
            </a:r>
          </a:p>
          <a:p>
            <a:pPr lvl="1"/>
            <a:r>
              <a:rPr lang="tr-TR" dirty="0" smtClean="0"/>
              <a:t>Sınıflandırma </a:t>
            </a:r>
            <a:r>
              <a:rPr lang="tr-TR" dirty="0"/>
              <a:t>problemi tüm girişler uygun olmadığında daha zor hale gelir. </a:t>
            </a:r>
            <a:endParaRPr lang="tr-TR" dirty="0" smtClean="0"/>
          </a:p>
          <a:p>
            <a:pPr lvl="1"/>
            <a:r>
              <a:rPr lang="tr-TR" dirty="0" smtClean="0"/>
              <a:t>Eğer </a:t>
            </a:r>
            <a:r>
              <a:rPr lang="tr-TR" dirty="0"/>
              <a:t>bazı girişler eksik olursa, öğrenme algoritması bir fonksiyonu öğrenmek yerine bir fonksiyon kümesini öğrenir. </a:t>
            </a:r>
            <a:endParaRPr lang="tr-TR" dirty="0" smtClean="0"/>
          </a:p>
          <a:p>
            <a:pPr lvl="1"/>
            <a:r>
              <a:rPr lang="tr-TR" dirty="0" smtClean="0"/>
              <a:t>Her </a:t>
            </a:r>
            <a:r>
              <a:rPr lang="tr-TR" dirty="0"/>
              <a:t>fonksiyon x vektöründeki farklı kayıp girişleri içeren altkümede işlem yapar. </a:t>
            </a:r>
            <a:endParaRPr lang="tr-TR" dirty="0" smtClean="0"/>
          </a:p>
          <a:p>
            <a:pPr lvl="1"/>
            <a:r>
              <a:rPr lang="tr-TR" dirty="0" smtClean="0"/>
              <a:t>Bu </a:t>
            </a:r>
            <a:r>
              <a:rPr lang="tr-TR" dirty="0"/>
              <a:t>tür durumlar tıbbi teşhis uygulamalarında sıklıkla ortaya çıkar. </a:t>
            </a:r>
            <a:endParaRPr lang="tr-TR" dirty="0" smtClean="0"/>
          </a:p>
          <a:p>
            <a:pPr lvl="1"/>
            <a:r>
              <a:rPr lang="tr-TR" dirty="0" smtClean="0"/>
              <a:t>Görüntüden </a:t>
            </a:r>
            <a:r>
              <a:rPr lang="tr-TR" dirty="0"/>
              <a:t>karakter elde etme (</a:t>
            </a:r>
            <a:r>
              <a:rPr lang="tr-TR" dirty="0" err="1"/>
              <a:t>optical</a:t>
            </a:r>
            <a:r>
              <a:rPr lang="tr-TR" dirty="0"/>
              <a:t> </a:t>
            </a:r>
            <a:r>
              <a:rPr lang="tr-TR" dirty="0" err="1"/>
              <a:t>character</a:t>
            </a:r>
            <a:r>
              <a:rPr lang="tr-TR" dirty="0"/>
              <a:t> </a:t>
            </a:r>
            <a:r>
              <a:rPr lang="tr-TR" dirty="0" err="1"/>
              <a:t>recognition</a:t>
            </a:r>
            <a:r>
              <a:rPr lang="tr-TR" dirty="0"/>
              <a:t>) uygulamaları da eksik bilgiye göre sınıflandırma yapar. 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759840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uygulama Alanları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Regresyon</a:t>
            </a:r>
            <a:r>
              <a:rPr lang="tr-TR" dirty="0"/>
              <a:t> </a:t>
            </a:r>
            <a:endParaRPr lang="tr-TR" dirty="0" smtClean="0"/>
          </a:p>
          <a:p>
            <a:pPr lvl="1"/>
            <a:r>
              <a:rPr lang="tr-TR" dirty="0" smtClean="0"/>
              <a:t>Bu </a:t>
            </a:r>
            <a:r>
              <a:rPr lang="tr-TR" dirty="0"/>
              <a:t>tür problemlerde makine öğrenmesi algoritması girişlere göre sayısal bir değeri tahmin eder. </a:t>
            </a:r>
            <a:endParaRPr lang="tr-TR" dirty="0" smtClean="0"/>
          </a:p>
          <a:p>
            <a:pPr lvl="1"/>
            <a:r>
              <a:rPr lang="tr-TR" dirty="0" smtClean="0"/>
              <a:t>Bu </a:t>
            </a:r>
            <a:r>
              <a:rPr lang="tr-TR" dirty="0"/>
              <a:t>tür problemlerin çözümünde, öğrenen algoritma girişlere göre fonksiyonun sayısal çıkışını elde eder</a:t>
            </a:r>
            <a:r>
              <a:rPr lang="tr-TR" dirty="0" smtClean="0"/>
              <a:t>.</a:t>
            </a:r>
          </a:p>
          <a:p>
            <a:pPr lvl="1"/>
            <a:endParaRPr lang="tr-TR" dirty="0" smtClean="0"/>
          </a:p>
          <a:p>
            <a:pPr lvl="1"/>
            <a:endParaRPr lang="tr-TR" dirty="0"/>
          </a:p>
          <a:p>
            <a:pPr lvl="1"/>
            <a:r>
              <a:rPr lang="tr-TR" dirty="0" smtClean="0"/>
              <a:t>Sigortalı </a:t>
            </a:r>
            <a:r>
              <a:rPr lang="tr-TR" dirty="0"/>
              <a:t>personelin tazminat talep tahmini veya menkul kıymetlerin ileriye dönük değer tahmini regresyon ile yapılabilir. 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968" y="3717032"/>
            <a:ext cx="1646063" cy="44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552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uygulama Alanları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err="1"/>
              <a:t>Transcription</a:t>
            </a:r>
            <a:r>
              <a:rPr lang="tr-TR" dirty="0"/>
              <a:t> </a:t>
            </a:r>
            <a:endParaRPr lang="tr-TR" dirty="0" smtClean="0"/>
          </a:p>
          <a:p>
            <a:pPr lvl="1"/>
            <a:r>
              <a:rPr lang="tr-TR" dirty="0" smtClean="0"/>
              <a:t>Yapılandırılmamış </a:t>
            </a:r>
            <a:r>
              <a:rPr lang="tr-TR" dirty="0"/>
              <a:t>şekilde gösterilen verilerden metin formatında veri elde edilir. </a:t>
            </a:r>
            <a:endParaRPr lang="tr-TR" dirty="0" smtClean="0"/>
          </a:p>
          <a:p>
            <a:pPr lvl="1"/>
            <a:r>
              <a:rPr lang="tr-TR" dirty="0" smtClean="0"/>
              <a:t>Makine </a:t>
            </a:r>
            <a:r>
              <a:rPr lang="tr-TR" dirty="0"/>
              <a:t>öğrenmesi ile bir fotoğraf içerisindeki metinler çıkartılabilir. </a:t>
            </a:r>
            <a:endParaRPr lang="tr-TR" dirty="0" smtClean="0"/>
          </a:p>
          <a:p>
            <a:pPr lvl="1"/>
            <a:r>
              <a:rPr lang="tr-TR" dirty="0" smtClean="0"/>
              <a:t>Google </a:t>
            </a:r>
            <a:r>
              <a:rPr lang="tr-TR" dirty="0"/>
              <a:t>Street </a:t>
            </a:r>
            <a:r>
              <a:rPr lang="tr-TR" dirty="0" err="1"/>
              <a:t>View</a:t>
            </a:r>
            <a:r>
              <a:rPr lang="tr-TR" dirty="0"/>
              <a:t>, fotoğraflardaki adres numaralarını bu şekilde elde etmektedir. </a:t>
            </a:r>
            <a:endParaRPr lang="tr-TR" dirty="0" smtClean="0"/>
          </a:p>
          <a:p>
            <a:pPr lvl="1"/>
            <a:r>
              <a:rPr lang="tr-TR" dirty="0" smtClean="0"/>
              <a:t>Konuşma </a:t>
            </a:r>
            <a:r>
              <a:rPr lang="tr-TR" dirty="0"/>
              <a:t>tanıma (</a:t>
            </a:r>
            <a:r>
              <a:rPr lang="tr-TR" dirty="0" err="1"/>
              <a:t>speech</a:t>
            </a:r>
            <a:r>
              <a:rPr lang="tr-TR" dirty="0"/>
              <a:t> </a:t>
            </a:r>
            <a:r>
              <a:rPr lang="tr-TR" dirty="0" err="1"/>
              <a:t>recognition</a:t>
            </a:r>
            <a:r>
              <a:rPr lang="tr-TR" dirty="0"/>
              <a:t>) uygulamaları ses dalgalarını karakterlere dönüştürür. </a:t>
            </a:r>
            <a:endParaRPr lang="tr-TR" dirty="0" smtClean="0"/>
          </a:p>
          <a:p>
            <a:pPr lvl="1"/>
            <a:r>
              <a:rPr lang="tr-TR" dirty="0" smtClean="0"/>
              <a:t>Günümüzdeki </a:t>
            </a:r>
            <a:r>
              <a:rPr lang="tr-TR" dirty="0"/>
              <a:t>konuşma tanıma uygulamalarında derin öğrenme yaygın bir şekilde kullanılmaktadır. </a:t>
            </a:r>
          </a:p>
        </p:txBody>
      </p:sp>
    </p:spTree>
    <p:extLst>
      <p:ext uri="{BB962C8B-B14F-4D97-AF65-F5344CB8AC3E}">
        <p14:creationId xmlns:p14="http://schemas.microsoft.com/office/powerpoint/2010/main" val="3695290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uygulama Alanları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dirty="0"/>
              <a:t>Makine çevirisi</a:t>
            </a:r>
            <a:r>
              <a:rPr lang="tr-TR" dirty="0"/>
              <a:t> </a:t>
            </a:r>
            <a:endParaRPr lang="tr-TR" dirty="0" smtClean="0"/>
          </a:p>
          <a:p>
            <a:pPr lvl="1"/>
            <a:r>
              <a:rPr lang="tr-TR" dirty="0" smtClean="0"/>
              <a:t>Makine </a:t>
            </a:r>
            <a:r>
              <a:rPr lang="tr-TR" dirty="0"/>
              <a:t>öğrenmesi ile bir dildeki karakter dizgisi başka bir dildeki karakter dizgisine dönüştürülür. </a:t>
            </a:r>
            <a:endParaRPr lang="tr-TR" dirty="0" smtClean="0"/>
          </a:p>
          <a:p>
            <a:pPr lvl="1"/>
            <a:r>
              <a:rPr lang="tr-TR" dirty="0" smtClean="0"/>
              <a:t>Derin </a:t>
            </a:r>
            <a:r>
              <a:rPr lang="tr-TR" dirty="0"/>
              <a:t>öğrenme bu tür uygulamalarda çok başarılı bir şekilde uygulanabilmektedir. </a:t>
            </a:r>
            <a:endParaRPr lang="tr-TR" dirty="0" smtClean="0"/>
          </a:p>
          <a:p>
            <a:pPr marL="0" lvl="1" indent="0">
              <a:spcBef>
                <a:spcPts val="600"/>
              </a:spcBef>
              <a:buSzPct val="70000"/>
              <a:buNone/>
            </a:pPr>
            <a:r>
              <a:rPr lang="tr-TR" sz="2400" b="1" dirty="0"/>
              <a:t>Yapılandırılmış </a:t>
            </a:r>
            <a:r>
              <a:rPr lang="tr-TR" sz="2400" b="1" dirty="0"/>
              <a:t>çıkış </a:t>
            </a:r>
            <a:endParaRPr lang="tr-TR" sz="2400" b="1" dirty="0"/>
          </a:p>
          <a:p>
            <a:pPr lvl="1"/>
            <a:r>
              <a:rPr lang="tr-TR" dirty="0" smtClean="0"/>
              <a:t>Çıkış </a:t>
            </a:r>
            <a:r>
              <a:rPr lang="tr-TR" dirty="0"/>
              <a:t>vektörü farklı elemanlar arasındaki önemli ilişkileri içerir. </a:t>
            </a:r>
            <a:endParaRPr lang="tr-TR" dirty="0" smtClean="0"/>
          </a:p>
          <a:p>
            <a:pPr lvl="1"/>
            <a:r>
              <a:rPr lang="tr-TR" dirty="0" smtClean="0"/>
              <a:t>Örneğin</a:t>
            </a:r>
            <a:r>
              <a:rPr lang="tr-TR" dirty="0"/>
              <a:t>, giriş doğal dildeki bir cümledir, çıkış ise bir ağaç yapısıdır (</a:t>
            </a:r>
            <a:r>
              <a:rPr lang="tr-TR" dirty="0" err="1"/>
              <a:t>parsing</a:t>
            </a:r>
            <a:r>
              <a:rPr lang="tr-TR" dirty="0"/>
              <a:t>, </a:t>
            </a:r>
            <a:r>
              <a:rPr lang="tr-TR" dirty="0" err="1"/>
              <a:t>mapping</a:t>
            </a:r>
            <a:r>
              <a:rPr lang="tr-TR" dirty="0"/>
              <a:t>). </a:t>
            </a:r>
            <a:endParaRPr lang="tr-TR" dirty="0" smtClean="0"/>
          </a:p>
          <a:p>
            <a:pPr lvl="1"/>
            <a:r>
              <a:rPr lang="tr-TR" dirty="0" smtClean="0"/>
              <a:t>Çıkış </a:t>
            </a:r>
            <a:r>
              <a:rPr lang="tr-TR" dirty="0"/>
              <a:t>ağaç yapısı cümlenin gramer yapısını tanımlar (fiil, isim,…). </a:t>
            </a:r>
            <a:endParaRPr lang="tr-TR" dirty="0" smtClean="0"/>
          </a:p>
          <a:p>
            <a:pPr lvl="1"/>
            <a:r>
              <a:rPr lang="tr-TR" dirty="0" smtClean="0"/>
              <a:t>Hava </a:t>
            </a:r>
            <a:r>
              <a:rPr lang="tr-TR" dirty="0"/>
              <a:t>fotoğraflarından yolların konumlarını belirlemek için derin öğrenme kullanılabilir. </a:t>
            </a:r>
            <a:endParaRPr lang="tr-TR" dirty="0" smtClean="0"/>
          </a:p>
          <a:p>
            <a:pPr lvl="1"/>
            <a:r>
              <a:rPr lang="tr-TR" dirty="0" smtClean="0"/>
              <a:t>Görüntüyü </a:t>
            </a:r>
            <a:r>
              <a:rPr lang="tr-TR" dirty="0"/>
              <a:t>tanımlayan metin uygulamalarında (</a:t>
            </a:r>
            <a:r>
              <a:rPr lang="tr-TR" dirty="0" err="1"/>
              <a:t>image</a:t>
            </a:r>
            <a:r>
              <a:rPr lang="tr-TR" dirty="0"/>
              <a:t> </a:t>
            </a:r>
            <a:r>
              <a:rPr lang="tr-TR" dirty="0" err="1"/>
              <a:t>captioning</a:t>
            </a:r>
            <a:r>
              <a:rPr lang="tr-TR" dirty="0"/>
              <a:t>) yapılandırılmış çıkış geçerli bir cümledir.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3729366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uygulama Alanları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b="1" dirty="0"/>
              <a:t>Anormallik tespiti </a:t>
            </a:r>
            <a:endParaRPr lang="tr-TR" b="1" dirty="0" smtClean="0"/>
          </a:p>
          <a:p>
            <a:pPr lvl="1"/>
            <a:r>
              <a:rPr lang="tr-TR" dirty="0" smtClean="0"/>
              <a:t>Makine </a:t>
            </a:r>
            <a:r>
              <a:rPr lang="tr-TR" dirty="0"/>
              <a:t>öğrenmesi ile bir grup olay veya nesneden bazıları farklı ve anormal olarak işaretlenir</a:t>
            </a:r>
            <a:r>
              <a:rPr lang="tr-TR" dirty="0" smtClean="0"/>
              <a:t>.</a:t>
            </a:r>
          </a:p>
          <a:p>
            <a:pPr lvl="1"/>
            <a:r>
              <a:rPr lang="tr-TR" dirty="0" smtClean="0"/>
              <a:t>Kredi </a:t>
            </a:r>
            <a:r>
              <a:rPr lang="tr-TR" dirty="0"/>
              <a:t>kartı sahteciliği uygulamasında </a:t>
            </a:r>
            <a:r>
              <a:rPr lang="tr-TR" dirty="0" err="1"/>
              <a:t>anomaly</a:t>
            </a:r>
            <a:r>
              <a:rPr lang="tr-TR" dirty="0"/>
              <a:t> </a:t>
            </a:r>
            <a:r>
              <a:rPr lang="tr-TR" dirty="0" err="1"/>
              <a:t>detection</a:t>
            </a:r>
            <a:r>
              <a:rPr lang="tr-TR" dirty="0"/>
              <a:t> yapılır. </a:t>
            </a:r>
            <a:endParaRPr lang="tr-TR" dirty="0" smtClean="0"/>
          </a:p>
          <a:p>
            <a:pPr lvl="1"/>
            <a:r>
              <a:rPr lang="tr-TR" dirty="0" smtClean="0"/>
              <a:t>Kişinin </a:t>
            </a:r>
            <a:r>
              <a:rPr lang="tr-TR" dirty="0"/>
              <a:t>harcama alışkanlıkları modellenerek kart üzerindeki hatalı veya anormal işlemler tespit </a:t>
            </a:r>
            <a:r>
              <a:rPr lang="tr-TR" dirty="0" smtClean="0"/>
              <a:t>edilir.</a:t>
            </a:r>
          </a:p>
          <a:p>
            <a:pPr lvl="1"/>
            <a:r>
              <a:rPr lang="tr-TR" dirty="0" smtClean="0"/>
              <a:t>Kredi </a:t>
            </a:r>
            <a:r>
              <a:rPr lang="tr-TR" dirty="0"/>
              <a:t>kartını çalan kişi farklı bir olasılık dağılımına göre alışveriş yapar. </a:t>
            </a:r>
            <a:endParaRPr lang="tr-TR" dirty="0" smtClean="0"/>
          </a:p>
          <a:p>
            <a:pPr marL="0" lvl="1" indent="0">
              <a:spcBef>
                <a:spcPts val="600"/>
              </a:spcBef>
              <a:buSzPct val="70000"/>
              <a:buNone/>
            </a:pPr>
            <a:r>
              <a:rPr lang="tr-TR" sz="2400" b="1" dirty="0"/>
              <a:t>Sentezleme ve örnekleme </a:t>
            </a:r>
          </a:p>
          <a:p>
            <a:pPr lvl="1"/>
            <a:r>
              <a:rPr lang="tr-TR" dirty="0" smtClean="0"/>
              <a:t>Makine </a:t>
            </a:r>
            <a:r>
              <a:rPr lang="tr-TR" dirty="0"/>
              <a:t>öğrenmesi ile eğitilen verinin benzeri örnekler üretilir. </a:t>
            </a:r>
            <a:endParaRPr lang="tr-TR" dirty="0" smtClean="0"/>
          </a:p>
          <a:p>
            <a:pPr lvl="1"/>
            <a:r>
              <a:rPr lang="tr-TR" dirty="0" smtClean="0"/>
              <a:t>Konuşma </a:t>
            </a:r>
            <a:r>
              <a:rPr lang="tr-TR" dirty="0"/>
              <a:t>sentezleme uygulamasında, bir metin giriş olarak verilir ve ses dalgaları ile konuşma şeklinde çıkış elde edilir. </a:t>
            </a:r>
            <a:endParaRPr lang="tr-TR" dirty="0" smtClean="0"/>
          </a:p>
          <a:p>
            <a:pPr lvl="1"/>
            <a:r>
              <a:rPr lang="tr-TR" dirty="0" smtClean="0"/>
              <a:t>Derin </a:t>
            </a:r>
            <a:r>
              <a:rPr lang="tr-TR" dirty="0"/>
              <a:t>öğrenme ile öğrenilen müzik eserlerinden yeni bir müzik eseri çıkış olarak elde edilebilir. 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2618190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uygulama Alanları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Eksik değerleri tahmin etme</a:t>
            </a:r>
            <a:r>
              <a:rPr lang="tr-TR" dirty="0"/>
              <a:t> </a:t>
            </a:r>
            <a:endParaRPr lang="tr-TR" dirty="0" smtClean="0"/>
          </a:p>
          <a:p>
            <a:pPr lvl="1"/>
            <a:r>
              <a:rPr lang="tr-TR" dirty="0" smtClean="0"/>
              <a:t>Bu </a:t>
            </a:r>
            <a:r>
              <a:rPr lang="tr-TR" dirty="0"/>
              <a:t>tür problemlerde makine öğrenmesi algoritmasına yeni bir giriş </a:t>
            </a:r>
            <a:r>
              <a:rPr lang="tr-TR" dirty="0" smtClean="0"/>
              <a:t>verilir, </a:t>
            </a:r>
            <a:r>
              <a:rPr lang="tr-TR" dirty="0"/>
              <a:t>eksik girişleri tahmin etmesi istenir. </a:t>
            </a:r>
          </a:p>
          <a:p>
            <a:pPr marL="365760" lvl="1" indent="0">
              <a:buNone/>
            </a:pPr>
            <a:endParaRPr lang="tr-TR" b="1" dirty="0"/>
          </a:p>
          <a:p>
            <a:pPr marL="0" lvl="1" indent="0">
              <a:spcBef>
                <a:spcPts val="600"/>
              </a:spcBef>
              <a:buSzPct val="70000"/>
              <a:buNone/>
            </a:pPr>
            <a:r>
              <a:rPr lang="tr-TR" sz="2400" b="1" dirty="0"/>
              <a:t>Gürültüyü yok etme </a:t>
            </a:r>
          </a:p>
          <a:p>
            <a:pPr lvl="1"/>
            <a:r>
              <a:rPr lang="tr-TR" dirty="0" smtClean="0"/>
              <a:t>Bu </a:t>
            </a:r>
            <a:r>
              <a:rPr lang="tr-TR" dirty="0"/>
              <a:t>tür problemlerde, makine öğrenmesi algoritmasına bozulmuş/gürültülü bir örnek </a:t>
            </a:r>
            <a:r>
              <a:rPr lang="tr-TR" dirty="0" smtClean="0"/>
              <a:t>verilir</a:t>
            </a:r>
            <a:r>
              <a:rPr lang="tr-TR" dirty="0"/>
              <a:t>, temiz ve doğru örnek </a:t>
            </a:r>
            <a:r>
              <a:rPr lang="tr-TR" dirty="0" smtClean="0"/>
              <a:t>elde </a:t>
            </a:r>
            <a:r>
              <a:rPr lang="tr-TR" dirty="0"/>
              <a:t>edilir. </a:t>
            </a:r>
            <a:endParaRPr lang="tr-TR" dirty="0" smtClean="0"/>
          </a:p>
          <a:p>
            <a:pPr lvl="1"/>
            <a:r>
              <a:rPr lang="tr-TR" dirty="0" smtClean="0"/>
              <a:t>Makine </a:t>
            </a:r>
            <a:r>
              <a:rPr lang="tr-TR" dirty="0"/>
              <a:t>öğrenmesi algoritmaları, gürültülü girişinden doğru girişini tahmin eder. </a:t>
            </a:r>
            <a:endParaRPr lang="tr-TR" dirty="0" smtClean="0"/>
          </a:p>
          <a:p>
            <a:pPr lvl="1"/>
            <a:r>
              <a:rPr lang="tr-TR" dirty="0" smtClean="0"/>
              <a:t>Genel </a:t>
            </a:r>
            <a:r>
              <a:rPr lang="tr-TR" dirty="0"/>
              <a:t>olarak, şartlı olasılık dağılımını tahmin eder.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1818033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uygulama Alanları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03232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Yoğunluk tahmini veya olasılık yoğunluk/kütle fonksiyonu </a:t>
            </a:r>
            <a:endParaRPr lang="tr-TR" b="1" dirty="0" smtClean="0"/>
          </a:p>
          <a:p>
            <a:pPr lvl="1"/>
            <a:r>
              <a:rPr lang="tr-TR" dirty="0" smtClean="0"/>
              <a:t>Yoğunluk </a:t>
            </a:r>
            <a:r>
              <a:rPr lang="tr-TR" dirty="0"/>
              <a:t>tahmini probleminde, makine öğrenmesi algoritması olasılık dağılımı fonksiyonunu öğrenir. </a:t>
            </a:r>
            <a:endParaRPr lang="tr-TR" dirty="0" smtClean="0"/>
          </a:p>
          <a:p>
            <a:pPr marL="365760" lvl="1" indent="0">
              <a:buNone/>
            </a:pPr>
            <a:endParaRPr lang="tr-TR" dirty="0" smtClean="0"/>
          </a:p>
          <a:p>
            <a:pPr lvl="1"/>
            <a:endParaRPr lang="tr-TR" dirty="0"/>
          </a:p>
          <a:p>
            <a:pPr lvl="1"/>
            <a:r>
              <a:rPr lang="tr-TR" dirty="0" smtClean="0"/>
              <a:t>eğer </a:t>
            </a:r>
            <a:r>
              <a:rPr lang="tr-TR" i="1" dirty="0"/>
              <a:t>x </a:t>
            </a:r>
            <a:r>
              <a:rPr lang="tr-TR" dirty="0"/>
              <a:t>sürekli ise olasılık yoğunluk (</a:t>
            </a:r>
            <a:r>
              <a:rPr lang="tr-TR" dirty="0" err="1"/>
              <a:t>probability</a:t>
            </a:r>
            <a:r>
              <a:rPr lang="tr-TR" dirty="0"/>
              <a:t> </a:t>
            </a:r>
            <a:r>
              <a:rPr lang="tr-TR" dirty="0" err="1"/>
              <a:t>density</a:t>
            </a:r>
            <a:r>
              <a:rPr lang="tr-TR" dirty="0"/>
              <a:t>) fonksiyonu, kesikli ise olasılık kütle (</a:t>
            </a:r>
            <a:r>
              <a:rPr lang="tr-TR" dirty="0" err="1"/>
              <a:t>probability</a:t>
            </a:r>
            <a:r>
              <a:rPr lang="tr-TR" dirty="0"/>
              <a:t> </a:t>
            </a:r>
            <a:r>
              <a:rPr lang="tr-TR" dirty="0" err="1"/>
              <a:t>mass</a:t>
            </a:r>
            <a:r>
              <a:rPr lang="tr-TR" dirty="0"/>
              <a:t>) fonksiyonudur</a:t>
            </a:r>
            <a:r>
              <a:rPr lang="tr-TR" dirty="0" smtClean="0"/>
              <a:t>.</a:t>
            </a:r>
          </a:p>
          <a:p>
            <a:pPr lvl="1"/>
            <a:r>
              <a:rPr lang="tr-TR" dirty="0" smtClean="0"/>
              <a:t>Bir </a:t>
            </a:r>
            <a:r>
              <a:rPr lang="tr-TR" i="1" dirty="0" smtClean="0"/>
              <a:t>p(x) </a:t>
            </a:r>
            <a:r>
              <a:rPr lang="tr-TR" dirty="0" smtClean="0"/>
              <a:t>olasılık </a:t>
            </a:r>
            <a:r>
              <a:rPr lang="tr-TR" dirty="0"/>
              <a:t>dağılımı öğrenilirse, eksik veri tahmin edilebilir. </a:t>
            </a:r>
            <a:endParaRPr lang="tr-TR" dirty="0" smtClean="0"/>
          </a:p>
          <a:p>
            <a:pPr lvl="1"/>
            <a:r>
              <a:rPr lang="tr-TR" dirty="0" smtClean="0"/>
              <a:t>Eğer</a:t>
            </a:r>
            <a:r>
              <a:rPr lang="tr-TR" dirty="0"/>
              <a:t>, girişi eksik ve diğer tüm girişleri var ise, eksik girişi tahmin etmek için şartlı olasılığı kullanılabilir.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125" y="3140968"/>
            <a:ext cx="2415749" cy="65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5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</a:t>
            </a:r>
            <a:r>
              <a:rPr lang="tr-TR" dirty="0" smtClean="0">
                <a:ea typeface="ＭＳ Ｐゴシック" pitchFamily="34" charset="-128"/>
              </a:rPr>
              <a:t>Performans Ölçütleri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59216" cy="4873752"/>
          </a:xfrm>
        </p:spPr>
        <p:txBody>
          <a:bodyPr>
            <a:normAutofit fontScale="92500" lnSpcReduction="10000"/>
          </a:bodyPr>
          <a:lstStyle/>
          <a:p>
            <a:r>
              <a:rPr lang="tr-TR" dirty="0"/>
              <a:t>Makine öğrenme algoritmasının performansını değerlendirmek için nicel ölçütler kullanılmalıdır. </a:t>
            </a:r>
            <a:endParaRPr lang="tr-TR" dirty="0" smtClean="0"/>
          </a:p>
          <a:p>
            <a:r>
              <a:rPr lang="tr-TR" dirty="0" smtClean="0"/>
              <a:t>Sınıflandırma</a:t>
            </a:r>
            <a:r>
              <a:rPr lang="tr-TR" dirty="0"/>
              <a:t>, eksik giriş ile sınıflandırma, </a:t>
            </a:r>
            <a:r>
              <a:rPr lang="tr-TR" dirty="0" err="1"/>
              <a:t>transcription</a:t>
            </a:r>
            <a:r>
              <a:rPr lang="tr-TR" dirty="0"/>
              <a:t> gibi uygulamalarda doğruluk (</a:t>
            </a:r>
            <a:r>
              <a:rPr lang="tr-TR" dirty="0" err="1"/>
              <a:t>accuracy</a:t>
            </a:r>
            <a:r>
              <a:rPr lang="tr-TR" dirty="0"/>
              <a:t>) kullanılabilir. </a:t>
            </a:r>
            <a:endParaRPr lang="tr-TR" dirty="0" smtClean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r>
              <a:rPr lang="tr-TR" dirty="0" smtClean="0"/>
              <a:t>Doğruluk </a:t>
            </a:r>
            <a:r>
              <a:rPr lang="tr-TR" dirty="0"/>
              <a:t>değerinden hata oranı hesaplanabilir. </a:t>
            </a:r>
            <a:endParaRPr lang="tr-TR" dirty="0" smtClean="0"/>
          </a:p>
          <a:p>
            <a:endParaRPr lang="tr-TR" dirty="0" smtClean="0"/>
          </a:p>
          <a:p>
            <a:endParaRPr lang="tr-TR" dirty="0"/>
          </a:p>
          <a:p>
            <a:r>
              <a:rPr lang="tr-TR" dirty="0" smtClean="0"/>
              <a:t>Makine </a:t>
            </a:r>
            <a:r>
              <a:rPr lang="tr-TR" dirty="0"/>
              <a:t>öğrenmesi algoritmalarının eğitimi, eğitim verisi ile (</a:t>
            </a:r>
            <a:r>
              <a:rPr lang="tr-TR" dirty="0" err="1"/>
              <a:t>training</a:t>
            </a:r>
            <a:r>
              <a:rPr lang="tr-TR" dirty="0"/>
              <a:t> data) yapılır. </a:t>
            </a:r>
            <a:endParaRPr lang="tr-TR" dirty="0" smtClean="0"/>
          </a:p>
          <a:p>
            <a:r>
              <a:rPr lang="tr-TR" dirty="0" smtClean="0"/>
              <a:t>Algoritmaların </a:t>
            </a:r>
            <a:r>
              <a:rPr lang="tr-TR" dirty="0"/>
              <a:t>performansı, eğitim süresince görmediği (test data) veriler üzerinde ölçülür. 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3047967"/>
            <a:ext cx="5296359" cy="762066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4293096"/>
            <a:ext cx="3033023" cy="2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612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</a:t>
            </a:r>
            <a:r>
              <a:rPr lang="tr-TR" dirty="0" smtClean="0">
                <a:ea typeface="ＭＳ Ｐゴシック" pitchFamily="34" charset="-128"/>
              </a:rPr>
              <a:t>Performans Ölçütleri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19256" cy="4873752"/>
          </a:xfrm>
        </p:spPr>
        <p:txBody>
          <a:bodyPr>
            <a:normAutofit fontScale="92500" lnSpcReduction="10000"/>
          </a:bodyPr>
          <a:lstStyle/>
          <a:p>
            <a:r>
              <a:rPr lang="tr-TR" dirty="0" err="1" smtClean="0"/>
              <a:t>Accuracy</a:t>
            </a:r>
            <a:r>
              <a:rPr lang="tr-TR" dirty="0" smtClean="0"/>
              <a:t> </a:t>
            </a:r>
            <a:r>
              <a:rPr lang="tr-TR" dirty="0"/>
              <a:t>bazı durumlarda kullanılabilir değildir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pPr marL="0" indent="0">
              <a:buNone/>
            </a:pPr>
            <a:r>
              <a:rPr lang="tr-TR" dirty="0" err="1"/>
              <a:t>Accuracy</a:t>
            </a:r>
            <a:r>
              <a:rPr lang="tr-TR" dirty="0"/>
              <a:t>= (TP+TN)/(N) = (0+993)/1005= 0,99 </a:t>
            </a:r>
          </a:p>
          <a:p>
            <a:pPr marL="0" indent="0">
              <a:buNone/>
            </a:pPr>
            <a:r>
              <a:rPr lang="tr-TR" dirty="0" smtClean="0"/>
              <a:t>Hata</a:t>
            </a:r>
            <a:r>
              <a:rPr lang="tr-TR" dirty="0"/>
              <a:t>= (FP+FN)/(N) = (7+5)/1005 = 0,01 (Çok düşük hata </a:t>
            </a:r>
            <a:r>
              <a:rPr lang="tr-TR" dirty="0" smtClean="0"/>
              <a:t>!!!)x</a:t>
            </a: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82" y="1550507"/>
            <a:ext cx="7872142" cy="37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56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</a:t>
            </a:r>
            <a:r>
              <a:rPr lang="tr-TR" dirty="0" smtClean="0">
                <a:ea typeface="ＭＳ Ｐゴシック" pitchFamily="34" charset="-128"/>
              </a:rPr>
              <a:t>Performans Ölçütleri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59216" cy="1612776"/>
          </a:xfrm>
        </p:spPr>
        <p:txBody>
          <a:bodyPr>
            <a:normAutofit fontScale="92500" lnSpcReduction="20000"/>
          </a:bodyPr>
          <a:lstStyle/>
          <a:p>
            <a:r>
              <a:rPr lang="tr-TR" dirty="0"/>
              <a:t>Makine öğrenme algoritmasının performansını değerlendirmek için hata matrisi (</a:t>
            </a:r>
            <a:r>
              <a:rPr lang="tr-TR" dirty="0" err="1"/>
              <a:t>confusion</a:t>
            </a:r>
            <a:r>
              <a:rPr lang="tr-TR" dirty="0"/>
              <a:t> </a:t>
            </a:r>
            <a:r>
              <a:rPr lang="tr-TR" dirty="0" err="1"/>
              <a:t>matrix</a:t>
            </a:r>
            <a:r>
              <a:rPr lang="tr-TR" dirty="0"/>
              <a:t>) kullanılabilir. </a:t>
            </a:r>
            <a:endParaRPr lang="tr-TR" dirty="0" smtClean="0"/>
          </a:p>
          <a:p>
            <a:r>
              <a:rPr lang="tr-TR" dirty="0" smtClean="0"/>
              <a:t>İki </a:t>
            </a:r>
            <a:r>
              <a:rPr lang="tr-TR" dirty="0"/>
              <a:t>veya daha fazla sınıf için hata matrisi oluşturulabilir. </a:t>
            </a:r>
            <a:endParaRPr lang="tr-TR" dirty="0" smtClean="0"/>
          </a:p>
          <a:p>
            <a:r>
              <a:rPr lang="tr-TR" dirty="0" smtClean="0"/>
              <a:t>"</a:t>
            </a:r>
            <a:r>
              <a:rPr lang="tr-TR" dirty="0" err="1"/>
              <a:t>Tx</a:t>
            </a:r>
            <a:r>
              <a:rPr lang="tr-TR" dirty="0"/>
              <a:t>" doğruyu, "</a:t>
            </a:r>
            <a:r>
              <a:rPr lang="tr-TR" dirty="0" err="1"/>
              <a:t>Fx</a:t>
            </a:r>
            <a:r>
              <a:rPr lang="tr-TR" dirty="0"/>
              <a:t>" yanlışı göstermektedir.</a:t>
            </a:r>
            <a:endParaRPr lang="tr-TR" dirty="0" smtClean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40968"/>
            <a:ext cx="7780694" cy="364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992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</a:t>
            </a:r>
            <a:r>
              <a:rPr lang="tr-TR" dirty="0" smtClean="0">
                <a:ea typeface="ＭＳ Ｐゴシック" pitchFamily="34" charset="-128"/>
              </a:rPr>
              <a:t>Performans Ölçütleri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59216" cy="1612776"/>
          </a:xfrm>
        </p:spPr>
        <p:txBody>
          <a:bodyPr>
            <a:normAutofit/>
          </a:bodyPr>
          <a:lstStyle/>
          <a:p>
            <a:r>
              <a:rPr lang="tr-TR" dirty="0"/>
              <a:t>Precision, gerçek değeri pozitif olup pozitif değere sınıflandırılan sayısının, pozitif değere sınıflandırılanların toplam sayısına oranıdır. 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857" y="2852936"/>
            <a:ext cx="6767146" cy="316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9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</a:t>
            </a:r>
            <a:r>
              <a:rPr lang="tr-TR" dirty="0" smtClean="0">
                <a:ea typeface="ＭＳ Ｐゴシック" pitchFamily="34" charset="-128"/>
              </a:rPr>
              <a:t>Performans Ölçütleri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59216" cy="964704"/>
          </a:xfrm>
        </p:spPr>
        <p:txBody>
          <a:bodyPr>
            <a:normAutofit/>
          </a:bodyPr>
          <a:lstStyle/>
          <a:p>
            <a:r>
              <a:rPr lang="tr-TR" dirty="0"/>
              <a:t>Precision, hedeflenen sınıfın seçilme başarısını ölçmek için daha faydalıdır.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22" y="2331328"/>
            <a:ext cx="7803556" cy="45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099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</a:t>
            </a:r>
            <a:r>
              <a:rPr lang="tr-TR" dirty="0" smtClean="0">
                <a:ea typeface="ＭＳ Ｐゴシック" pitchFamily="34" charset="-128"/>
              </a:rPr>
              <a:t>Performans Ölçütleri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59216" cy="1612776"/>
          </a:xfrm>
        </p:spPr>
        <p:txBody>
          <a:bodyPr>
            <a:normAutofit/>
          </a:bodyPr>
          <a:lstStyle/>
          <a:p>
            <a:r>
              <a:rPr lang="tr-TR" dirty="0" err="1"/>
              <a:t>Recall</a:t>
            </a:r>
            <a:r>
              <a:rPr lang="tr-TR" dirty="0"/>
              <a:t>, gerçek değeri pozitif olup pozitif değere sınıflandırılan sayısının, gerçek değeri pozitif olanların tümüne oranıdır.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07" y="3068960"/>
            <a:ext cx="6812870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047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</a:t>
            </a:r>
            <a:r>
              <a:rPr lang="tr-TR" dirty="0" smtClean="0">
                <a:ea typeface="ＭＳ Ｐゴシック" pitchFamily="34" charset="-128"/>
              </a:rPr>
              <a:t>Performans Ölçütleri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59216" cy="1612776"/>
          </a:xfrm>
        </p:spPr>
        <p:txBody>
          <a:bodyPr>
            <a:normAutofit/>
          </a:bodyPr>
          <a:lstStyle/>
          <a:p>
            <a:r>
              <a:rPr lang="tr-TR" dirty="0" err="1"/>
              <a:t>Recall</a:t>
            </a:r>
            <a:r>
              <a:rPr lang="tr-TR" dirty="0"/>
              <a:t>, hedeflenen sınıfın seçilme başarısını ölçmek için daha faydalıdır.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84" y="2433160"/>
            <a:ext cx="7757832" cy="433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458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</a:t>
            </a:r>
            <a:r>
              <a:rPr lang="tr-TR" dirty="0" smtClean="0">
                <a:ea typeface="ＭＳ Ｐゴシック" pitchFamily="34" charset="-128"/>
              </a:rPr>
              <a:t>Performans Ölçütleri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59216" cy="4925144"/>
          </a:xfrm>
        </p:spPr>
        <p:txBody>
          <a:bodyPr>
            <a:normAutofit/>
          </a:bodyPr>
          <a:lstStyle/>
          <a:p>
            <a:r>
              <a:rPr lang="tr-TR" dirty="0" err="1"/>
              <a:t>Spam</a:t>
            </a:r>
            <a:r>
              <a:rPr lang="tr-TR" dirty="0"/>
              <a:t> filtreleme (</a:t>
            </a:r>
            <a:r>
              <a:rPr lang="tr-TR" dirty="0" err="1"/>
              <a:t>spam</a:t>
            </a:r>
            <a:r>
              <a:rPr lang="tr-TR" dirty="0"/>
              <a:t> olanlar hedef sınıf) </a:t>
            </a:r>
            <a:endParaRPr lang="tr-TR" dirty="0" smtClean="0"/>
          </a:p>
          <a:p>
            <a:pPr lvl="1"/>
            <a:r>
              <a:rPr lang="tr-TR" dirty="0" smtClean="0"/>
              <a:t>Precision</a:t>
            </a:r>
            <a:r>
              <a:rPr lang="tr-TR" dirty="0"/>
              <a:t>: </a:t>
            </a:r>
            <a:r>
              <a:rPr lang="tr-TR" dirty="0" err="1"/>
              <a:t>spam</a:t>
            </a:r>
            <a:r>
              <a:rPr lang="tr-TR" dirty="0"/>
              <a:t> kutusuna alınanlardan gerçekte </a:t>
            </a:r>
            <a:r>
              <a:rPr lang="tr-TR" dirty="0" err="1"/>
              <a:t>spam</a:t>
            </a:r>
            <a:r>
              <a:rPr lang="tr-TR" dirty="0"/>
              <a:t> olanların sayısının </a:t>
            </a:r>
            <a:r>
              <a:rPr lang="tr-TR" dirty="0" err="1"/>
              <a:t>spam</a:t>
            </a:r>
            <a:r>
              <a:rPr lang="tr-TR" dirty="0"/>
              <a:t> kutusundaki tüm mesajlara oranıdır. </a:t>
            </a:r>
            <a:endParaRPr lang="tr-TR" dirty="0" smtClean="0"/>
          </a:p>
          <a:p>
            <a:pPr lvl="1"/>
            <a:r>
              <a:rPr lang="tr-TR" dirty="0" err="1" smtClean="0"/>
              <a:t>Recall</a:t>
            </a:r>
            <a:r>
              <a:rPr lang="tr-TR" dirty="0"/>
              <a:t>: gerçekte </a:t>
            </a:r>
            <a:r>
              <a:rPr lang="tr-TR" dirty="0" err="1"/>
              <a:t>spam</a:t>
            </a:r>
            <a:r>
              <a:rPr lang="tr-TR" dirty="0"/>
              <a:t> olup da </a:t>
            </a:r>
            <a:r>
              <a:rPr lang="tr-TR" dirty="0" err="1"/>
              <a:t>spam</a:t>
            </a:r>
            <a:r>
              <a:rPr lang="tr-TR" dirty="0"/>
              <a:t> kutusuna alınan mesajların, tüm gerçek </a:t>
            </a:r>
            <a:r>
              <a:rPr lang="tr-TR" dirty="0" err="1"/>
              <a:t>spam</a:t>
            </a:r>
            <a:r>
              <a:rPr lang="tr-TR" dirty="0"/>
              <a:t> mesajlara oranıdır. </a:t>
            </a:r>
            <a:endParaRPr lang="tr-TR" dirty="0" smtClean="0"/>
          </a:p>
          <a:p>
            <a:r>
              <a:rPr lang="tr-TR" dirty="0" smtClean="0"/>
              <a:t>Duygu </a:t>
            </a:r>
            <a:r>
              <a:rPr lang="tr-TR" dirty="0"/>
              <a:t>analizi (pozitif olanlar hedef sınıf) </a:t>
            </a:r>
            <a:endParaRPr lang="tr-TR" dirty="0" smtClean="0"/>
          </a:p>
          <a:p>
            <a:pPr lvl="1"/>
            <a:r>
              <a:rPr lang="tr-TR" dirty="0" smtClean="0"/>
              <a:t>Precision</a:t>
            </a:r>
            <a:r>
              <a:rPr lang="tr-TR" dirty="0"/>
              <a:t>: gerçekte pozitif olup da pozitif sınıflandırılanların sayısının tüm pozitif olarak sınıflandırılanlara oranıdır. </a:t>
            </a:r>
            <a:endParaRPr lang="tr-TR" dirty="0" smtClean="0"/>
          </a:p>
          <a:p>
            <a:pPr lvl="1"/>
            <a:r>
              <a:rPr lang="tr-TR" dirty="0" err="1" smtClean="0"/>
              <a:t>Recall</a:t>
            </a:r>
            <a:r>
              <a:rPr lang="tr-TR" dirty="0"/>
              <a:t>: gerçekte pozitif olup da pozitif sınıflandırılanların sayısının tüm pozitif olanlara oranıdır.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1935755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</a:t>
            </a:r>
            <a:r>
              <a:rPr lang="tr-TR" dirty="0" smtClean="0">
                <a:ea typeface="ＭＳ Ｐゴシック" pitchFamily="34" charset="-128"/>
              </a:rPr>
              <a:t>Performans Ölçütleri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59216" cy="1612776"/>
          </a:xfrm>
        </p:spPr>
        <p:txBody>
          <a:bodyPr>
            <a:normAutofit/>
          </a:bodyPr>
          <a:lstStyle/>
          <a:p>
            <a:r>
              <a:rPr lang="tr-TR" dirty="0" err="1"/>
              <a:t>Specificity</a:t>
            </a:r>
            <a:r>
              <a:rPr lang="tr-TR" dirty="0"/>
              <a:t>, gerçek değeri negatif olup negatif sınıflandırılan sayısının, gerçek değeri negatif olanların tümüne oranıdır.</a:t>
            </a:r>
            <a:endParaRPr lang="tr-TR" dirty="0" smtClean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996" y="3212976"/>
            <a:ext cx="6972904" cy="337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76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</a:t>
            </a:r>
            <a:r>
              <a:rPr lang="tr-TR" dirty="0" smtClean="0">
                <a:ea typeface="ＭＳ Ｐゴシック" pitchFamily="34" charset="-128"/>
              </a:rPr>
              <a:t>Performans Ölçütleri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59216" cy="1612776"/>
          </a:xfrm>
        </p:spPr>
        <p:txBody>
          <a:bodyPr>
            <a:normAutofit/>
          </a:bodyPr>
          <a:lstStyle/>
          <a:p>
            <a:r>
              <a:rPr lang="tr-TR" dirty="0" err="1"/>
              <a:t>Specificity</a:t>
            </a:r>
            <a:r>
              <a:rPr lang="tr-TR" dirty="0"/>
              <a:t>,</a:t>
            </a:r>
            <a:endParaRPr lang="tr-TR" dirty="0" smtClean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74" y="2204864"/>
            <a:ext cx="7696867" cy="441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576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</a:t>
            </a:r>
            <a:r>
              <a:rPr lang="tr-TR" dirty="0" smtClean="0">
                <a:ea typeface="ＭＳ Ｐゴシック" pitchFamily="34" charset="-128"/>
              </a:rPr>
              <a:t>Performans Ölçütleri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59216" cy="1612776"/>
          </a:xfrm>
        </p:spPr>
        <p:txBody>
          <a:bodyPr>
            <a:normAutofit/>
          </a:bodyPr>
          <a:lstStyle/>
          <a:p>
            <a:r>
              <a:rPr lang="tr-TR" dirty="0" err="1"/>
              <a:t>Specificity</a:t>
            </a:r>
            <a:r>
              <a:rPr lang="tr-TR" dirty="0"/>
              <a:t>,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53" y="2060848"/>
            <a:ext cx="7780694" cy="444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5095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</a:t>
            </a:r>
            <a:r>
              <a:rPr lang="tr-TR" dirty="0" smtClean="0">
                <a:ea typeface="ＭＳ Ｐゴシック" pitchFamily="34" charset="-128"/>
              </a:rPr>
              <a:t>Performans Ölçütleri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59216" cy="1612776"/>
          </a:xfrm>
        </p:spPr>
        <p:txBody>
          <a:bodyPr>
            <a:normAutofit/>
          </a:bodyPr>
          <a:lstStyle/>
          <a:p>
            <a:r>
              <a:rPr lang="tr-TR" dirty="0" smtClean="0"/>
              <a:t>F</a:t>
            </a:r>
            <a:r>
              <a:rPr lang="tr-TR" baseline="-25000" dirty="0" smtClean="0"/>
              <a:t>1</a:t>
            </a:r>
            <a:r>
              <a:rPr lang="tr-TR" dirty="0" smtClean="0"/>
              <a:t> </a:t>
            </a:r>
            <a:r>
              <a:rPr lang="tr-TR" dirty="0"/>
              <a:t>-</a:t>
            </a:r>
            <a:r>
              <a:rPr lang="tr-TR" dirty="0" err="1"/>
              <a:t>score</a:t>
            </a:r>
            <a:r>
              <a:rPr lang="tr-TR" dirty="0"/>
              <a:t> (</a:t>
            </a:r>
            <a:r>
              <a:rPr lang="tr-TR" dirty="0" err="1"/>
              <a:t>Harmonic</a:t>
            </a:r>
            <a:r>
              <a:rPr lang="tr-TR" dirty="0"/>
              <a:t> </a:t>
            </a:r>
            <a:r>
              <a:rPr lang="tr-TR" dirty="0" err="1"/>
              <a:t>mean</a:t>
            </a:r>
            <a:r>
              <a:rPr lang="tr-TR" dirty="0"/>
              <a:t>), iki ölçüt yerine tek ölçüt kullanarak değerlendirme yapmak için kullanılır.</a:t>
            </a:r>
            <a:endParaRPr lang="tr-TR" dirty="0" smtClean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05" y="2492896"/>
            <a:ext cx="7453006" cy="399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523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</a:t>
            </a:r>
            <a:r>
              <a:rPr lang="tr-TR" dirty="0" smtClean="0">
                <a:ea typeface="ＭＳ Ｐゴシック" pitchFamily="34" charset="-128"/>
              </a:rPr>
              <a:t>Performans Ölçütleri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59216" cy="1612776"/>
          </a:xfrm>
        </p:spPr>
        <p:txBody>
          <a:bodyPr>
            <a:normAutofit/>
          </a:bodyPr>
          <a:lstStyle/>
          <a:p>
            <a:r>
              <a:rPr lang="tr-TR" dirty="0" smtClean="0"/>
              <a:t>F</a:t>
            </a:r>
            <a:r>
              <a:rPr lang="tr-TR" baseline="-25000" dirty="0" smtClean="0"/>
              <a:t>1</a:t>
            </a:r>
            <a:r>
              <a:rPr lang="tr-TR" dirty="0" smtClean="0"/>
              <a:t> </a:t>
            </a:r>
            <a:r>
              <a:rPr lang="tr-TR" dirty="0"/>
              <a:t>-</a:t>
            </a:r>
            <a:r>
              <a:rPr lang="tr-TR" dirty="0" err="1"/>
              <a:t>score</a:t>
            </a:r>
            <a:r>
              <a:rPr lang="tr-TR" dirty="0"/>
              <a:t>, iki değişkeni tek ölçüt ile değerlendirir.</a:t>
            </a:r>
            <a:endParaRPr lang="tr-TR" dirty="0" smtClean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354" y="2140811"/>
            <a:ext cx="4755292" cy="471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0730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</a:t>
            </a:r>
            <a:r>
              <a:rPr lang="tr-TR" dirty="0" smtClean="0">
                <a:ea typeface="ＭＳ Ｐゴシック" pitchFamily="34" charset="-128"/>
              </a:rPr>
              <a:t>Performans Ölçütleri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59216" cy="1612776"/>
          </a:xfrm>
        </p:spPr>
        <p:txBody>
          <a:bodyPr>
            <a:normAutofit/>
          </a:bodyPr>
          <a:lstStyle/>
          <a:p>
            <a:r>
              <a:rPr lang="tr-TR" dirty="0" smtClean="0"/>
              <a:t>F</a:t>
            </a:r>
            <a:r>
              <a:rPr lang="tr-TR" baseline="-25000" dirty="0" smtClean="0"/>
              <a:t>1</a:t>
            </a:r>
            <a:r>
              <a:rPr lang="tr-TR" dirty="0" smtClean="0"/>
              <a:t> </a:t>
            </a:r>
            <a:r>
              <a:rPr lang="tr-TR" dirty="0"/>
              <a:t>-</a:t>
            </a:r>
            <a:r>
              <a:rPr lang="tr-TR" dirty="0" err="1"/>
              <a:t>score</a:t>
            </a:r>
            <a:r>
              <a:rPr lang="tr-TR" dirty="0"/>
              <a:t>, </a:t>
            </a:r>
            <a:endParaRPr lang="tr-TR" dirty="0" smtClean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06" y="2204864"/>
            <a:ext cx="7704488" cy="421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251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</a:t>
            </a:r>
            <a:r>
              <a:rPr lang="tr-TR" dirty="0" smtClean="0">
                <a:ea typeface="ＭＳ Ｐゴシック" pitchFamily="34" charset="-128"/>
              </a:rPr>
              <a:t>Performans Ölçütleri</a:t>
            </a:r>
            <a:endParaRPr lang="tr-TR" dirty="0">
              <a:ea typeface="ＭＳ Ｐゴシック" pitchFamily="34" charset="-128"/>
            </a:endParaRP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15" y="2132856"/>
            <a:ext cx="7734970" cy="414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2493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</a:t>
            </a:r>
            <a:r>
              <a:rPr lang="tr-TR" dirty="0" smtClean="0">
                <a:ea typeface="ＭＳ Ｐゴシック" pitchFamily="34" charset="-128"/>
              </a:rPr>
              <a:t>Performans Ölçütleri</a:t>
            </a:r>
            <a:endParaRPr lang="tr-TR" dirty="0">
              <a:ea typeface="ＭＳ Ｐゴシック" pitchFamily="34" charset="-128"/>
            </a:endParaRP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70" y="2060848"/>
            <a:ext cx="7841660" cy="393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6614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ML </a:t>
            </a:r>
            <a:r>
              <a:rPr lang="tr-TR" dirty="0" smtClean="0">
                <a:ea typeface="ＭＳ Ｐゴシック" pitchFamily="34" charset="-128"/>
              </a:rPr>
              <a:t>Performans Ölçütleri</a:t>
            </a:r>
            <a:endParaRPr lang="tr-TR" dirty="0">
              <a:ea typeface="ＭＳ Ｐゴシック" pitchFamily="34" charset="-128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91" y="2132856"/>
            <a:ext cx="7826418" cy="383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7352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Öğrenme Türleri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Denetimli öğrenme</a:t>
            </a:r>
            <a:r>
              <a:rPr lang="tr-TR" dirty="0"/>
              <a:t> </a:t>
            </a:r>
            <a:endParaRPr lang="tr-TR" dirty="0" smtClean="0"/>
          </a:p>
          <a:p>
            <a:pPr lvl="1"/>
            <a:r>
              <a:rPr lang="tr-TR" dirty="0" smtClean="0"/>
              <a:t>Denetimli </a:t>
            </a:r>
            <a:r>
              <a:rPr lang="tr-TR" dirty="0"/>
              <a:t>öğrenme (</a:t>
            </a:r>
            <a:r>
              <a:rPr lang="tr-TR" dirty="0" err="1"/>
              <a:t>supervised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), makine öğrenmesinde sınıflandırma veya </a:t>
            </a:r>
            <a:r>
              <a:rPr lang="tr-TR" dirty="0" err="1"/>
              <a:t>tümevarımlı</a:t>
            </a:r>
            <a:r>
              <a:rPr lang="tr-TR" dirty="0"/>
              <a:t> (</a:t>
            </a:r>
            <a:r>
              <a:rPr lang="tr-TR" dirty="0" err="1"/>
              <a:t>inductive</a:t>
            </a:r>
            <a:r>
              <a:rPr lang="tr-TR" dirty="0"/>
              <a:t>) öğrenme şeklinde ifade edilir. </a:t>
            </a:r>
            <a:endParaRPr lang="tr-TR" dirty="0" smtClean="0"/>
          </a:p>
          <a:p>
            <a:pPr lvl="1"/>
            <a:r>
              <a:rPr lang="tr-TR" dirty="0" smtClean="0"/>
              <a:t>Denetimli </a:t>
            </a:r>
            <a:r>
              <a:rPr lang="tr-TR" dirty="0"/>
              <a:t>öğrenmede hedef değerler (</a:t>
            </a:r>
            <a:r>
              <a:rPr lang="tr-TR" dirty="0" err="1"/>
              <a:t>targets</a:t>
            </a:r>
            <a:r>
              <a:rPr lang="tr-TR" dirty="0"/>
              <a:t>) ile giriş değerleri (</a:t>
            </a:r>
            <a:r>
              <a:rPr lang="tr-TR" dirty="0" err="1"/>
              <a:t>inputs</a:t>
            </a:r>
            <a:r>
              <a:rPr lang="tr-TR" dirty="0"/>
              <a:t>) birlikte eğitim kümesi (</a:t>
            </a:r>
            <a:r>
              <a:rPr lang="tr-TR" dirty="0" err="1"/>
              <a:t>training</a:t>
            </a:r>
            <a:r>
              <a:rPr lang="tr-TR" dirty="0"/>
              <a:t> set) olarak sağlanır. </a:t>
            </a:r>
            <a:endParaRPr lang="tr-TR" dirty="0" smtClean="0"/>
          </a:p>
          <a:p>
            <a:pPr lvl="1"/>
            <a:r>
              <a:rPr lang="tr-TR" dirty="0" smtClean="0"/>
              <a:t>Öğrenme </a:t>
            </a:r>
            <a:r>
              <a:rPr lang="tr-TR" dirty="0"/>
              <a:t>işleminde bir kayıt kümesi kullanılır ve özellikler kümesi olarak gösterilir. </a:t>
            </a:r>
            <a:endParaRPr lang="tr-TR" dirty="0" smtClean="0"/>
          </a:p>
          <a:p>
            <a:pPr marL="365760" lvl="1" indent="0">
              <a:buNone/>
            </a:pPr>
            <a:r>
              <a:rPr lang="tr-TR" dirty="0" smtClean="0"/>
              <a:t>		A </a:t>
            </a:r>
            <a:r>
              <a:rPr lang="tr-TR" dirty="0"/>
              <a:t>= {A</a:t>
            </a:r>
            <a:r>
              <a:rPr lang="tr-TR" baseline="-25000" dirty="0"/>
              <a:t>1</a:t>
            </a:r>
            <a:r>
              <a:rPr lang="tr-TR" dirty="0"/>
              <a:t> , A</a:t>
            </a:r>
            <a:r>
              <a:rPr lang="tr-TR" baseline="-25000" dirty="0"/>
              <a:t>2</a:t>
            </a:r>
            <a:r>
              <a:rPr lang="tr-TR" dirty="0"/>
              <a:t> , …, A</a:t>
            </a:r>
            <a:r>
              <a:rPr lang="tr-TR" baseline="-25000" dirty="0"/>
              <a:t>|A|</a:t>
            </a:r>
            <a:r>
              <a:rPr lang="tr-TR" dirty="0"/>
              <a:t>} </a:t>
            </a:r>
            <a:endParaRPr lang="tr-TR" dirty="0" smtClean="0"/>
          </a:p>
          <a:p>
            <a:pPr lvl="1"/>
            <a:r>
              <a:rPr lang="tr-TR" dirty="0" smtClean="0"/>
              <a:t>Burada</a:t>
            </a:r>
            <a:r>
              <a:rPr lang="tr-TR" dirty="0"/>
              <a:t>, |A| kümedeki eleman sayısını gösterir.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26769605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Öğrenme Türleri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Denetimli öğrenme </a:t>
            </a:r>
            <a:endParaRPr lang="tr-TR" b="1" dirty="0" smtClean="0"/>
          </a:p>
          <a:p>
            <a:pPr lvl="1"/>
            <a:r>
              <a:rPr lang="tr-TR" dirty="0" smtClean="0"/>
              <a:t>Bir </a:t>
            </a:r>
            <a:r>
              <a:rPr lang="tr-TR" dirty="0"/>
              <a:t>veri kümesi aynı zamanda hedef C özelliğine de (sınıf) sahip olabilir. </a:t>
            </a:r>
            <a:endParaRPr lang="tr-TR" dirty="0" smtClean="0"/>
          </a:p>
          <a:p>
            <a:pPr lvl="1"/>
            <a:r>
              <a:rPr lang="tr-TR" dirty="0" smtClean="0"/>
              <a:t>C </a:t>
            </a:r>
            <a:r>
              <a:rPr lang="tr-TR" dirty="0"/>
              <a:t>∩ A = Ø </a:t>
            </a:r>
            <a:r>
              <a:rPr lang="tr-TR" dirty="0" err="1"/>
              <a:t>dir</a:t>
            </a:r>
            <a:r>
              <a:rPr lang="tr-TR" dirty="0"/>
              <a:t> ve aşağıdaki gibi ifade edilir: </a:t>
            </a:r>
            <a:endParaRPr lang="tr-TR" dirty="0" smtClean="0"/>
          </a:p>
          <a:p>
            <a:pPr marL="365760" lvl="1" indent="0">
              <a:buNone/>
            </a:pPr>
            <a:endParaRPr lang="tr-TR" dirty="0"/>
          </a:p>
          <a:p>
            <a:pPr marL="365760" lvl="1" indent="0">
              <a:buNone/>
            </a:pPr>
            <a:r>
              <a:rPr lang="tr-TR" dirty="0" smtClean="0"/>
              <a:t>	C </a:t>
            </a:r>
            <a:r>
              <a:rPr lang="tr-TR" dirty="0"/>
              <a:t>= </a:t>
            </a:r>
            <a:r>
              <a:rPr lang="tr-TR" dirty="0" smtClean="0"/>
              <a:t>{C</a:t>
            </a:r>
            <a:r>
              <a:rPr lang="tr-TR" baseline="-25000" dirty="0" smtClean="0"/>
              <a:t>1</a:t>
            </a:r>
            <a:r>
              <a:rPr lang="tr-TR" dirty="0" smtClean="0"/>
              <a:t> </a:t>
            </a:r>
            <a:r>
              <a:rPr lang="tr-TR" dirty="0"/>
              <a:t>, </a:t>
            </a:r>
            <a:r>
              <a:rPr lang="tr-TR" dirty="0" smtClean="0"/>
              <a:t>C</a:t>
            </a:r>
            <a:r>
              <a:rPr lang="tr-TR" baseline="-25000" dirty="0" smtClean="0"/>
              <a:t>2</a:t>
            </a:r>
            <a:r>
              <a:rPr lang="tr-TR" dirty="0" smtClean="0"/>
              <a:t> </a:t>
            </a:r>
            <a:r>
              <a:rPr lang="tr-TR" dirty="0"/>
              <a:t>, …, </a:t>
            </a:r>
            <a:r>
              <a:rPr lang="tr-TR" dirty="0" smtClean="0"/>
              <a:t>C</a:t>
            </a:r>
            <a:r>
              <a:rPr lang="tr-TR" baseline="-25000" dirty="0" smtClean="0"/>
              <a:t>|C</a:t>
            </a:r>
            <a:r>
              <a:rPr lang="tr-TR" baseline="-25000" dirty="0"/>
              <a:t>|</a:t>
            </a:r>
            <a:r>
              <a:rPr lang="tr-TR" dirty="0"/>
              <a:t>}, |C| </a:t>
            </a:r>
            <a:r>
              <a:rPr lang="tr-TR" dirty="0" smtClean="0"/>
              <a:t>≥ </a:t>
            </a:r>
            <a:r>
              <a:rPr lang="tr-TR" dirty="0"/>
              <a:t>2 </a:t>
            </a:r>
            <a:endParaRPr lang="tr-TR" dirty="0" smtClean="0"/>
          </a:p>
          <a:p>
            <a:pPr marL="365760" lvl="1" indent="0">
              <a:buNone/>
            </a:pPr>
            <a:endParaRPr lang="tr-TR" dirty="0" smtClean="0"/>
          </a:p>
          <a:p>
            <a:pPr lvl="1"/>
            <a:r>
              <a:rPr lang="tr-TR" dirty="0" smtClean="0"/>
              <a:t>Verilen </a:t>
            </a:r>
            <a:r>
              <a:rPr lang="tr-TR" dirty="0"/>
              <a:t>bir D veri kümesi için öğrenmedeki amaç, A’daki özellikler ile C ’deki sınıflar arasındaki ilişkiyi gösteren bir sınıflandırma/tahmin fonksiyonu oluşturmaktır. </a:t>
            </a:r>
            <a:endParaRPr lang="tr-TR" dirty="0" smtClean="0"/>
          </a:p>
          <a:p>
            <a:pPr lvl="1"/>
            <a:r>
              <a:rPr lang="tr-TR" dirty="0" smtClean="0"/>
              <a:t>Elde </a:t>
            </a:r>
            <a:r>
              <a:rPr lang="tr-TR" dirty="0"/>
              <a:t>edilen bu fonksiyon, sınıflandırma modeli, tahmin modeli veya sınıflandırıcı olarak adlandırılır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9044977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Öğrenme Türleri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Denetimli öğrenme </a:t>
            </a:r>
            <a:endParaRPr lang="tr-TR" b="1" dirty="0" smtClean="0"/>
          </a:p>
          <a:p>
            <a:pPr lvl="1"/>
            <a:r>
              <a:rPr lang="tr-TR" dirty="0" smtClean="0"/>
              <a:t>Öğrenme </a:t>
            </a:r>
            <a:r>
              <a:rPr lang="tr-TR" dirty="0"/>
              <a:t>süreci </a:t>
            </a:r>
            <a:r>
              <a:rPr lang="tr-TR" dirty="0" err="1"/>
              <a:t>training</a:t>
            </a:r>
            <a:r>
              <a:rPr lang="tr-TR" dirty="0"/>
              <a:t> ve test aşamalarından oluşur. </a:t>
            </a:r>
            <a:endParaRPr lang="tr-TR" dirty="0" smtClean="0"/>
          </a:p>
          <a:p>
            <a:pPr lvl="1"/>
            <a:r>
              <a:rPr lang="tr-TR" dirty="0" smtClean="0"/>
              <a:t>Modelde </a:t>
            </a:r>
            <a:r>
              <a:rPr lang="tr-TR" dirty="0" err="1"/>
              <a:t>hiper</a:t>
            </a:r>
            <a:r>
              <a:rPr lang="tr-TR" dirty="0"/>
              <a:t> parametreler varsa, öğrenme aşamasından önce optimize edilirler. 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717032"/>
            <a:ext cx="7483488" cy="178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647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ＭＳ Ｐゴシック" pitchFamily="34" charset="-128"/>
              </a:rPr>
              <a:t>Öğrenme Türleri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59216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Denetimsiz öğrenme </a:t>
            </a:r>
            <a:endParaRPr lang="tr-TR" dirty="0" smtClean="0"/>
          </a:p>
          <a:p>
            <a:pPr lvl="1"/>
            <a:r>
              <a:rPr lang="tr-TR" dirty="0" smtClean="0"/>
              <a:t>Denetimli </a:t>
            </a:r>
            <a:r>
              <a:rPr lang="tr-TR" dirty="0"/>
              <a:t>öğrenme giriş verileri ile çıkış niteliği arasındaki ilişkiyi ortaya çıkartır. </a:t>
            </a:r>
            <a:endParaRPr lang="tr-TR" dirty="0" smtClean="0"/>
          </a:p>
          <a:p>
            <a:pPr lvl="1"/>
            <a:r>
              <a:rPr lang="tr-TR" dirty="0" smtClean="0"/>
              <a:t>Elde </a:t>
            </a:r>
            <a:r>
              <a:rPr lang="tr-TR" dirty="0"/>
              <a:t>edilen model ile yeni verilerle ileriye dönük tahmin yapılması amaçlanmaktadır. </a:t>
            </a:r>
            <a:endParaRPr lang="tr-TR" dirty="0" smtClean="0"/>
          </a:p>
          <a:p>
            <a:pPr lvl="1"/>
            <a:r>
              <a:rPr lang="tr-TR" dirty="0" smtClean="0"/>
              <a:t>Denetimsiz </a:t>
            </a:r>
            <a:r>
              <a:rPr lang="tr-TR" dirty="0"/>
              <a:t>öğrenmede eğitim sürecinde hedef nitelik bulunmamaktadır. </a:t>
            </a:r>
            <a:endParaRPr lang="tr-TR" dirty="0" smtClean="0"/>
          </a:p>
          <a:p>
            <a:pPr lvl="1"/>
            <a:r>
              <a:rPr lang="tr-TR" dirty="0" smtClean="0"/>
              <a:t>Denetimsiz </a:t>
            </a:r>
            <a:r>
              <a:rPr lang="tr-TR" dirty="0"/>
              <a:t>öğrenmede veriler arasında bazı yapısal ilişkilerin veya örüntülerin ortaya çıkartılması amaçlanmaktadır. 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3458484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Kapasite, </a:t>
            </a:r>
            <a:r>
              <a:rPr lang="tr-TR" dirty="0" err="1" smtClean="0"/>
              <a:t>Overfitting</a:t>
            </a:r>
            <a:r>
              <a:rPr lang="tr-TR" dirty="0" smtClean="0"/>
              <a:t> </a:t>
            </a:r>
            <a:r>
              <a:rPr lang="tr-TR" dirty="0"/>
              <a:t>ve </a:t>
            </a:r>
            <a:r>
              <a:rPr lang="tr-TR" dirty="0" err="1" smtClean="0"/>
              <a:t>Underfitting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Makine öğrenmesi algoritmasının önceden görülmemiş girişler üzerinde başarılı olması gereklidir. </a:t>
            </a:r>
            <a:endParaRPr lang="tr-TR" dirty="0" smtClean="0"/>
          </a:p>
          <a:p>
            <a:r>
              <a:rPr lang="tr-TR" dirty="0" smtClean="0"/>
              <a:t>Önceden </a:t>
            </a:r>
            <a:r>
              <a:rPr lang="tr-TR" dirty="0"/>
              <a:t>görülmemiş veriler üzerindeki performansa genelleme (</a:t>
            </a:r>
            <a:r>
              <a:rPr lang="tr-TR" dirty="0" err="1"/>
              <a:t>generalization</a:t>
            </a:r>
            <a:r>
              <a:rPr lang="tr-TR" dirty="0"/>
              <a:t>) denir. </a:t>
            </a:r>
            <a:endParaRPr lang="tr-TR" dirty="0" smtClean="0"/>
          </a:p>
          <a:p>
            <a:r>
              <a:rPr lang="tr-TR" dirty="0" smtClean="0"/>
              <a:t>Makine </a:t>
            </a:r>
            <a:r>
              <a:rPr lang="tr-TR" dirty="0"/>
              <a:t>öğrenmesi algoritmaları eğitim sürecinde eğitim hatası hesaplar. </a:t>
            </a:r>
            <a:endParaRPr lang="tr-TR" dirty="0" smtClean="0"/>
          </a:p>
          <a:p>
            <a:r>
              <a:rPr lang="tr-TR" dirty="0" smtClean="0"/>
              <a:t>Eğitim </a:t>
            </a:r>
            <a:r>
              <a:rPr lang="tr-TR" dirty="0"/>
              <a:t>aşamasında sonra, </a:t>
            </a:r>
            <a:r>
              <a:rPr lang="tr-TR" dirty="0" err="1"/>
              <a:t>unseen</a:t>
            </a:r>
            <a:r>
              <a:rPr lang="tr-TR" dirty="0"/>
              <a:t> data ile test hatası (</a:t>
            </a:r>
            <a:r>
              <a:rPr lang="tr-TR" dirty="0" err="1"/>
              <a:t>generalization</a:t>
            </a:r>
            <a:r>
              <a:rPr lang="tr-TR" dirty="0"/>
              <a:t>/test </a:t>
            </a:r>
            <a:r>
              <a:rPr lang="tr-TR" dirty="0" err="1"/>
              <a:t>error</a:t>
            </a:r>
            <a:r>
              <a:rPr lang="tr-TR" dirty="0"/>
              <a:t>) hesaplanır. </a:t>
            </a:r>
            <a:endParaRPr lang="tr-TR" dirty="0" smtClean="0"/>
          </a:p>
          <a:p>
            <a:r>
              <a:rPr lang="tr-TR" dirty="0" smtClean="0"/>
              <a:t>İstatistiksel </a:t>
            </a:r>
            <a:r>
              <a:rPr lang="tr-TR" dirty="0"/>
              <a:t>öğrenme teorisine göre, test ve eğitim kümeleri uygun toplanmışsa, eğitim ve test hataları birbirine yakın olur. 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14631117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Kapasite, </a:t>
            </a:r>
            <a:r>
              <a:rPr lang="tr-TR" dirty="0" err="1" smtClean="0"/>
              <a:t>Overfitting</a:t>
            </a:r>
            <a:r>
              <a:rPr lang="tr-TR" dirty="0" smtClean="0"/>
              <a:t> </a:t>
            </a:r>
            <a:r>
              <a:rPr lang="tr-TR" dirty="0"/>
              <a:t>ve </a:t>
            </a:r>
            <a:r>
              <a:rPr lang="tr-TR" dirty="0" err="1" smtClean="0"/>
              <a:t>Underfitting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282251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dirty="0" err="1"/>
              <a:t>Underfit</a:t>
            </a:r>
            <a:r>
              <a:rPr lang="tr-TR" dirty="0"/>
              <a:t>, fit ve </a:t>
            </a:r>
            <a:r>
              <a:rPr lang="tr-TR" dirty="0" err="1"/>
              <a:t>overfit</a:t>
            </a:r>
            <a:r>
              <a:rPr lang="tr-TR" dirty="0"/>
              <a:t> </a:t>
            </a:r>
            <a:endParaRPr lang="tr-TR" dirty="0" smtClean="0"/>
          </a:p>
          <a:p>
            <a:r>
              <a:rPr lang="tr-TR" dirty="0" err="1" smtClean="0"/>
              <a:t>Underfit</a:t>
            </a:r>
            <a:r>
              <a:rPr lang="tr-TR" dirty="0"/>
              <a:t>, eğitim kümesi için başarı düşüktür (eğitim hatası yüksektir). </a:t>
            </a:r>
            <a:endParaRPr lang="tr-TR" dirty="0" smtClean="0"/>
          </a:p>
          <a:p>
            <a:r>
              <a:rPr lang="tr-TR" dirty="0" err="1" smtClean="0"/>
              <a:t>Overfit</a:t>
            </a:r>
            <a:r>
              <a:rPr lang="tr-TR" dirty="0"/>
              <a:t>, eğitim kümesi için başarı yüksektir, ancak test kümesi için başarı düşüktür (eğitim hatası düşük, test hatası yüksektir). </a:t>
            </a:r>
            <a:endParaRPr lang="tr-TR" dirty="0" smtClean="0"/>
          </a:p>
          <a:p>
            <a:r>
              <a:rPr lang="tr-TR" dirty="0" smtClean="0"/>
              <a:t>Fit</a:t>
            </a:r>
            <a:r>
              <a:rPr lang="tr-TR" dirty="0"/>
              <a:t>, hem eğitim kümesi hem de test kümesi için başarı yüksektir (eğitim ve test hatası düşüktür). 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42" y="4417437"/>
            <a:ext cx="7361558" cy="23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1436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Kapasite, </a:t>
            </a:r>
            <a:r>
              <a:rPr lang="tr-TR" dirty="0" err="1" smtClean="0"/>
              <a:t>Overfitting</a:t>
            </a:r>
            <a:r>
              <a:rPr lang="tr-TR" dirty="0" smtClean="0"/>
              <a:t> </a:t>
            </a:r>
            <a:r>
              <a:rPr lang="tr-TR" dirty="0"/>
              <a:t>ve </a:t>
            </a:r>
            <a:r>
              <a:rPr lang="tr-TR" dirty="0" err="1" smtClean="0"/>
              <a:t>Underfitting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 err="1" smtClean="0"/>
              <a:t>Underfit</a:t>
            </a:r>
            <a:r>
              <a:rPr lang="tr-TR" dirty="0"/>
              <a:t>, fit ve </a:t>
            </a:r>
            <a:r>
              <a:rPr lang="tr-TR" dirty="0" err="1"/>
              <a:t>overfit</a:t>
            </a:r>
            <a:r>
              <a:rPr lang="tr-TR" dirty="0"/>
              <a:t> </a:t>
            </a:r>
            <a:endParaRPr lang="tr-TR" dirty="0" smtClean="0"/>
          </a:p>
          <a:p>
            <a:pPr lvl="1"/>
            <a:r>
              <a:rPr lang="tr-TR" dirty="0" smtClean="0"/>
              <a:t>Modelin </a:t>
            </a:r>
            <a:r>
              <a:rPr lang="tr-TR" dirty="0"/>
              <a:t>eğitimini optimal kapasitenin olduğu noktada tamamlamak gerekir. </a:t>
            </a:r>
            <a:endParaRPr lang="tr-TR" dirty="0" smtClean="0"/>
          </a:p>
          <a:p>
            <a:pPr lvl="1"/>
            <a:r>
              <a:rPr lang="tr-TR" dirty="0" err="1" smtClean="0"/>
              <a:t>Generalization</a:t>
            </a:r>
            <a:r>
              <a:rPr lang="tr-TR" dirty="0" smtClean="0"/>
              <a:t> </a:t>
            </a:r>
            <a:r>
              <a:rPr lang="tr-TR" dirty="0" err="1"/>
              <a:t>error</a:t>
            </a:r>
            <a:r>
              <a:rPr lang="tr-TR" dirty="0"/>
              <a:t> minimum noktada iken sistemin genelleme özelliği maksimum düzeydedir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3573016"/>
            <a:ext cx="6416596" cy="30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2994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mba">
  <a:themeElements>
    <a:clrScheme name="Cumba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Cumba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umba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357</TotalTime>
  <Words>1386</Words>
  <Application>Microsoft Office PowerPoint</Application>
  <PresentationFormat>Ekran Gösterisi (4:3)</PresentationFormat>
  <Paragraphs>196</Paragraphs>
  <Slides>37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37</vt:i4>
      </vt:variant>
    </vt:vector>
  </HeadingPairs>
  <TitlesOfParts>
    <vt:vector size="42" baseType="lpstr">
      <vt:lpstr>ＭＳ Ｐゴシック</vt:lpstr>
      <vt:lpstr>Century Schoolbook</vt:lpstr>
      <vt:lpstr>Wingdings</vt:lpstr>
      <vt:lpstr>Wingdings 2</vt:lpstr>
      <vt:lpstr>Cumba</vt:lpstr>
      <vt:lpstr>Makine Öğrenmesi Algoritmaları</vt:lpstr>
      <vt:lpstr>Makine Öğrenmesi</vt:lpstr>
      <vt:lpstr>Öğrenme Algoritmaları</vt:lpstr>
      <vt:lpstr>ML uygulama Alanları</vt:lpstr>
      <vt:lpstr>ML uygulama Alanları</vt:lpstr>
      <vt:lpstr>ML uygulama Alanları</vt:lpstr>
      <vt:lpstr>ML uygulama Alanları</vt:lpstr>
      <vt:lpstr>ML uygulama Alanları</vt:lpstr>
      <vt:lpstr>ML uygulama Alanları</vt:lpstr>
      <vt:lpstr>ML uygulama Alanları</vt:lpstr>
      <vt:lpstr>ML uygulama Alanları</vt:lpstr>
      <vt:lpstr>ML uygulama Alanları</vt:lpstr>
      <vt:lpstr>ML uygulama Alanları</vt:lpstr>
      <vt:lpstr>ML Performans Ölçütleri</vt:lpstr>
      <vt:lpstr>ML Performans Ölçütleri</vt:lpstr>
      <vt:lpstr>ML Performans Ölçütleri</vt:lpstr>
      <vt:lpstr>ML Performans Ölçütleri</vt:lpstr>
      <vt:lpstr>ML Performans Ölçütleri</vt:lpstr>
      <vt:lpstr>ML Performans Ölçütleri</vt:lpstr>
      <vt:lpstr>ML Performans Ölçütleri</vt:lpstr>
      <vt:lpstr>ML Performans Ölçütleri</vt:lpstr>
      <vt:lpstr>ML Performans Ölçütleri</vt:lpstr>
      <vt:lpstr>ML Performans Ölçütleri</vt:lpstr>
      <vt:lpstr>ML Performans Ölçütleri</vt:lpstr>
      <vt:lpstr>ML Performans Ölçütleri</vt:lpstr>
      <vt:lpstr>ML Performans Ölçütleri</vt:lpstr>
      <vt:lpstr>ML Performans Ölçütleri</vt:lpstr>
      <vt:lpstr>ML Performans Ölçütleri</vt:lpstr>
      <vt:lpstr>ML Performans Ölçütleri</vt:lpstr>
      <vt:lpstr>ML Performans Ölçütleri</vt:lpstr>
      <vt:lpstr>Öğrenme Türleri</vt:lpstr>
      <vt:lpstr>Öğrenme Türleri</vt:lpstr>
      <vt:lpstr>Öğrenme Türleri</vt:lpstr>
      <vt:lpstr>Öğrenme Türleri</vt:lpstr>
      <vt:lpstr>Kapasite, Overfitting ve Underfitting</vt:lpstr>
      <vt:lpstr>Kapasite, Overfitting ve Underfitting</vt:lpstr>
      <vt:lpstr>Kapasite, Overfitting ve Underfitting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İLERİ PROGRAMLAMA</dc:title>
  <dc:creator>SFuat</dc:creator>
  <cp:lastModifiedBy>Tuncay</cp:lastModifiedBy>
  <cp:revision>54</cp:revision>
  <dcterms:created xsi:type="dcterms:W3CDTF">2020-02-18T10:38:04Z</dcterms:created>
  <dcterms:modified xsi:type="dcterms:W3CDTF">2023-10-15T05:02:18Z</dcterms:modified>
</cp:coreProperties>
</file>
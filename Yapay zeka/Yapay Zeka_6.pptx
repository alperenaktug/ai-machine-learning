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0" r:id="rId3"/>
    <p:sldId id="397" r:id="rId4"/>
    <p:sldId id="412" r:id="rId5"/>
    <p:sldId id="413" r:id="rId6"/>
    <p:sldId id="398" r:id="rId7"/>
    <p:sldId id="414" r:id="rId8"/>
    <p:sldId id="415" r:id="rId9"/>
    <p:sldId id="416" r:id="rId10"/>
    <p:sldId id="417" r:id="rId11"/>
    <p:sldId id="418" r:id="rId12"/>
    <p:sldId id="429" r:id="rId13"/>
    <p:sldId id="419" r:id="rId14"/>
    <p:sldId id="420" r:id="rId15"/>
    <p:sldId id="421" r:id="rId16"/>
    <p:sldId id="422" r:id="rId17"/>
    <p:sldId id="423" r:id="rId18"/>
    <p:sldId id="430" r:id="rId19"/>
    <p:sldId id="431" r:id="rId20"/>
    <p:sldId id="432" r:id="rId21"/>
    <p:sldId id="433" r:id="rId22"/>
    <p:sldId id="424" r:id="rId23"/>
    <p:sldId id="425" r:id="rId24"/>
    <p:sldId id="434" r:id="rId25"/>
    <p:sldId id="435" r:id="rId26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 smtClean="0"/>
              <a:t>Asıl alt başlık stilini düzenlemek için tıklatın</a:t>
            </a:r>
            <a:endParaRPr kumimoji="0" lang="en-US"/>
          </a:p>
        </p:txBody>
      </p:sp>
      <p:sp>
        <p:nvSpPr>
          <p:cNvPr id="28" name="Veri Yer Tutucusu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17" name="Altbilgi Yer Tutucusu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10" name="Dikdörtgen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Dikdörtgen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Dikdörtgen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Düz Bağlayıcı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Düz Bağlayıcı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Düz Bağlayıcı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Düz Bağlayıcı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Dikdörtgen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8" name="İçerik Yer Tutucusu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Altbilgi Yer Tutucusu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9" name="Dikdörtgen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Dikdörtgen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ikdörtgen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Düz Bağlayıcı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Düz Bağlayıcı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Düz Bağlayıcı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Düz Bağlayıcı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Dikdörtgen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Düz Bağlayıcı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9" name="İçerik Yer Tutucusu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İçerik Yer Tutucusu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13" name="İçerik Yer Tutucusu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12" name="Metin Yer Tutucusu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14" name="Metin Yer Tutucusu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6" name="Veri Yer Tutucusu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üz Bağlayıcı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8" name="Düz Bağlayıcı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Dikdörtgen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Düz Bağlayıcı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İçerik Yer Tutucusu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21" name="Veri Yer Tutucusu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22" name="Slayt Numarası Yer Tutucusu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23" name="Altbilgi Yer Tutucusu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tr-TR" smtClean="0"/>
              <a:t>Resim eklemek için simgeyi tıklatın</a:t>
            </a:r>
            <a:endParaRPr kumimoji="0" lang="en-US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10" name="Düz Bağlayıcı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Dikdörtgen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üz Bağlayıcı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Düz Bağlayıcı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Düz Bağlayıcı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Veri Yer Tutucusu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18" name="Slayt Numarası Yer Tutucusu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21" name="Altbilgi Yer Tutucusu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üz Bağlayıcı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  <a:p>
            <a:pPr lvl="1" eaLnBrk="1" latinLnBrk="0" hangingPunct="1"/>
            <a:r>
              <a:rPr kumimoji="0" lang="tr-TR" smtClean="0"/>
              <a:t>İkinci düzey</a:t>
            </a:r>
          </a:p>
          <a:p>
            <a:pPr lvl="2" eaLnBrk="1" latinLnBrk="0" hangingPunct="1"/>
            <a:r>
              <a:rPr kumimoji="0" lang="tr-TR" smtClean="0"/>
              <a:t>Üçüncü düzey</a:t>
            </a:r>
          </a:p>
          <a:p>
            <a:pPr lvl="3" eaLnBrk="1" latinLnBrk="0" hangingPunct="1"/>
            <a:r>
              <a:rPr kumimoji="0" lang="tr-TR" smtClean="0"/>
              <a:t>Dördüncü düzey</a:t>
            </a:r>
          </a:p>
          <a:p>
            <a:pPr lvl="4" eaLnBrk="1" latinLnBrk="0" hangingPunct="1"/>
            <a:r>
              <a:rPr kumimoji="0" lang="tr-TR" smtClean="0"/>
              <a:t>Beşinci düzey</a:t>
            </a:r>
            <a:endParaRPr kumimoji="0" lang="en-US"/>
          </a:p>
        </p:txBody>
      </p:sp>
      <p:sp>
        <p:nvSpPr>
          <p:cNvPr id="14" name="Veri Yer Tutucusu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23720DD-5B6D-40BF-8493-A6B52D484E6B}" type="datetimeFigureOut">
              <a:rPr lang="tr-TR" smtClean="0"/>
              <a:t>29.10.2023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Düz Bağlayıcı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Düz Bağlayıcı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Dikdörtgen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üz Bağlayıcı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2411760" y="2564904"/>
            <a:ext cx="6172200" cy="1894362"/>
          </a:xfrm>
        </p:spPr>
        <p:txBody>
          <a:bodyPr/>
          <a:lstStyle/>
          <a:p>
            <a:r>
              <a:rPr lang="tr-TR" dirty="0" smtClean="0"/>
              <a:t>Genetik Algoritmalar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ctr"/>
            <a:r>
              <a:rPr lang="tr-TR" b="0" dirty="0"/>
              <a:t>Prof. Dr. Tuncay YİĞİT</a:t>
            </a:r>
          </a:p>
          <a:p>
            <a:pPr algn="ctr"/>
            <a:r>
              <a:rPr lang="tr-TR" b="0" dirty="0"/>
              <a:t>Süleyman Demirel Üniversitesi</a:t>
            </a:r>
          </a:p>
          <a:p>
            <a:pPr algn="ctr"/>
            <a:r>
              <a:rPr lang="tr-TR" b="0" dirty="0"/>
              <a:t>Bilgisayar Mühendisliği </a:t>
            </a:r>
            <a:r>
              <a:rPr lang="tr-TR" b="0" dirty="0" smtClean="0"/>
              <a:t>Bölümü</a:t>
            </a:r>
          </a:p>
          <a:p>
            <a:pPr algn="ctr"/>
            <a:endParaRPr lang="tr-TR" b="0" dirty="0"/>
          </a:p>
          <a:p>
            <a:pPr algn="ctr"/>
            <a:r>
              <a:rPr lang="tr-TR" b="0" dirty="0" smtClean="0"/>
              <a:t>ISPARTA 2023</a:t>
            </a:r>
            <a:endParaRPr lang="tr-TR" b="0" dirty="0"/>
          </a:p>
        </p:txBody>
      </p:sp>
    </p:spTree>
    <p:extLst>
      <p:ext uri="{BB962C8B-B14F-4D97-AF65-F5344CB8AC3E}">
        <p14:creationId xmlns:p14="http://schemas.microsoft.com/office/powerpoint/2010/main" val="1927419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 fontScale="92500" lnSpcReduction="10000"/>
          </a:bodyPr>
          <a:lstStyle/>
          <a:p>
            <a:r>
              <a:rPr lang="tr-TR" dirty="0"/>
              <a:t>1970’li yıllarda John </a:t>
            </a:r>
            <a:r>
              <a:rPr lang="tr-TR" dirty="0" err="1"/>
              <a:t>Holland</a:t>
            </a:r>
            <a:r>
              <a:rPr lang="tr-TR" dirty="0"/>
              <a:t> tarafından geliştirilmiştir. </a:t>
            </a:r>
            <a:endParaRPr lang="tr-TR" dirty="0" smtClean="0"/>
          </a:p>
          <a:p>
            <a:r>
              <a:rPr lang="tr-TR" dirty="0" smtClean="0"/>
              <a:t>1989 </a:t>
            </a:r>
            <a:r>
              <a:rPr lang="tr-TR" dirty="0"/>
              <a:t>yılında David E. </a:t>
            </a:r>
            <a:r>
              <a:rPr lang="tr-TR" dirty="0" err="1"/>
              <a:t>Goldberg</a:t>
            </a:r>
            <a:r>
              <a:rPr lang="tr-TR" dirty="0"/>
              <a:t> Genetik Algoritma Uygulamaları üzerine klasik eser olarak kabul edilen kitabını yayınladı. </a:t>
            </a:r>
            <a:endParaRPr lang="tr-TR" dirty="0" smtClean="0"/>
          </a:p>
          <a:p>
            <a:r>
              <a:rPr lang="tr-TR" dirty="0" smtClean="0"/>
              <a:t>Popülasyon </a:t>
            </a:r>
            <a:r>
              <a:rPr lang="tr-TR" dirty="0"/>
              <a:t>tabanlı algoritmadır. </a:t>
            </a:r>
            <a:endParaRPr lang="tr-TR" dirty="0" smtClean="0"/>
          </a:p>
          <a:p>
            <a:r>
              <a:rPr lang="tr-TR" dirty="0" smtClean="0"/>
              <a:t>Her </a:t>
            </a:r>
            <a:r>
              <a:rPr lang="tr-TR" dirty="0"/>
              <a:t>birey problemin çözümü olmaya adaydır. </a:t>
            </a:r>
            <a:endParaRPr lang="tr-TR" dirty="0" smtClean="0"/>
          </a:p>
          <a:p>
            <a:r>
              <a:rPr lang="tr-TR" dirty="0" err="1" smtClean="0"/>
              <a:t>Stokastik</a:t>
            </a:r>
            <a:r>
              <a:rPr lang="tr-TR" dirty="0" smtClean="0"/>
              <a:t> </a:t>
            </a:r>
            <a:r>
              <a:rPr lang="tr-TR" dirty="0"/>
              <a:t>bir algoritmadır ve birden fazla aşamada rastgele seçim yapar. </a:t>
            </a:r>
            <a:endParaRPr lang="tr-TR" dirty="0" smtClean="0"/>
          </a:p>
          <a:p>
            <a:r>
              <a:rPr lang="tr-TR" dirty="0" smtClean="0"/>
              <a:t>Çözümler </a:t>
            </a:r>
            <a:r>
              <a:rPr lang="tr-TR" dirty="0"/>
              <a:t>bit dizileri olarak veya probleme özgü olarak farklı şekilde kodlanır. </a:t>
            </a:r>
            <a:endParaRPr lang="tr-TR" dirty="0" smtClean="0"/>
          </a:p>
          <a:p>
            <a:r>
              <a:rPr lang="tr-TR" dirty="0" smtClean="0"/>
              <a:t>Bireyleri </a:t>
            </a:r>
            <a:r>
              <a:rPr lang="tr-TR" dirty="0"/>
              <a:t>değerlendirme fonksiyonu (</a:t>
            </a:r>
            <a:r>
              <a:rPr lang="tr-TR" dirty="0" err="1"/>
              <a:t>fitness</a:t>
            </a:r>
            <a:r>
              <a:rPr lang="tr-TR" dirty="0"/>
              <a:t> </a:t>
            </a:r>
            <a:r>
              <a:rPr lang="tr-TR" dirty="0" err="1"/>
              <a:t>function</a:t>
            </a:r>
            <a:r>
              <a:rPr lang="tr-TR" dirty="0"/>
              <a:t>) probleme yönelik çalışan en önemli kısımdır. </a:t>
            </a:r>
            <a:endParaRPr lang="tr-TR" dirty="0" smtClean="0"/>
          </a:p>
          <a:p>
            <a:r>
              <a:rPr lang="tr-TR" dirty="0" smtClean="0"/>
              <a:t>Algoritma </a:t>
            </a:r>
            <a:r>
              <a:rPr lang="tr-TR" dirty="0"/>
              <a:t>sonlandığında popülasyondaki en iyi birey çözüm olarak alınır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83545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Tanımlar</a:t>
            </a:r>
            <a:r>
              <a:rPr lang="tr-TR" dirty="0"/>
              <a:t> </a:t>
            </a:r>
            <a:endParaRPr lang="tr-TR" dirty="0" smtClean="0"/>
          </a:p>
          <a:p>
            <a:r>
              <a:rPr lang="tr-TR" dirty="0" smtClean="0"/>
              <a:t>Popülasyon </a:t>
            </a:r>
          </a:p>
          <a:p>
            <a:pPr lvl="1"/>
            <a:r>
              <a:rPr lang="tr-TR" dirty="0" smtClean="0"/>
              <a:t>Çözüm </a:t>
            </a:r>
            <a:r>
              <a:rPr lang="tr-TR" dirty="0"/>
              <a:t>kümesini oluşturan bireylerin tümüdür. </a:t>
            </a:r>
            <a:endParaRPr lang="tr-TR" dirty="0" smtClean="0"/>
          </a:p>
          <a:p>
            <a:pPr lvl="1"/>
            <a:r>
              <a:rPr lang="tr-TR" dirty="0" smtClean="0"/>
              <a:t>Her </a:t>
            </a:r>
            <a:r>
              <a:rPr lang="tr-TR" dirty="0"/>
              <a:t>jenerasyonda popülasyon büyüklüğü sabit kalır. </a:t>
            </a:r>
            <a:endParaRPr lang="tr-TR" dirty="0" smtClean="0"/>
          </a:p>
          <a:p>
            <a:r>
              <a:rPr lang="tr-TR" dirty="0" smtClean="0"/>
              <a:t>Kromozom </a:t>
            </a:r>
          </a:p>
          <a:p>
            <a:pPr lvl="1"/>
            <a:r>
              <a:rPr lang="tr-TR" dirty="0" smtClean="0"/>
              <a:t>Çözüm </a:t>
            </a:r>
            <a:r>
              <a:rPr lang="tr-TR" dirty="0"/>
              <a:t>için kullanılan bireylerdir. </a:t>
            </a:r>
            <a:endParaRPr lang="tr-TR" dirty="0" smtClean="0"/>
          </a:p>
          <a:p>
            <a:pPr lvl="1"/>
            <a:r>
              <a:rPr lang="tr-TR" dirty="0" smtClean="0"/>
              <a:t>Her </a:t>
            </a:r>
            <a:r>
              <a:rPr lang="tr-TR" dirty="0"/>
              <a:t>kromozom çözümü tümüyle ifade eder. </a:t>
            </a:r>
            <a:endParaRPr lang="tr-TR" dirty="0" smtClean="0"/>
          </a:p>
          <a:p>
            <a:r>
              <a:rPr lang="tr-TR" dirty="0" smtClean="0"/>
              <a:t>Gen </a:t>
            </a:r>
          </a:p>
          <a:p>
            <a:pPr lvl="1"/>
            <a:r>
              <a:rPr lang="tr-TR" dirty="0" smtClean="0"/>
              <a:t>Kromozom </a:t>
            </a:r>
            <a:r>
              <a:rPr lang="tr-TR" dirty="0"/>
              <a:t>içindeki anlamlı en küçük bilgidir. </a:t>
            </a:r>
            <a:endParaRPr lang="tr-TR" dirty="0" smtClean="0"/>
          </a:p>
          <a:p>
            <a:pPr lvl="1"/>
            <a:r>
              <a:rPr lang="tr-TR" dirty="0" smtClean="0"/>
              <a:t>Problemdeki </a:t>
            </a:r>
            <a:r>
              <a:rPr lang="tr-TR" dirty="0"/>
              <a:t>parametre sayısıyla ilgilidir. </a:t>
            </a:r>
            <a:endParaRPr lang="tr-TR" dirty="0" smtClean="0"/>
          </a:p>
          <a:p>
            <a:pPr lvl="1"/>
            <a:r>
              <a:rPr lang="tr-TR" dirty="0" smtClean="0"/>
              <a:t>Bir </a:t>
            </a:r>
            <a:r>
              <a:rPr lang="tr-TR" dirty="0"/>
              <a:t>kromozomdaki tüm genlerin birleşimi çözümü ifade eder.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89940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Tanımlar </a:t>
            </a:r>
            <a:endParaRPr lang="tr-TR" b="1" dirty="0" smtClean="0"/>
          </a:p>
          <a:p>
            <a:r>
              <a:rPr lang="tr-TR" dirty="0" err="1"/>
              <a:t>Locus</a:t>
            </a:r>
            <a:r>
              <a:rPr lang="tr-TR" dirty="0"/>
              <a:t> </a:t>
            </a:r>
            <a:endParaRPr lang="tr-TR" dirty="0" smtClean="0"/>
          </a:p>
          <a:p>
            <a:pPr lvl="1"/>
            <a:r>
              <a:rPr lang="tr-TR" dirty="0" smtClean="0"/>
              <a:t>Kromozom </a:t>
            </a:r>
            <a:r>
              <a:rPr lang="tr-TR" dirty="0"/>
              <a:t>içindeki </a:t>
            </a:r>
            <a:r>
              <a:rPr lang="tr-TR" dirty="0" err="1"/>
              <a:t>gen’in</a:t>
            </a:r>
            <a:r>
              <a:rPr lang="tr-TR" dirty="0"/>
              <a:t> bulunduğu konumdur. </a:t>
            </a:r>
            <a:endParaRPr lang="tr-TR" dirty="0" smtClean="0"/>
          </a:p>
          <a:p>
            <a:pPr lvl="1"/>
            <a:r>
              <a:rPr lang="tr-TR" dirty="0" smtClean="0"/>
              <a:t>Bazı </a:t>
            </a:r>
            <a:r>
              <a:rPr lang="tr-TR" dirty="0"/>
              <a:t>problemlerde her konuma atanmış bilgi olabilir (gün, saat, vb.). 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3185697"/>
            <a:ext cx="4312512" cy="347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647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b="1" dirty="0"/>
              <a:t>Tanımlar</a:t>
            </a:r>
            <a:r>
              <a:rPr lang="tr-TR" dirty="0"/>
              <a:t> </a:t>
            </a:r>
            <a:endParaRPr lang="tr-TR" dirty="0" smtClean="0"/>
          </a:p>
          <a:p>
            <a:r>
              <a:rPr lang="tr-TR" dirty="0"/>
              <a:t>Mutasyon </a:t>
            </a:r>
            <a:endParaRPr lang="tr-TR" dirty="0" smtClean="0"/>
          </a:p>
          <a:p>
            <a:pPr lvl="1"/>
            <a:r>
              <a:rPr lang="tr-TR" dirty="0" smtClean="0"/>
              <a:t>Bir </a:t>
            </a:r>
            <a:r>
              <a:rPr lang="tr-TR" dirty="0"/>
              <a:t>kromozomda rastgele yapılan değişikliktir. </a:t>
            </a:r>
            <a:endParaRPr lang="tr-TR" dirty="0" smtClean="0"/>
          </a:p>
          <a:p>
            <a:pPr lvl="1"/>
            <a:r>
              <a:rPr lang="tr-TR" dirty="0" smtClean="0"/>
              <a:t>Popülasyondaki </a:t>
            </a:r>
            <a:r>
              <a:rPr lang="tr-TR" dirty="0"/>
              <a:t>çeşitliliği artırır. </a:t>
            </a:r>
            <a:endParaRPr lang="tr-TR" dirty="0" smtClean="0"/>
          </a:p>
          <a:p>
            <a:pPr lvl="1"/>
            <a:r>
              <a:rPr lang="tr-TR" dirty="0" err="1" smtClean="0"/>
              <a:t>Adaptif</a:t>
            </a:r>
            <a:r>
              <a:rPr lang="tr-TR" dirty="0" smtClean="0"/>
              <a:t> </a:t>
            </a:r>
            <a:r>
              <a:rPr lang="tr-TR" dirty="0"/>
              <a:t>olarak değiştirilerek lokal minimuma düşme engellenebilir. </a:t>
            </a:r>
            <a:endParaRPr lang="tr-TR" dirty="0" smtClean="0"/>
          </a:p>
          <a:p>
            <a:r>
              <a:rPr lang="tr-TR" dirty="0" smtClean="0"/>
              <a:t>Jenerasyon </a:t>
            </a:r>
          </a:p>
          <a:p>
            <a:pPr lvl="1"/>
            <a:r>
              <a:rPr lang="tr-TR" dirty="0" smtClean="0"/>
              <a:t>Yeni </a:t>
            </a:r>
            <a:r>
              <a:rPr lang="tr-TR" dirty="0"/>
              <a:t>bir topluluktur. </a:t>
            </a:r>
            <a:endParaRPr lang="tr-TR" dirty="0" smtClean="0"/>
          </a:p>
          <a:p>
            <a:pPr lvl="1"/>
            <a:r>
              <a:rPr lang="tr-TR" dirty="0" smtClean="0"/>
              <a:t>Her </a:t>
            </a:r>
            <a:r>
              <a:rPr lang="tr-TR" dirty="0"/>
              <a:t>jenerasyondaki popülasyon sayısı kadar yeni birey oluşturulur. </a:t>
            </a:r>
            <a:endParaRPr lang="tr-TR" dirty="0" smtClean="0"/>
          </a:p>
          <a:p>
            <a:r>
              <a:rPr lang="tr-TR" dirty="0" err="1" smtClean="0"/>
              <a:t>Mating</a:t>
            </a:r>
            <a:r>
              <a:rPr lang="tr-TR" dirty="0" smtClean="0"/>
              <a:t> </a:t>
            </a:r>
          </a:p>
          <a:p>
            <a:pPr lvl="1"/>
            <a:r>
              <a:rPr lang="tr-TR" dirty="0" smtClean="0"/>
              <a:t>Bireyler </a:t>
            </a:r>
            <a:r>
              <a:rPr lang="tr-TR" dirty="0"/>
              <a:t>arasındaki eşleştirmedir. </a:t>
            </a:r>
            <a:endParaRPr lang="tr-TR" dirty="0" smtClean="0"/>
          </a:p>
          <a:p>
            <a:pPr lvl="1"/>
            <a:r>
              <a:rPr lang="tr-TR" dirty="0" smtClean="0"/>
              <a:t>Her </a:t>
            </a:r>
            <a:r>
              <a:rPr lang="tr-TR" dirty="0"/>
              <a:t>eşleştirmede iki birey kullanılır. </a:t>
            </a:r>
            <a:endParaRPr lang="tr-TR" dirty="0" smtClean="0"/>
          </a:p>
          <a:p>
            <a:pPr lvl="1"/>
            <a:r>
              <a:rPr lang="tr-TR" dirty="0" smtClean="0"/>
              <a:t> İki </a:t>
            </a:r>
            <a:r>
              <a:rPr lang="tr-TR" dirty="0"/>
              <a:t>birey arasında özellik aktarımı yapılır.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2180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r>
              <a:rPr lang="tr-TR" dirty="0" smtClean="0"/>
              <a:t>Çözümün </a:t>
            </a:r>
            <a:r>
              <a:rPr lang="tr-TR" dirty="0"/>
              <a:t>veya bireyin gösterimi. </a:t>
            </a:r>
            <a:endParaRPr lang="tr-TR" dirty="0" smtClean="0"/>
          </a:p>
          <a:p>
            <a:r>
              <a:rPr lang="tr-TR" dirty="0" smtClean="0"/>
              <a:t>Başlangıç </a:t>
            </a:r>
            <a:r>
              <a:rPr lang="tr-TR" dirty="0"/>
              <a:t>popülasyonunun oluşturulması. </a:t>
            </a:r>
            <a:endParaRPr lang="tr-TR" dirty="0" smtClean="0"/>
          </a:p>
          <a:p>
            <a:r>
              <a:rPr lang="tr-TR" dirty="0" smtClean="0"/>
              <a:t>Bireylerin </a:t>
            </a:r>
            <a:r>
              <a:rPr lang="tr-TR" dirty="0"/>
              <a:t>çözüme uygunluk değerinin hesaplanması (</a:t>
            </a:r>
            <a:r>
              <a:rPr lang="tr-TR" dirty="0" err="1"/>
              <a:t>fitness</a:t>
            </a:r>
            <a:r>
              <a:rPr lang="tr-TR" dirty="0"/>
              <a:t> </a:t>
            </a:r>
            <a:r>
              <a:rPr lang="tr-TR" dirty="0" err="1"/>
              <a:t>function</a:t>
            </a:r>
            <a:r>
              <a:rPr lang="tr-TR" dirty="0"/>
              <a:t> kullanılır.) </a:t>
            </a:r>
            <a:endParaRPr lang="tr-TR" dirty="0" smtClean="0"/>
          </a:p>
          <a:p>
            <a:r>
              <a:rPr lang="tr-TR" dirty="0" smtClean="0"/>
              <a:t>Bireylerin </a:t>
            </a:r>
            <a:r>
              <a:rPr lang="tr-TR" dirty="0"/>
              <a:t>yeni popülasyon için seçilmesi </a:t>
            </a:r>
            <a:endParaRPr lang="tr-TR" dirty="0" smtClean="0"/>
          </a:p>
          <a:p>
            <a:r>
              <a:rPr lang="tr-TR" dirty="0" smtClean="0"/>
              <a:t>Yeni </a:t>
            </a:r>
            <a:r>
              <a:rPr lang="tr-TR" dirty="0"/>
              <a:t>bir jenerasyonun oluşturulması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21749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smtClean="0"/>
              <a:t>Çözümün </a:t>
            </a:r>
            <a:r>
              <a:rPr lang="tr-TR" b="1" dirty="0"/>
              <a:t>veya bireyin gösterimi.</a:t>
            </a:r>
            <a:r>
              <a:rPr lang="tr-TR" dirty="0"/>
              <a:t> </a:t>
            </a:r>
            <a:endParaRPr lang="tr-TR" dirty="0" smtClean="0"/>
          </a:p>
          <a:p>
            <a:r>
              <a:rPr lang="tr-TR" dirty="0"/>
              <a:t>Birey popülasyondaki bir kromozomu ifade eder. </a:t>
            </a:r>
            <a:endParaRPr lang="tr-TR" dirty="0" smtClean="0"/>
          </a:p>
          <a:p>
            <a:r>
              <a:rPr lang="tr-TR" dirty="0" smtClean="0"/>
              <a:t>Bireyler </a:t>
            </a:r>
            <a:r>
              <a:rPr lang="tr-TR" dirty="0"/>
              <a:t>problemin çözümünün tamamını içerir. </a:t>
            </a:r>
            <a:endParaRPr lang="tr-TR" dirty="0" smtClean="0"/>
          </a:p>
          <a:p>
            <a:r>
              <a:rPr lang="tr-TR" dirty="0" smtClean="0"/>
              <a:t>Bireyler</a:t>
            </a:r>
            <a:r>
              <a:rPr lang="tr-TR" dirty="0"/>
              <a:t>, </a:t>
            </a:r>
            <a:r>
              <a:rPr lang="tr-TR" dirty="0" err="1"/>
              <a:t>binary</a:t>
            </a:r>
            <a:r>
              <a:rPr lang="tr-TR" dirty="0"/>
              <a:t>, reel sayı, tamsayı, karakter veya farklı şekilde kodlanabilir.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778" y="4039307"/>
            <a:ext cx="6472108" cy="142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726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Başlangıç popülasyonunu oluşturma </a:t>
            </a:r>
            <a:endParaRPr lang="tr-TR" b="1" dirty="0" smtClean="0"/>
          </a:p>
          <a:p>
            <a:r>
              <a:rPr lang="tr-TR" dirty="0" smtClean="0"/>
              <a:t>Bilinen </a:t>
            </a:r>
            <a:r>
              <a:rPr lang="tr-TR" dirty="0"/>
              <a:t>bir çözüm kümesi alınarak başlanabilir. </a:t>
            </a:r>
            <a:endParaRPr lang="tr-TR" dirty="0" smtClean="0"/>
          </a:p>
          <a:p>
            <a:r>
              <a:rPr lang="tr-TR" dirty="0" smtClean="0"/>
              <a:t>Rastgele </a:t>
            </a:r>
            <a:r>
              <a:rPr lang="tr-TR" dirty="0"/>
              <a:t>bireyler oluşturulabilir. </a:t>
            </a:r>
            <a:endParaRPr lang="tr-TR" dirty="0" smtClean="0"/>
          </a:p>
          <a:p>
            <a:r>
              <a:rPr lang="tr-TR" dirty="0" smtClean="0"/>
              <a:t>Belirli </a:t>
            </a:r>
            <a:r>
              <a:rPr lang="tr-TR" dirty="0"/>
              <a:t>kriterleri sağlayan bireyler oluşturulabilir. </a:t>
            </a:r>
            <a:endParaRPr lang="tr-TR" dirty="0" smtClean="0"/>
          </a:p>
          <a:p>
            <a:r>
              <a:rPr lang="tr-TR" dirty="0" smtClean="0"/>
              <a:t>Popülasyondaki </a:t>
            </a:r>
            <a:r>
              <a:rPr lang="tr-TR" dirty="0"/>
              <a:t>birey sayısı genellikle 100 ile 300 arasında seçilir.</a:t>
            </a:r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867" y="4116561"/>
            <a:ext cx="5602429" cy="268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039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Başlangıç popülasyonunu oluşturma </a:t>
            </a:r>
            <a:endParaRPr lang="tr-TR" b="1" dirty="0" smtClean="0"/>
          </a:p>
          <a:p>
            <a:r>
              <a:rPr lang="tr-TR" dirty="0" smtClean="0"/>
              <a:t>Başlangıç </a:t>
            </a:r>
            <a:r>
              <a:rPr lang="tr-TR" dirty="0"/>
              <a:t>popülasyonundan itibaren global en iyi çözüme doğru yönlendirme yapılır. </a:t>
            </a:r>
            <a:endParaRPr lang="tr-TR" dirty="0" smtClean="0"/>
          </a:p>
          <a:p>
            <a:r>
              <a:rPr lang="tr-TR" dirty="0" smtClean="0"/>
              <a:t>Her </a:t>
            </a:r>
            <a:r>
              <a:rPr lang="tr-TR" dirty="0"/>
              <a:t>birey, çözüm uzayında bir aday çözümü ifade eder. 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309513"/>
            <a:ext cx="6204883" cy="354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402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Bireylerin değerlendirilmesi </a:t>
            </a:r>
            <a:endParaRPr lang="tr-TR" b="1" dirty="0" smtClean="0"/>
          </a:p>
          <a:p>
            <a:r>
              <a:rPr lang="tr-TR" dirty="0" smtClean="0"/>
              <a:t>Popülasyondaki </a:t>
            </a:r>
            <a:r>
              <a:rPr lang="tr-TR" dirty="0"/>
              <a:t>tüm kromozomların çözüme uygunluk değerleri hesaplanır. </a:t>
            </a:r>
            <a:endParaRPr lang="tr-TR" dirty="0" smtClean="0"/>
          </a:p>
          <a:p>
            <a:r>
              <a:rPr lang="tr-TR" dirty="0" smtClean="0"/>
              <a:t>Her </a:t>
            </a:r>
            <a:r>
              <a:rPr lang="tr-TR" dirty="0"/>
              <a:t>probleme özel değerlendirme fonksiyonu kullanılması gerekir. </a:t>
            </a:r>
            <a:endParaRPr lang="tr-TR" dirty="0" smtClean="0"/>
          </a:p>
          <a:p>
            <a:r>
              <a:rPr lang="tr-TR" dirty="0" smtClean="0"/>
              <a:t>Probleme </a:t>
            </a:r>
            <a:r>
              <a:rPr lang="tr-TR" dirty="0"/>
              <a:t>yönelik çalışan en önemli kısım değerlendirme fonksiyonudur. </a:t>
            </a:r>
            <a:endParaRPr lang="tr-TR" dirty="0" smtClean="0"/>
          </a:p>
          <a:p>
            <a:r>
              <a:rPr lang="tr-TR" dirty="0" smtClean="0"/>
              <a:t>Değerlendirme </a:t>
            </a:r>
            <a:r>
              <a:rPr lang="tr-TR" dirty="0"/>
              <a:t>her yeni jenerasyondaki tüm bireyler için yapılır. 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35880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538736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Yeni popülasyon oluşturma </a:t>
            </a:r>
            <a:endParaRPr lang="tr-TR" b="1" dirty="0" smtClean="0"/>
          </a:p>
          <a:p>
            <a:r>
              <a:rPr lang="tr-TR" dirty="0" smtClean="0"/>
              <a:t>Birey </a:t>
            </a:r>
            <a:r>
              <a:rPr lang="tr-TR" dirty="0"/>
              <a:t>seçme </a:t>
            </a:r>
            <a:endParaRPr lang="tr-TR" dirty="0" smtClean="0"/>
          </a:p>
          <a:p>
            <a:r>
              <a:rPr lang="tr-TR" dirty="0" smtClean="0"/>
              <a:t>Seçilen </a:t>
            </a:r>
            <a:r>
              <a:rPr lang="tr-TR" dirty="0"/>
              <a:t>bireyleri eşleştirme </a:t>
            </a:r>
            <a:endParaRPr lang="tr-TR" dirty="0" smtClean="0"/>
          </a:p>
          <a:p>
            <a:r>
              <a:rPr lang="tr-TR" dirty="0" smtClean="0"/>
              <a:t>Seçilen </a:t>
            </a:r>
            <a:r>
              <a:rPr lang="tr-TR" dirty="0"/>
              <a:t>iki bireyi çaprazlama </a:t>
            </a:r>
            <a:endParaRPr lang="tr-TR" dirty="0" smtClean="0"/>
          </a:p>
          <a:p>
            <a:r>
              <a:rPr lang="tr-TR" dirty="0" err="1" smtClean="0"/>
              <a:t>Elitizm</a:t>
            </a:r>
            <a:r>
              <a:rPr lang="tr-TR" dirty="0" smtClean="0"/>
              <a:t> </a:t>
            </a:r>
          </a:p>
          <a:p>
            <a:r>
              <a:rPr lang="tr-TR" dirty="0" smtClean="0"/>
              <a:t>Bir </a:t>
            </a:r>
            <a:r>
              <a:rPr lang="tr-TR" dirty="0"/>
              <a:t>bireyin herhangi bir geninde mutasyon işlemiyle rastgele değişiklik yapılması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1443449"/>
            <a:ext cx="4740077" cy="518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94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Birey seçme - </a:t>
            </a:r>
            <a:r>
              <a:rPr lang="tr-TR" b="1" dirty="0" err="1"/>
              <a:t>deterministik</a:t>
            </a:r>
            <a:r>
              <a:rPr lang="tr-TR" dirty="0"/>
              <a:t> </a:t>
            </a:r>
            <a:endParaRPr lang="tr-TR" dirty="0" smtClean="0"/>
          </a:p>
          <a:p>
            <a:r>
              <a:rPr lang="tr-TR" dirty="0" smtClean="0"/>
              <a:t>Popülasyondaki </a:t>
            </a:r>
            <a:r>
              <a:rPr lang="tr-TR" dirty="0"/>
              <a:t>belirli sayıdaki en iyi bireyler ile yeni popülasyon oluşturulur. </a:t>
            </a:r>
            <a:endParaRPr lang="tr-TR" dirty="0" smtClean="0"/>
          </a:p>
          <a:p>
            <a:r>
              <a:rPr lang="tr-TR" dirty="0" smtClean="0"/>
              <a:t>Popülasyondaki </a:t>
            </a:r>
            <a:r>
              <a:rPr lang="tr-TR" dirty="0"/>
              <a:t>belirli bir eşik değerin altında değere sahip bireyler yeni popülasyona aktarılmaz. </a:t>
            </a:r>
            <a:endParaRPr lang="tr-TR" dirty="0" smtClean="0"/>
          </a:p>
          <a:p>
            <a:r>
              <a:rPr lang="tr-TR" dirty="0" smtClean="0"/>
              <a:t>Popülasyonda </a:t>
            </a:r>
            <a:r>
              <a:rPr lang="tr-TR" dirty="0"/>
              <a:t>en kötü belirli orandaki birey yeni popülasyona aktarılmaz. Popülasyondaki tüm kromozomların çözüme uygunluk değerleri hesaplanır. 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1023993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250704" cy="48737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b="1" dirty="0"/>
              <a:t>Birey seçme - rulet tekerleği</a:t>
            </a:r>
            <a:r>
              <a:rPr lang="tr-TR" dirty="0"/>
              <a:t> </a:t>
            </a:r>
            <a:endParaRPr lang="tr-TR" dirty="0" smtClean="0"/>
          </a:p>
          <a:p>
            <a:r>
              <a:rPr lang="tr-TR" dirty="0" smtClean="0"/>
              <a:t>Her </a:t>
            </a:r>
            <a:r>
              <a:rPr lang="tr-TR" dirty="0"/>
              <a:t>bireyin çözüme uygunluk derecesi arttıkça yeni popülasyona aktarılma şansı artar. </a:t>
            </a:r>
            <a:endParaRPr lang="tr-TR" dirty="0" smtClean="0"/>
          </a:p>
          <a:p>
            <a:r>
              <a:rPr lang="tr-TR" dirty="0" smtClean="0"/>
              <a:t>Bireyler </a:t>
            </a:r>
            <a:r>
              <a:rPr lang="tr-TR" dirty="0"/>
              <a:t>rulet tekerleğindeki kapladıkları alana göre seçilme şansına sahiptir. 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1988840"/>
            <a:ext cx="5010304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21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5194920" cy="48737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dirty="0" smtClean="0"/>
              <a:t>Birey </a:t>
            </a:r>
            <a:r>
              <a:rPr lang="tr-TR" dirty="0"/>
              <a:t>seçme - rulet tekerleği </a:t>
            </a:r>
            <a:endParaRPr lang="tr-TR" dirty="0" smtClean="0"/>
          </a:p>
          <a:p>
            <a:r>
              <a:rPr lang="tr-TR" dirty="0" smtClean="0"/>
              <a:t>Her </a:t>
            </a:r>
            <a:r>
              <a:rPr lang="tr-TR" dirty="0"/>
              <a:t>bireyin çözüme uygunluk derecesi arttıkça yeni popülasyona aktarılma şansı artar. </a:t>
            </a: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Birey </a:t>
            </a:r>
            <a:r>
              <a:rPr lang="tr-TR" dirty="0"/>
              <a:t>1: f(x) = 45 </a:t>
            </a:r>
            <a:r>
              <a:rPr lang="tr-TR" dirty="0" smtClean="0"/>
              <a:t/>
            </a:r>
            <a:br>
              <a:rPr lang="tr-TR" dirty="0" smtClean="0"/>
            </a:br>
            <a:r>
              <a:rPr lang="tr-TR" dirty="0" smtClean="0"/>
              <a:t>Birey </a:t>
            </a:r>
            <a:r>
              <a:rPr lang="tr-TR" dirty="0"/>
              <a:t>2: f(x) = 21 </a:t>
            </a:r>
            <a:r>
              <a:rPr lang="tr-TR" dirty="0" smtClean="0"/>
              <a:t/>
            </a:r>
            <a:br>
              <a:rPr lang="tr-TR" dirty="0" smtClean="0"/>
            </a:br>
            <a:r>
              <a:rPr lang="tr-TR" dirty="0" smtClean="0"/>
              <a:t>Birey </a:t>
            </a:r>
            <a:r>
              <a:rPr lang="tr-TR" dirty="0"/>
              <a:t>3: f(x) = 9 </a:t>
            </a:r>
            <a:r>
              <a:rPr lang="tr-TR" dirty="0" smtClean="0"/>
              <a:t/>
            </a:r>
            <a:br>
              <a:rPr lang="tr-TR" dirty="0" smtClean="0"/>
            </a:br>
            <a:r>
              <a:rPr lang="tr-TR" dirty="0" smtClean="0"/>
              <a:t>Birey </a:t>
            </a:r>
            <a:r>
              <a:rPr lang="tr-TR" dirty="0"/>
              <a:t>4: f(x) = 75 </a:t>
            </a:r>
            <a:r>
              <a:rPr lang="tr-TR" dirty="0" smtClean="0"/>
              <a:t/>
            </a:r>
            <a:br>
              <a:rPr lang="tr-TR" dirty="0" smtClean="0"/>
            </a:br>
            <a:r>
              <a:rPr lang="tr-TR" dirty="0" smtClean="0"/>
              <a:t/>
            </a:r>
            <a:br>
              <a:rPr lang="tr-TR" dirty="0" smtClean="0"/>
            </a:br>
            <a:r>
              <a:rPr lang="tr-TR" dirty="0" smtClean="0"/>
              <a:t>Birey </a:t>
            </a:r>
            <a:r>
              <a:rPr lang="tr-TR" dirty="0"/>
              <a:t>1: 45 / (21+75+9+45) = 30% Birey 2: 21 / (21+75+9+45) = 14% Birey 3: 9 / (21+75+9+45) </a:t>
            </a:r>
            <a:r>
              <a:rPr lang="tr-TR" dirty="0" smtClean="0"/>
              <a:t>	  = </a:t>
            </a:r>
            <a:r>
              <a:rPr lang="tr-TR" dirty="0"/>
              <a:t>6% Birey 4: 75 / (21+75+9+45) = 50%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2780928"/>
            <a:ext cx="3402292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475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Birey seçme - rastgele </a:t>
            </a:r>
            <a:endParaRPr lang="tr-TR" dirty="0" smtClean="0"/>
          </a:p>
          <a:p>
            <a:r>
              <a:rPr lang="tr-TR" dirty="0" smtClean="0"/>
              <a:t>Bireyin </a:t>
            </a:r>
            <a:r>
              <a:rPr lang="tr-TR" dirty="0"/>
              <a:t>çözüme uygunluk derecesi seçilme şanslarını etkilemez. </a:t>
            </a:r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Birey </a:t>
            </a:r>
            <a:r>
              <a:rPr lang="tr-TR" dirty="0"/>
              <a:t>1: f(x) = 45% </a:t>
            </a: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Birey </a:t>
            </a:r>
            <a:r>
              <a:rPr lang="tr-TR" dirty="0"/>
              <a:t>2: f(x) = 21% </a:t>
            </a: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Birey </a:t>
            </a:r>
            <a:r>
              <a:rPr lang="tr-TR" dirty="0"/>
              <a:t>3: f(x) = 9% </a:t>
            </a: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Birey </a:t>
            </a:r>
            <a:r>
              <a:rPr lang="tr-TR" dirty="0"/>
              <a:t>4: f(x) = 75% 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554" y="2708920"/>
            <a:ext cx="3791887" cy="316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550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Birey seçme - turnuva </a:t>
            </a:r>
            <a:endParaRPr lang="tr-TR" b="1" dirty="0" smtClean="0"/>
          </a:p>
          <a:p>
            <a:r>
              <a:rPr lang="tr-TR" dirty="0" smtClean="0"/>
              <a:t>Rastgele </a:t>
            </a:r>
            <a:r>
              <a:rPr lang="tr-TR" dirty="0"/>
              <a:t>seçilen iki bireyden uygunluk derecesi yüksek olan bir sonraki popülasyona aktarılır. </a:t>
            </a:r>
            <a:endParaRPr lang="tr-TR" dirty="0" smtClean="0"/>
          </a:p>
          <a:p>
            <a:r>
              <a:rPr lang="tr-TR" dirty="0" smtClean="0"/>
              <a:t>İşlem </a:t>
            </a:r>
            <a:r>
              <a:rPr lang="tr-TR" dirty="0"/>
              <a:t>popülasyondaki kromozom sayısı kadar tekrarlanır.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61797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Yeni </a:t>
            </a:r>
            <a:r>
              <a:rPr lang="tr-TR" b="1" dirty="0" smtClean="0"/>
              <a:t>jenerasyon oluşturma</a:t>
            </a:r>
          </a:p>
          <a:p>
            <a:pPr marL="0" indent="0">
              <a:buNone/>
            </a:pPr>
            <a:r>
              <a:rPr lang="tr-TR" dirty="0" err="1" smtClean="0"/>
              <a:t>Elitizm</a:t>
            </a:r>
            <a:r>
              <a:rPr lang="tr-TR" dirty="0" smtClean="0"/>
              <a:t>,</a:t>
            </a:r>
          </a:p>
          <a:p>
            <a:r>
              <a:rPr lang="tr-TR" dirty="0" smtClean="0"/>
              <a:t>Belirli </a:t>
            </a:r>
            <a:r>
              <a:rPr lang="tr-TR" dirty="0"/>
              <a:t>sayıdaki en iyi birey hiçbir işleme tabi tutulmadan doğrudan yeni jenerasyona aktarılır. </a:t>
            </a:r>
            <a:endParaRPr lang="tr-TR" dirty="0" smtClean="0"/>
          </a:p>
          <a:p>
            <a:r>
              <a:rPr lang="tr-TR" dirty="0" smtClean="0"/>
              <a:t>Elit </a:t>
            </a:r>
            <a:r>
              <a:rPr lang="tr-TR" dirty="0"/>
              <a:t>birey sayısı arttıkça çözümdeki çeşitlilik azalır. </a:t>
            </a:r>
            <a:endParaRPr lang="tr-TR" dirty="0" smtClean="0"/>
          </a:p>
          <a:p>
            <a:r>
              <a:rPr lang="tr-TR" dirty="0" smtClean="0"/>
              <a:t>Elit </a:t>
            </a:r>
            <a:r>
              <a:rPr lang="tr-TR" dirty="0"/>
              <a:t>birey alınmazsa yeni jenerasyondaki en iyi birey bir önceki jenerasyonun en iyi bireyinden daha kötü olabilir. yonun oluşturulması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10581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Yeni </a:t>
            </a:r>
            <a:r>
              <a:rPr lang="tr-TR" b="1" dirty="0" smtClean="0"/>
              <a:t>jenerasyon oluşturma</a:t>
            </a:r>
          </a:p>
          <a:p>
            <a:pPr marL="0" indent="0">
              <a:buNone/>
            </a:pPr>
            <a:r>
              <a:rPr lang="tr-TR" dirty="0"/>
              <a:t>Çaprazlama </a:t>
            </a:r>
            <a:endParaRPr lang="tr-TR" dirty="0" smtClean="0"/>
          </a:p>
          <a:p>
            <a:r>
              <a:rPr lang="tr-TR" dirty="0" smtClean="0"/>
              <a:t>Çaprazlama </a:t>
            </a:r>
            <a:r>
              <a:rPr lang="tr-TR" dirty="0"/>
              <a:t>noktaları rastgele seçilir. </a:t>
            </a:r>
            <a:endParaRPr lang="tr-TR" dirty="0" smtClean="0"/>
          </a:p>
          <a:p>
            <a:r>
              <a:rPr lang="tr-TR" dirty="0" smtClean="0"/>
              <a:t>Yeni </a:t>
            </a:r>
            <a:r>
              <a:rPr lang="tr-TR" dirty="0"/>
              <a:t>elde edilen iki bireyin ikisi de yeni popülasyona aktarılabilir. </a:t>
            </a:r>
            <a:endParaRPr lang="tr-TR" dirty="0" smtClean="0"/>
          </a:p>
          <a:p>
            <a:r>
              <a:rPr lang="tr-TR" dirty="0" smtClean="0"/>
              <a:t>Yeni </a:t>
            </a:r>
            <a:r>
              <a:rPr lang="tr-TR" dirty="0"/>
              <a:t>elde edilen bireyden uygunluk seviyesi daha yüksek olan yeni popülasyona aktarılabilir.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6458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Yeni </a:t>
            </a:r>
            <a:r>
              <a:rPr lang="tr-TR" b="1" dirty="0" smtClean="0"/>
              <a:t>jenerasyon oluşturma</a:t>
            </a:r>
          </a:p>
          <a:p>
            <a:pPr marL="0" indent="0">
              <a:buNone/>
            </a:pPr>
            <a:r>
              <a:rPr lang="tr-TR" dirty="0" smtClean="0"/>
              <a:t>Çaprazlama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66" y="2204864"/>
            <a:ext cx="6367198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492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/>
              <a:t>Yeni </a:t>
            </a:r>
            <a:r>
              <a:rPr lang="tr-TR" b="1" dirty="0" smtClean="0"/>
              <a:t>jenerasyon oluşturma</a:t>
            </a:r>
          </a:p>
          <a:p>
            <a:pPr marL="0" indent="0">
              <a:buNone/>
            </a:pPr>
            <a:r>
              <a:rPr lang="tr-TR" dirty="0"/>
              <a:t>Mutasyon </a:t>
            </a:r>
            <a:endParaRPr lang="tr-TR" dirty="0" smtClean="0"/>
          </a:p>
          <a:p>
            <a:r>
              <a:rPr lang="tr-TR" dirty="0" smtClean="0"/>
              <a:t>Herhangi </a:t>
            </a:r>
            <a:r>
              <a:rPr lang="tr-TR" dirty="0"/>
              <a:t>bir kromozomdaki bir genin tamamen rastgele değiştirilmesidir. </a:t>
            </a:r>
            <a:endParaRPr lang="tr-TR" dirty="0" smtClean="0"/>
          </a:p>
          <a:p>
            <a:r>
              <a:rPr lang="tr-TR" dirty="0" smtClean="0"/>
              <a:t>Mutasyon </a:t>
            </a:r>
            <a:r>
              <a:rPr lang="tr-TR" dirty="0"/>
              <a:t>oranı genellikle 0.01 ile 0.0001 arasında seçilir. </a:t>
            </a:r>
            <a:endParaRPr lang="tr-TR" dirty="0" smtClean="0"/>
          </a:p>
          <a:p>
            <a:r>
              <a:rPr lang="tr-TR" dirty="0" smtClean="0"/>
              <a:t>Yeni </a:t>
            </a:r>
            <a:r>
              <a:rPr lang="tr-TR" dirty="0"/>
              <a:t>popülasyondaki bir bireyin her geni için verilen oranda mutasyon olma olasılığı vardır. </a:t>
            </a:r>
            <a:endParaRPr lang="tr-TR" dirty="0" smtClean="0"/>
          </a:p>
          <a:p>
            <a:r>
              <a:rPr lang="tr-TR" dirty="0" smtClean="0"/>
              <a:t>Mutasyon </a:t>
            </a:r>
            <a:r>
              <a:rPr lang="tr-TR" dirty="0"/>
              <a:t>popülasyona çeşitlilik kazandırır. 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527" y="5574452"/>
            <a:ext cx="5136945" cy="108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550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smtClean="0"/>
              <a:t>Algoritma</a:t>
            </a:r>
          </a:p>
          <a:p>
            <a:r>
              <a:rPr lang="tr-TR" dirty="0" smtClean="0"/>
              <a:t>1. Başlangıç </a:t>
            </a:r>
            <a:r>
              <a:rPr lang="tr-TR" dirty="0"/>
              <a:t>popülasyonunu oluştur. </a:t>
            </a:r>
            <a:endParaRPr lang="tr-TR" dirty="0" smtClean="0"/>
          </a:p>
          <a:p>
            <a:r>
              <a:rPr lang="tr-TR" dirty="0" smtClean="0"/>
              <a:t>2</a:t>
            </a:r>
            <a:r>
              <a:rPr lang="tr-TR" dirty="0"/>
              <a:t>. Popülasyondaki her kromozomu uygunluk fonksiyonuyla değerlendir. </a:t>
            </a:r>
            <a:endParaRPr lang="tr-TR" dirty="0" smtClean="0"/>
          </a:p>
          <a:p>
            <a:r>
              <a:rPr lang="tr-TR" dirty="0" smtClean="0"/>
              <a:t>3</a:t>
            </a:r>
            <a:r>
              <a:rPr lang="tr-TR" dirty="0"/>
              <a:t>. Yeni popülasyon için yeni kromozomlar oluştur. (Seçme, Çaprazlama, Mutasyon, </a:t>
            </a:r>
            <a:r>
              <a:rPr lang="tr-TR" dirty="0" err="1"/>
              <a:t>Elitizm</a:t>
            </a:r>
            <a:r>
              <a:rPr lang="tr-TR" dirty="0"/>
              <a:t> operatörleri kullanılır.) </a:t>
            </a:r>
            <a:endParaRPr lang="tr-TR" dirty="0" smtClean="0"/>
          </a:p>
          <a:p>
            <a:r>
              <a:rPr lang="tr-TR" dirty="0" smtClean="0"/>
              <a:t>4</a:t>
            </a:r>
            <a:r>
              <a:rPr lang="tr-TR" dirty="0"/>
              <a:t>. Adım 2 ve 3’ü uygun bir çözüm bulununcaya kadar veya belirlenen </a:t>
            </a:r>
            <a:r>
              <a:rPr lang="tr-TR" dirty="0" err="1"/>
              <a:t>iterasyona</a:t>
            </a:r>
            <a:r>
              <a:rPr lang="tr-TR" dirty="0"/>
              <a:t> ulaşılıncaya kadar </a:t>
            </a:r>
            <a:r>
              <a:rPr lang="tr-TR" dirty="0" smtClean="0"/>
              <a:t>tekrarla.</a:t>
            </a:r>
          </a:p>
          <a:p>
            <a:r>
              <a:rPr lang="tr-TR" dirty="0" smtClean="0"/>
              <a:t>5</a:t>
            </a:r>
            <a:r>
              <a:rPr lang="tr-TR" dirty="0"/>
              <a:t>. En iyi kromozomu çözüm olarak al.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8153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tr-TR" b="1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403642"/>
            <a:ext cx="7200800" cy="533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182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tr-TR" b="1" dirty="0" smtClean="0"/>
              <a:t>Performansı </a:t>
            </a:r>
            <a:r>
              <a:rPr lang="tr-TR" b="1" dirty="0"/>
              <a:t>etkileyen faktörler</a:t>
            </a:r>
            <a:r>
              <a:rPr lang="tr-TR" dirty="0"/>
              <a:t> </a:t>
            </a:r>
            <a:endParaRPr lang="tr-TR" dirty="0" smtClean="0"/>
          </a:p>
          <a:p>
            <a:r>
              <a:rPr lang="tr-TR" dirty="0" smtClean="0"/>
              <a:t>Kromozom </a:t>
            </a:r>
            <a:r>
              <a:rPr lang="tr-TR" dirty="0"/>
              <a:t>sayısı </a:t>
            </a:r>
            <a:endParaRPr lang="tr-TR" dirty="0" smtClean="0"/>
          </a:p>
          <a:p>
            <a:pPr lvl="1"/>
            <a:r>
              <a:rPr lang="tr-TR" dirty="0" smtClean="0"/>
              <a:t>Kromozom </a:t>
            </a:r>
            <a:r>
              <a:rPr lang="tr-TR" dirty="0"/>
              <a:t>sayısını arttırmak çalışma süresini artırır. </a:t>
            </a:r>
            <a:endParaRPr lang="tr-TR" dirty="0" smtClean="0"/>
          </a:p>
          <a:p>
            <a:pPr lvl="1"/>
            <a:r>
              <a:rPr lang="tr-TR" dirty="0" smtClean="0"/>
              <a:t>Azaltmak </a:t>
            </a:r>
            <a:r>
              <a:rPr lang="tr-TR" dirty="0"/>
              <a:t>kromozom çeşitliliğini yok eder. </a:t>
            </a:r>
            <a:endParaRPr lang="tr-TR" dirty="0" smtClean="0"/>
          </a:p>
          <a:p>
            <a:r>
              <a:rPr lang="tr-TR" dirty="0" smtClean="0"/>
              <a:t>Mutasyon </a:t>
            </a:r>
            <a:r>
              <a:rPr lang="tr-TR" dirty="0"/>
              <a:t>Oranı </a:t>
            </a:r>
            <a:endParaRPr lang="tr-TR" dirty="0" smtClean="0"/>
          </a:p>
          <a:p>
            <a:pPr lvl="1"/>
            <a:r>
              <a:rPr lang="tr-TR" dirty="0" smtClean="0"/>
              <a:t>Kromozomlar </a:t>
            </a:r>
            <a:r>
              <a:rPr lang="tr-TR" dirty="0"/>
              <a:t>birbirine benzemeye başladığında hala uygun çözüm bulunamadıysa belirli bir bölgede kalınmış olabilir. </a:t>
            </a:r>
            <a:endParaRPr lang="tr-TR" dirty="0" smtClean="0"/>
          </a:p>
          <a:p>
            <a:pPr lvl="1"/>
            <a:r>
              <a:rPr lang="tr-TR" dirty="0" smtClean="0"/>
              <a:t>En </a:t>
            </a:r>
            <a:r>
              <a:rPr lang="tr-TR" dirty="0"/>
              <a:t>iyi çözümde bir süredir iyileşme sağlanamıyorsa lokal minimuma takılmış olabilir. </a:t>
            </a:r>
            <a:endParaRPr lang="tr-TR" dirty="0" smtClean="0"/>
          </a:p>
          <a:p>
            <a:pPr lvl="1"/>
            <a:r>
              <a:rPr lang="tr-TR" dirty="0" smtClean="0"/>
              <a:t>Mutasyon </a:t>
            </a:r>
            <a:r>
              <a:rPr lang="tr-TR" dirty="0"/>
              <a:t>işlemi algoritmanın sıkıştığı yerden kurtulması için tek yoldur. </a:t>
            </a:r>
            <a:endParaRPr lang="tr-TR" dirty="0" smtClean="0"/>
          </a:p>
          <a:p>
            <a:pPr lvl="1"/>
            <a:r>
              <a:rPr lang="tr-TR" dirty="0" smtClean="0"/>
              <a:t>Ancak </a:t>
            </a:r>
            <a:r>
              <a:rPr lang="tr-TR" dirty="0"/>
              <a:t>yüksek bir değer vermek genetik algoritmanın kararlı bir noktaya ulaşmasını engeller. </a:t>
            </a:r>
            <a:endParaRPr lang="tr-TR" dirty="0" smtClean="0"/>
          </a:p>
          <a:p>
            <a:pPr lvl="1"/>
            <a:r>
              <a:rPr lang="tr-TR" dirty="0" smtClean="0"/>
              <a:t>Mutasyon </a:t>
            </a:r>
            <a:r>
              <a:rPr lang="tr-TR" dirty="0"/>
              <a:t>oranı 1/L (L = Kromozomdaki gen sayısı) alınabilir.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42823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b="1" dirty="0" smtClean="0"/>
              <a:t>Performansı </a:t>
            </a:r>
            <a:r>
              <a:rPr lang="tr-TR" b="1" dirty="0"/>
              <a:t>etkileyen faktörler</a:t>
            </a:r>
            <a:r>
              <a:rPr lang="tr-TR" dirty="0"/>
              <a:t> </a:t>
            </a:r>
            <a:endParaRPr lang="tr-TR" dirty="0" smtClean="0"/>
          </a:p>
          <a:p>
            <a:r>
              <a:rPr lang="tr-TR" dirty="0"/>
              <a:t>Kaç noktalı çaprazlama yapılacağı </a:t>
            </a:r>
            <a:endParaRPr lang="tr-TR" dirty="0" smtClean="0"/>
          </a:p>
          <a:p>
            <a:pPr lvl="1"/>
            <a:r>
              <a:rPr lang="tr-TR" dirty="0" smtClean="0"/>
              <a:t>Normal </a:t>
            </a:r>
            <a:r>
              <a:rPr lang="tr-TR" dirty="0"/>
              <a:t>olarak çaprazlama tek noktada gerçekleştirilir. </a:t>
            </a:r>
            <a:endParaRPr lang="tr-TR" dirty="0" smtClean="0"/>
          </a:p>
          <a:p>
            <a:pPr lvl="1"/>
            <a:r>
              <a:rPr lang="tr-TR" dirty="0" smtClean="0"/>
              <a:t>Yapılan </a:t>
            </a:r>
            <a:r>
              <a:rPr lang="tr-TR" dirty="0"/>
              <a:t>araştırmalar bazı problemlerde çok noktalı çaprazlamanın faydalı olduğunu göstermiştir</a:t>
            </a:r>
            <a:r>
              <a:rPr lang="tr-TR" dirty="0" smtClean="0"/>
              <a:t>. </a:t>
            </a:r>
          </a:p>
          <a:p>
            <a:r>
              <a:rPr lang="tr-TR" dirty="0" smtClean="0"/>
              <a:t>Çaprazlamanın </a:t>
            </a:r>
            <a:r>
              <a:rPr lang="tr-TR" dirty="0"/>
              <a:t>sonucu elde edilen bireylerin nasıl değerlendirileceği </a:t>
            </a:r>
            <a:endParaRPr lang="tr-TR" dirty="0" smtClean="0"/>
          </a:p>
          <a:p>
            <a:pPr lvl="1"/>
            <a:r>
              <a:rPr lang="tr-TR" dirty="0" smtClean="0"/>
              <a:t>Elde </a:t>
            </a:r>
            <a:r>
              <a:rPr lang="tr-TR" dirty="0"/>
              <a:t>edilen iki bireyin bazı problemlerde iyi olanı yeni popülasyona aktarılır. </a:t>
            </a:r>
            <a:endParaRPr lang="tr-TR" dirty="0" smtClean="0"/>
          </a:p>
          <a:p>
            <a:pPr lvl="1"/>
            <a:r>
              <a:rPr lang="tr-TR" dirty="0" smtClean="0"/>
              <a:t>Bazı </a:t>
            </a:r>
            <a:r>
              <a:rPr lang="tr-TR" dirty="0"/>
              <a:t>problemlerde ikisinin birden yeni popülasyona aktarılması daha başarılı sonuç vermiştir. </a:t>
            </a:r>
            <a:endParaRPr lang="tr-TR" dirty="0" smtClean="0"/>
          </a:p>
          <a:p>
            <a:pPr lvl="1"/>
            <a:r>
              <a:rPr lang="tr-TR" dirty="0" smtClean="0"/>
              <a:t>Çaprazlama </a:t>
            </a:r>
            <a:r>
              <a:rPr lang="tr-TR" dirty="0"/>
              <a:t>oranı %95-%99 alınabilir. </a:t>
            </a:r>
            <a:endParaRPr lang="tr-TR" dirty="0" smtClean="0"/>
          </a:p>
          <a:p>
            <a:pPr lvl="1"/>
            <a:r>
              <a:rPr lang="tr-TR" dirty="0" smtClean="0"/>
              <a:t>Çok </a:t>
            </a:r>
            <a:r>
              <a:rPr lang="tr-TR" dirty="0"/>
              <a:t>noktalı çaprazlamada çaprazlama noktaları değişken alınabilir.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202674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>
                <a:ea typeface="ＭＳ Ｐゴシック" pitchFamily="34" charset="-128"/>
              </a:rPr>
              <a:t>Genetik Algoritmalar(GA)</a:t>
            </a:r>
            <a:endParaRPr lang="tr-TR" dirty="0">
              <a:ea typeface="ＭＳ Ｐゴシック" pitchFamily="34" charset="-128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91264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smtClean="0"/>
              <a:t>Performansı </a:t>
            </a:r>
            <a:r>
              <a:rPr lang="tr-TR" b="1" dirty="0"/>
              <a:t>etkileyen faktörler</a:t>
            </a:r>
            <a:r>
              <a:rPr lang="tr-TR" dirty="0"/>
              <a:t> </a:t>
            </a:r>
            <a:endParaRPr lang="tr-TR" dirty="0" smtClean="0"/>
          </a:p>
          <a:p>
            <a:r>
              <a:rPr lang="tr-TR" dirty="0"/>
              <a:t>Uygunluk değerlendirmesinin yapılışı </a:t>
            </a:r>
            <a:endParaRPr lang="tr-TR" dirty="0" smtClean="0"/>
          </a:p>
          <a:p>
            <a:pPr lvl="1"/>
            <a:r>
              <a:rPr lang="tr-TR" dirty="0" smtClean="0"/>
              <a:t>Probleme </a:t>
            </a:r>
            <a:r>
              <a:rPr lang="tr-TR" dirty="0"/>
              <a:t>özgü ve doğru oluşturulması gereklidir. </a:t>
            </a:r>
            <a:endParaRPr lang="tr-TR" dirty="0" smtClean="0"/>
          </a:p>
          <a:p>
            <a:pPr lvl="1"/>
            <a:r>
              <a:rPr lang="tr-TR" dirty="0" smtClean="0"/>
              <a:t>Uygun </a:t>
            </a:r>
            <a:r>
              <a:rPr lang="tr-TR" dirty="0"/>
              <a:t>oluşturulmamış değerlendirme fonksiyonu çalışma süresini uzatabilir. </a:t>
            </a:r>
            <a:endParaRPr lang="tr-TR" dirty="0" smtClean="0"/>
          </a:p>
          <a:p>
            <a:pPr lvl="1"/>
            <a:r>
              <a:rPr lang="tr-TR" dirty="0" smtClean="0"/>
              <a:t>Uygun </a:t>
            </a:r>
            <a:r>
              <a:rPr lang="tr-TR" dirty="0"/>
              <a:t>oluşturulmamış değerlendirme fonksiyonu çözüme hiçbir zaman ulaşılamamasına neden olabilir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870150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mba">
  <a:themeElements>
    <a:clrScheme name="Cumba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Cumba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umba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610</TotalTime>
  <Words>1007</Words>
  <Application>Microsoft Office PowerPoint</Application>
  <PresentationFormat>Ekran Gösterisi (4:3)</PresentationFormat>
  <Paragraphs>164</Paragraphs>
  <Slides>25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25</vt:i4>
      </vt:variant>
    </vt:vector>
  </HeadingPairs>
  <TitlesOfParts>
    <vt:vector size="30" baseType="lpstr">
      <vt:lpstr>ＭＳ Ｐゴシック</vt:lpstr>
      <vt:lpstr>Century Schoolbook</vt:lpstr>
      <vt:lpstr>Wingdings</vt:lpstr>
      <vt:lpstr>Wingdings 2</vt:lpstr>
      <vt:lpstr>Cumba</vt:lpstr>
      <vt:lpstr>Genetik Algoritmalar</vt:lpstr>
      <vt:lpstr>Genetik Algoritmalar(GA)</vt:lpstr>
      <vt:lpstr>Genetik Algoritmalar(GA)</vt:lpstr>
      <vt:lpstr>Genetik Algoritmalar(GA)</vt:lpstr>
      <vt:lpstr>Genetik Algoritmalar(GA)</vt:lpstr>
      <vt:lpstr>Genetik Algoritmalar(GA)</vt:lpstr>
      <vt:lpstr>Genetik Algoritmalar(GA)</vt:lpstr>
      <vt:lpstr>Genetik Algoritmalar(GA)</vt:lpstr>
      <vt:lpstr>Genetik Algoritmalar(GA)</vt:lpstr>
      <vt:lpstr>Genetik Algoritmalar(GA)</vt:lpstr>
      <vt:lpstr>Genetik Algoritmalar(GA)</vt:lpstr>
      <vt:lpstr>Genetik Algoritmalar(GA)</vt:lpstr>
      <vt:lpstr>Genetik Algoritmalar(GA)</vt:lpstr>
      <vt:lpstr>Genetik Algoritmalar(GA)</vt:lpstr>
      <vt:lpstr>Genetik Algoritmalar(GA)</vt:lpstr>
      <vt:lpstr>Genetik Algoritmalar(GA)</vt:lpstr>
      <vt:lpstr>Genetik Algoritmalar(GA)</vt:lpstr>
      <vt:lpstr>Genetik Algoritmalar(GA)</vt:lpstr>
      <vt:lpstr>Genetik Algoritmalar(GA)</vt:lpstr>
      <vt:lpstr>Genetik Algoritmalar(GA)</vt:lpstr>
      <vt:lpstr>Genetik Algoritmalar(GA)</vt:lpstr>
      <vt:lpstr>Genetik Algoritmalar(GA)</vt:lpstr>
      <vt:lpstr>Genetik Algoritmalar(GA)</vt:lpstr>
      <vt:lpstr>Genetik Algoritmalar(GA)</vt:lpstr>
      <vt:lpstr>Genetik Algoritmalar(GA)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İLERİ PROGRAMLAMA</dc:title>
  <dc:creator>SFuat</dc:creator>
  <cp:lastModifiedBy>Tuncay</cp:lastModifiedBy>
  <cp:revision>87</cp:revision>
  <dcterms:created xsi:type="dcterms:W3CDTF">2020-02-18T10:38:04Z</dcterms:created>
  <dcterms:modified xsi:type="dcterms:W3CDTF">2023-10-29T08:20:00Z</dcterms:modified>
</cp:coreProperties>
</file>